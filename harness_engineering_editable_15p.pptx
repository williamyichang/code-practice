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Noto Sans CJK TC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Noto Sans CJK T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5B83F00-A4F4-4317-AF0A-9806BF77261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94885-12FA-4A69-A7BF-48E3AB4738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9724D1-ABB0-44F0-9CB2-FCED98FE8F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61E4B-7BAE-4D83-8CBF-C7196F4407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4030CC-B1FE-49A4-B9FA-F0F7A4571E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8EF87A-C5DF-4BA6-9C87-B03A1A61F0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080283-F181-4B83-96FF-9E03755AFD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295CB1-4070-4CB7-B7AC-646C623082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02D70F-8123-44D3-9F97-BD7B859E29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9EDEF2-194F-4F15-86EB-7E558609D4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7FF13-E3EA-43BD-A2A8-20AD3C6D6E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8AE9F6-340E-42C7-8B64-75FD31995A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E9C614-4D9F-46DA-8A0E-1D9A2F782B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58282B-6761-48D8-A84B-706CFA2018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615C30-FBC7-4C0E-A855-CDC46FB9A4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E0E83A-52C6-421A-82AD-3602A82C73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Noto Sans CJK TC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Noto Sans CJK T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Noto Sans CJK TC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Noto Sans CJK T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Noto Sans CJK TC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Noto Sans CJK T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Noto Sans CJK TC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Noto Sans CJK T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Noto Sans CJK TC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Noto Sans CJK T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Noto Sans CJK TC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Noto Sans CJK T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Noto Sans CJK TC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Noto Sans CJK T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Noto Sans CJK TC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Noto Sans CJK T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-304200" y="0"/>
            <a:ext cx="12191400" cy="6857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435080" y="1874520"/>
            <a:ext cx="456840" cy="45684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9172440" y="1188720"/>
            <a:ext cx="456840" cy="456840"/>
          </a:xfrm>
          <a:prstGeom prst="ellipse">
            <a:avLst/>
          </a:prstGeom>
          <a:solidFill>
            <a:srgbClr val="0e9f8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0726920" y="2103120"/>
            <a:ext cx="456840" cy="456840"/>
          </a:xfrm>
          <a:prstGeom prst="ellipse">
            <a:avLst/>
          </a:prstGeom>
          <a:solidFill>
            <a:srgbClr val="f4b740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895160" y="4039920"/>
            <a:ext cx="456840" cy="456840"/>
          </a:xfrm>
          <a:prstGeom prst="ellipse">
            <a:avLst/>
          </a:prstGeom>
          <a:solidFill>
            <a:srgbClr val="6e62d8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0315440" y="4206240"/>
            <a:ext cx="456840" cy="456840"/>
          </a:xfrm>
          <a:prstGeom prst="ellipse">
            <a:avLst/>
          </a:prstGeom>
          <a:solidFill>
            <a:srgbClr val="31a66a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9081000" y="2788920"/>
            <a:ext cx="456840" cy="456840"/>
          </a:xfrm>
          <a:prstGeom prst="ellipse">
            <a:avLst/>
          </a:prstGeom>
          <a:solidFill>
            <a:srgbClr val="183a59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669520" y="2359080"/>
            <a:ext cx="1051200" cy="1051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486640" y="35114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82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控制層</a:t>
            </a:r>
            <a:endParaRPr b="0" lang="en-U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58440" y="603360"/>
            <a:ext cx="1508400" cy="255600"/>
          </a:xfrm>
          <a:prstGeom prst="roundRect">
            <a:avLst>
              <a:gd name="adj" fmla="val 21429"/>
            </a:avLst>
          </a:prstGeom>
          <a:solidFill>
            <a:srgbClr val="e7faf6"/>
          </a:solidFill>
          <a:ln w="12700">
            <a:solidFill>
              <a:srgbClr val="e7fa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31520" y="653760"/>
            <a:ext cx="13622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15 </a:t>
            </a:r>
            <a:r>
              <a:rPr b="1" lang="zh-CN" sz="76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頁專業可編輯 </a:t>
            </a:r>
            <a:r>
              <a:rPr b="1" lang="en-US" sz="76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PPT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58440" y="1325880"/>
            <a:ext cx="5394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Engineering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76800" y="1974960"/>
            <a:ext cx="5623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70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從「模型會回答」到「系統能可靠完成工作」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94800" y="2633400"/>
            <a:ext cx="5257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時代最重要的工程能力：</a:t>
            </a:r>
            <a:r>
              <a:rPr b="0" lang="en-US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Context</a:t>
            </a:r>
            <a:r>
              <a:rPr b="0" lang="zh-CN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Control</a:t>
            </a:r>
            <a:r>
              <a:rPr b="0" lang="zh-CN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Tools</a:t>
            </a:r>
            <a:r>
              <a:rPr b="0" lang="zh-CN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Evals </a:t>
            </a:r>
            <a:r>
              <a:rPr b="0" lang="zh-CN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與 </a:t>
            </a:r>
            <a:r>
              <a:rPr b="0" lang="en-US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Human-in-the-loop</a:t>
            </a:r>
            <a:r>
              <a:rPr b="0" lang="zh-CN" sz="13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94800" y="3886200"/>
            <a:ext cx="2057040" cy="10602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41320" y="4032360"/>
            <a:ext cx="176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11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Model × Harness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841320" y="4453200"/>
            <a:ext cx="176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能力不是只由模型決定，控制層決定可用性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2907720" y="3886200"/>
            <a:ext cx="1874160" cy="10602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3054240" y="4032360"/>
            <a:ext cx="158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b6cb0"/>
                </a:solidFill>
                <a:latin typeface="Noto Sans CJK TC"/>
                <a:ea typeface="Noto Sans CJK TC"/>
              </a:rPr>
              <a:t>2026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3054240" y="4453200"/>
            <a:ext cx="158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受限自主 </a:t>
            </a: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走向成熟的關鍵年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937760" y="3886200"/>
            <a:ext cx="2057040" cy="10602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5083920" y="4032360"/>
            <a:ext cx="176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00" spc="-1" strike="noStrike">
                <a:solidFill>
                  <a:srgbClr val="f4b740"/>
                </a:solidFill>
                <a:latin typeface="Noto Sans CJK TC"/>
                <a:ea typeface="Noto Sans CJK TC"/>
              </a:rPr>
              <a:t>可追溯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5083920" y="4453200"/>
            <a:ext cx="176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輸出要能回到資料來源、計算方式與驗證結果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94800" y="59252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研究時間點：</a:t>
            </a:r>
            <a:r>
              <a:rPr b="0" lang="en-US" sz="8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2026 </a:t>
            </a:r>
            <a:r>
              <a:rPr b="0" lang="zh-CN" sz="8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年 </a:t>
            </a:r>
            <a:r>
              <a:rPr b="0" lang="en-US" sz="8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6 </a:t>
            </a:r>
            <a:r>
              <a:rPr b="0" lang="zh-CN" sz="8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月 </a:t>
            </a:r>
            <a:r>
              <a:rPr b="0" lang="en-US" sz="8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20 </a:t>
            </a:r>
            <a:r>
              <a:rPr b="0" lang="zh-CN" sz="8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日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1/15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02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先給結論：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是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時代的工程護城河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價值不在「更長 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prompt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」，而在把專業知識、風險規則與失敗經驗變成可執行系統。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694800" y="1874520"/>
            <a:ext cx="3245760" cy="24685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896040" y="2084760"/>
            <a:ext cx="529920" cy="529920"/>
          </a:xfrm>
          <a:prstGeom prst="ellipse">
            <a:avLst/>
          </a:prstGeom>
          <a:solidFill>
            <a:srgbClr val="0e9f8f"/>
          </a:solidFill>
          <a:ln w="1270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96040" y="221292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1563480" y="20847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專業知識外部化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1563480" y="2578680"/>
            <a:ext cx="20844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把 </a:t>
            </a:r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domain knowledge </a:t>
            </a: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轉成模型可讀、可查、可驗證的文件、工具與資料契約。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2"/>
          <p:cNvSpPr/>
          <p:nvPr/>
        </p:nvSpPr>
        <p:spPr>
          <a:xfrm>
            <a:off x="4443840" y="1874520"/>
            <a:ext cx="3245760" cy="24685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4645080" y="2084760"/>
            <a:ext cx="529920" cy="529920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4645080" y="221292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312520" y="20847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受限自主性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5312520" y="2578680"/>
            <a:ext cx="20844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低風險任務可自動，高風險行為必須停下來要求人類批准。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7"/>
          <p:cNvSpPr/>
          <p:nvPr/>
        </p:nvSpPr>
        <p:spPr>
          <a:xfrm>
            <a:off x="8192880" y="1874520"/>
            <a:ext cx="3245760" cy="24685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8"/>
          <p:cNvSpPr/>
          <p:nvPr/>
        </p:nvSpPr>
        <p:spPr>
          <a:xfrm>
            <a:off x="8394120" y="2084760"/>
            <a:ext cx="529920" cy="5299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8394120" y="221292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0"/>
          <p:cNvSpPr/>
          <p:nvPr/>
        </p:nvSpPr>
        <p:spPr>
          <a:xfrm>
            <a:off x="9061560" y="20847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失敗變資產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9061560" y="2578680"/>
            <a:ext cx="20844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每次錯誤都回寫成 </a:t>
            </a:r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rule</a:t>
            </a: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test</a:t>
            </a: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eval </a:t>
            </a: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或 </a:t>
            </a:r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skill</a:t>
            </a: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，讓下一次少犯錯。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2"/>
          <p:cNvSpPr/>
          <p:nvPr/>
        </p:nvSpPr>
        <p:spPr>
          <a:xfrm>
            <a:off x="951120" y="4901040"/>
            <a:ext cx="10286640" cy="776880"/>
          </a:xfrm>
          <a:prstGeom prst="roundRect">
            <a:avLst>
              <a:gd name="adj" fmla="val 14118"/>
            </a:avLst>
          </a:prstGeom>
          <a:solidFill>
            <a:srgbClr val="f0f7ff"/>
          </a:solidFill>
          <a:ln w="12700">
            <a:solidFill>
              <a:srgbClr val="c9d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1207080" y="51022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核心判斷：真正成熟的 </a:t>
            </a:r>
            <a:r>
              <a:rPr b="1" lang="en-US" sz="140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Agent</a:t>
            </a:r>
            <a:r>
              <a:rPr b="1" lang="zh-CN" sz="140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，不是「從不犯錯」，而是犯錯不造成不可逆傷害，且能被系統紀錄、驗證與修正。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4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6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2/15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03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的精準定義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包圍在模型之外，讓模型能安全、可重複、可驗證完成任務的整套工程系統。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777240" y="1737360"/>
            <a:ext cx="4983120" cy="29257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1051560" y="203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 </a:t>
            </a:r>
            <a:r>
              <a:rPr b="1" lang="zh-CN" sz="19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能力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2697480" y="2048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3154680" y="2039040"/>
            <a:ext cx="914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b6cb0"/>
                </a:solidFill>
                <a:latin typeface="Noto Sans CJK TC"/>
                <a:ea typeface="Noto Sans CJK TC"/>
              </a:rPr>
              <a:t>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4160520" y="2048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×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4526280" y="2039040"/>
            <a:ext cx="987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Harness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1078920" y="2779920"/>
            <a:ext cx="431568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模型提供推理與生成能力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決定它能看什麼、做什麼、何時停止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en-US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11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將風險、驗證與復原變成工程流程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6446520" y="1627560"/>
            <a:ext cx="4736160" cy="3154320"/>
          </a:xfrm>
          <a:prstGeom prst="roundRect">
            <a:avLst>
              <a:gd name="adj" fmla="val 3478"/>
            </a:avLst>
          </a:prstGeom>
          <a:solidFill>
            <a:srgbClr val="fdfefe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6793920" y="1993320"/>
            <a:ext cx="1691280" cy="49356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1397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6867000" y="2103120"/>
            <a:ext cx="1545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Context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讀到正確資料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7"/>
          <p:cNvSpPr/>
          <p:nvPr/>
        </p:nvSpPr>
        <p:spPr>
          <a:xfrm>
            <a:off x="8851320" y="1993320"/>
            <a:ext cx="1691280" cy="493560"/>
          </a:xfrm>
          <a:prstGeom prst="roundRect">
            <a:avLst>
              <a:gd name="adj" fmla="val 22222"/>
            </a:avLst>
          </a:prstGeom>
          <a:solidFill>
            <a:srgbClr val="e9faf7"/>
          </a:solidFill>
          <a:ln w="1397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8924400" y="2103120"/>
            <a:ext cx="1545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Tools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用受控工具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9"/>
          <p:cNvSpPr/>
          <p:nvPr/>
        </p:nvSpPr>
        <p:spPr>
          <a:xfrm>
            <a:off x="6793920" y="2770560"/>
            <a:ext cx="1691280" cy="493560"/>
          </a:xfrm>
          <a:prstGeom prst="roundRect">
            <a:avLst>
              <a:gd name="adj" fmla="val 22222"/>
            </a:avLst>
          </a:prstGeom>
          <a:solidFill>
            <a:srgbClr val="fff7e6"/>
          </a:solidFill>
          <a:ln w="13970">
            <a:solidFill>
              <a:srgbClr val="f4b7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6867000" y="2880360"/>
            <a:ext cx="1545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Permission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限制高風險行動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1"/>
          <p:cNvSpPr/>
          <p:nvPr/>
        </p:nvSpPr>
        <p:spPr>
          <a:xfrm>
            <a:off x="8851320" y="2770560"/>
            <a:ext cx="1691280" cy="493560"/>
          </a:xfrm>
          <a:prstGeom prst="roundRect">
            <a:avLst>
              <a:gd name="adj" fmla="val 22222"/>
            </a:avLst>
          </a:prstGeom>
          <a:solidFill>
            <a:srgbClr val="ecf8f2"/>
          </a:solidFill>
          <a:ln w="13970">
            <a:solidFill>
              <a:srgbClr val="31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8924400" y="2880360"/>
            <a:ext cx="1545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Eval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驗證是否正確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6793920" y="3547800"/>
            <a:ext cx="1691280" cy="493560"/>
          </a:xfrm>
          <a:prstGeom prst="roundRect">
            <a:avLst>
              <a:gd name="adj" fmla="val 22222"/>
            </a:avLst>
          </a:prstGeom>
          <a:solidFill>
            <a:srgbClr val="f0eeff"/>
          </a:solidFill>
          <a:ln w="13970">
            <a:solidFill>
              <a:srgbClr val="6e6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6867000" y="3657600"/>
            <a:ext cx="1545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Memory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保留任務狀態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5"/>
          <p:cNvSpPr/>
          <p:nvPr/>
        </p:nvSpPr>
        <p:spPr>
          <a:xfrm>
            <a:off x="8851320" y="3547800"/>
            <a:ext cx="1691280" cy="493560"/>
          </a:xfrm>
          <a:prstGeom prst="roundRect">
            <a:avLst>
              <a:gd name="adj" fmla="val 22222"/>
            </a:avLst>
          </a:prstGeom>
          <a:solidFill>
            <a:srgbClr val="edf2f7"/>
          </a:solidFill>
          <a:ln w="13970">
            <a:solidFill>
              <a:srgbClr val="183a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6"/>
          <p:cNvSpPr/>
          <p:nvPr/>
        </p:nvSpPr>
        <p:spPr>
          <a:xfrm>
            <a:off x="8924400" y="3657600"/>
            <a:ext cx="1545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Trace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可除錯可審計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7"/>
          <p:cNvSpPr/>
          <p:nvPr/>
        </p:nvSpPr>
        <p:spPr>
          <a:xfrm>
            <a:off x="6812280" y="4407480"/>
            <a:ext cx="4096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一句話：</a:t>
            </a:r>
            <a:r>
              <a:rPr b="1" lang="en-US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是把不穩定模型轉成穩定工作者的控制層。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28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9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0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3/15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04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為什麼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會誕生？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模型開始「會想」，但早期 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很快證明：能跑，不等於能可靠完成任務。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777240" y="1737360"/>
            <a:ext cx="2788560" cy="74952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1397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850320" y="1847160"/>
            <a:ext cx="2642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LLM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很會回答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但不保證答案真實、完整、可執行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2176200" y="2496240"/>
            <a:ext cx="360" cy="219240"/>
          </a:xfrm>
          <a:prstGeom prst="line">
            <a:avLst/>
          </a:prstGeom>
          <a:ln w="1524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777240" y="2788920"/>
            <a:ext cx="2788560" cy="749520"/>
          </a:xfrm>
          <a:prstGeom prst="roundRect">
            <a:avLst>
              <a:gd name="adj" fmla="val 14634"/>
            </a:avLst>
          </a:prstGeom>
          <a:solidFill>
            <a:srgbClr val="e9faf7"/>
          </a:solidFill>
          <a:ln w="1397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850320" y="2898720"/>
            <a:ext cx="2642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ReAct / Tool Use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模型能交替思考、呼叫工具、觀察結果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2176200" y="3547800"/>
            <a:ext cx="360" cy="219240"/>
          </a:xfrm>
          <a:prstGeom prst="line">
            <a:avLst/>
          </a:prstGeom>
          <a:ln w="1524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777240" y="3840480"/>
            <a:ext cx="2788560" cy="749520"/>
          </a:xfrm>
          <a:prstGeom prst="roundRect">
            <a:avLst>
              <a:gd name="adj" fmla="val 14634"/>
            </a:avLst>
          </a:prstGeom>
          <a:solidFill>
            <a:srgbClr val="fff7e6"/>
          </a:solidFill>
          <a:ln w="13970">
            <a:solidFill>
              <a:srgbClr val="f4b7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850320" y="3950280"/>
            <a:ext cx="2642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Auto-GPT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類系統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讓自主流程可見，也暴露失控、迴圈、亂用工具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4572000" y="1627560"/>
            <a:ext cx="6811920" cy="36756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4864680" y="1901880"/>
            <a:ext cx="4388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早期 </a:t>
            </a:r>
            <a:r>
              <a:rPr b="1" lang="en-US" sz="18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 </a:t>
            </a:r>
            <a:r>
              <a:rPr b="1" lang="zh-CN" sz="18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的四個典型失敗模式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4892040" y="2615040"/>
            <a:ext cx="2669760" cy="712800"/>
          </a:xfrm>
          <a:prstGeom prst="roundRect">
            <a:avLst>
              <a:gd name="adj" fmla="val 15385"/>
            </a:avLst>
          </a:prstGeom>
          <a:solidFill>
            <a:srgbClr val="f8fafd"/>
          </a:solidFill>
          <a:ln w="12700">
            <a:solidFill>
              <a:srgbClr val="e3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5038200" y="2743200"/>
            <a:ext cx="2331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目標誤解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5038200" y="2999160"/>
            <a:ext cx="23313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做很多事，但不符合完成定義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7955280" y="2615040"/>
            <a:ext cx="2669760" cy="712800"/>
          </a:xfrm>
          <a:prstGeom prst="roundRect">
            <a:avLst>
              <a:gd name="adj" fmla="val 15385"/>
            </a:avLst>
          </a:prstGeom>
          <a:solidFill>
            <a:srgbClr val="f8fafd"/>
          </a:solidFill>
          <a:ln w="12700">
            <a:solidFill>
              <a:srgbClr val="e3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8101440" y="2743200"/>
            <a:ext cx="2331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工具濫用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2"/>
          <p:cNvSpPr/>
          <p:nvPr/>
        </p:nvSpPr>
        <p:spPr>
          <a:xfrm>
            <a:off x="8101440" y="2999160"/>
            <a:ext cx="23313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錯誤查詢、亂改檔、浪費 </a:t>
            </a: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token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3"/>
          <p:cNvSpPr/>
          <p:nvPr/>
        </p:nvSpPr>
        <p:spPr>
          <a:xfrm>
            <a:off x="4892040" y="3602880"/>
            <a:ext cx="2669760" cy="712800"/>
          </a:xfrm>
          <a:prstGeom prst="roundRect">
            <a:avLst>
              <a:gd name="adj" fmla="val 15385"/>
            </a:avLst>
          </a:prstGeom>
          <a:solidFill>
            <a:srgbClr val="f8fafd"/>
          </a:solidFill>
          <a:ln w="12700">
            <a:solidFill>
              <a:srgbClr val="e3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5038200" y="3730680"/>
            <a:ext cx="2331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長任務失憶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5038200" y="3986640"/>
            <a:ext cx="23313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重複工作、忘記前一步證據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7955280" y="3602880"/>
            <a:ext cx="2669760" cy="712800"/>
          </a:xfrm>
          <a:prstGeom prst="roundRect">
            <a:avLst>
              <a:gd name="adj" fmla="val 15385"/>
            </a:avLst>
          </a:prstGeom>
          <a:solidFill>
            <a:srgbClr val="f8fafd"/>
          </a:solidFill>
          <a:ln w="12700">
            <a:solidFill>
              <a:srgbClr val="e3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8101440" y="3730680"/>
            <a:ext cx="2331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不可驗證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8101440" y="3986640"/>
            <a:ext cx="23313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看起來合理，但無法證明正確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4919400" y="4736520"/>
            <a:ext cx="2925720" cy="255600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4992480" y="4786920"/>
            <a:ext cx="2779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760" spc="-1" strike="noStrike">
                <a:solidFill>
                  <a:srgbClr val="d55a5a"/>
                </a:solidFill>
                <a:latin typeface="Noto Sans CJK TC"/>
                <a:ea typeface="Noto Sans CJK TC"/>
              </a:rPr>
              <a:t>結論：需要改善模型的「工作介面」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31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3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4/15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05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縱向演進：從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Tool Use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到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Engineering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2022–2026 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的主軸，是把工具、狀態、評估、權限與部署逐步工程化。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896040" y="3273480"/>
            <a:ext cx="10213920" cy="360"/>
          </a:xfrm>
          <a:prstGeom prst="line">
            <a:avLst/>
          </a:prstGeom>
          <a:ln w="1905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960120" y="3026520"/>
            <a:ext cx="475200" cy="475200"/>
          </a:xfrm>
          <a:prstGeom prst="ellipse">
            <a:avLst/>
          </a:prstGeom>
          <a:solidFill>
            <a:srgbClr val="2b6cb0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777240" y="243216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2022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356760" y="3730680"/>
            <a:ext cx="1691280" cy="12614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521280" y="3913560"/>
            <a:ext cx="135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ReAct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521280" y="4279320"/>
            <a:ext cx="135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Reasoning + Acting </a:t>
            </a:r>
            <a:r>
              <a:rPr b="0" lang="zh-CN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讓模型能邊想邊用工具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3"/>
          <p:cNvSpPr/>
          <p:nvPr/>
        </p:nvSpPr>
        <p:spPr>
          <a:xfrm>
            <a:off x="3017520" y="3026520"/>
            <a:ext cx="475200" cy="475200"/>
          </a:xfrm>
          <a:prstGeom prst="ellipse">
            <a:avLst/>
          </a:prstGeom>
          <a:solidFill>
            <a:srgbClr val="0e9f8f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4"/>
          <p:cNvSpPr/>
          <p:nvPr/>
        </p:nvSpPr>
        <p:spPr>
          <a:xfrm>
            <a:off x="2834640" y="243216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2023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2414160" y="3730680"/>
            <a:ext cx="1691280" cy="12614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2578680" y="3913560"/>
            <a:ext cx="135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Toolformer / Auto-GPT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2578680" y="4279320"/>
            <a:ext cx="135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模型學會何時用工具；自主 </a:t>
            </a:r>
            <a:r>
              <a:rPr b="0" lang="en-US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展示也暴露可靠性問題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8"/>
          <p:cNvSpPr/>
          <p:nvPr/>
        </p:nvSpPr>
        <p:spPr>
          <a:xfrm>
            <a:off x="5074920" y="3026520"/>
            <a:ext cx="475200" cy="475200"/>
          </a:xfrm>
          <a:prstGeom prst="ellipse">
            <a:avLst/>
          </a:prstGeom>
          <a:solidFill>
            <a:srgbClr val="f4b740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9"/>
          <p:cNvSpPr/>
          <p:nvPr/>
        </p:nvSpPr>
        <p:spPr>
          <a:xfrm>
            <a:off x="4892040" y="243216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2024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0"/>
          <p:cNvSpPr/>
          <p:nvPr/>
        </p:nvSpPr>
        <p:spPr>
          <a:xfrm>
            <a:off x="4471560" y="3730680"/>
            <a:ext cx="1691280" cy="12614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4636080" y="3913560"/>
            <a:ext cx="135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SWE-agent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2"/>
          <p:cNvSpPr/>
          <p:nvPr/>
        </p:nvSpPr>
        <p:spPr>
          <a:xfrm>
            <a:off x="4636080" y="4279320"/>
            <a:ext cx="135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Agent-Computer Interface</a:t>
            </a:r>
            <a:r>
              <a:rPr b="0" lang="zh-CN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：同一模型因工作介面不同，表現差很多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7132320" y="3026520"/>
            <a:ext cx="475200" cy="475200"/>
          </a:xfrm>
          <a:prstGeom prst="ellipse">
            <a:avLst/>
          </a:prstGeom>
          <a:solidFill>
            <a:srgbClr val="31a66a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6949440" y="243216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5"/>
          <p:cNvSpPr/>
          <p:nvPr/>
        </p:nvSpPr>
        <p:spPr>
          <a:xfrm>
            <a:off x="6528960" y="3730680"/>
            <a:ext cx="1691280" cy="12614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6"/>
          <p:cNvSpPr/>
          <p:nvPr/>
        </p:nvSpPr>
        <p:spPr>
          <a:xfrm>
            <a:off x="6693480" y="3913560"/>
            <a:ext cx="135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ADK / MCP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7"/>
          <p:cNvSpPr/>
          <p:nvPr/>
        </p:nvSpPr>
        <p:spPr>
          <a:xfrm>
            <a:off x="6693480" y="4279320"/>
            <a:ext cx="135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多 </a:t>
            </a:r>
            <a:r>
              <a:rPr b="0" lang="en-US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編排、工具協定、部署與評估開始平台化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8"/>
          <p:cNvSpPr/>
          <p:nvPr/>
        </p:nvSpPr>
        <p:spPr>
          <a:xfrm>
            <a:off x="9189720" y="3026520"/>
            <a:ext cx="475200" cy="475200"/>
          </a:xfrm>
          <a:prstGeom prst="ellipse">
            <a:avLst/>
          </a:prstGeom>
          <a:solidFill>
            <a:srgbClr val="6e62d8"/>
          </a:solidFill>
          <a:ln w="15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29"/>
          <p:cNvSpPr/>
          <p:nvPr/>
        </p:nvSpPr>
        <p:spPr>
          <a:xfrm>
            <a:off x="9006840" y="243216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2026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0"/>
          <p:cNvSpPr/>
          <p:nvPr/>
        </p:nvSpPr>
        <p:spPr>
          <a:xfrm>
            <a:off x="8586360" y="3730680"/>
            <a:ext cx="1691280" cy="12614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1"/>
          <p:cNvSpPr/>
          <p:nvPr/>
        </p:nvSpPr>
        <p:spPr>
          <a:xfrm>
            <a:off x="8750880" y="3913560"/>
            <a:ext cx="135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 lnSpcReduction="10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Engineering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2"/>
          <p:cNvSpPr/>
          <p:nvPr/>
        </p:nvSpPr>
        <p:spPr>
          <a:xfrm>
            <a:off x="8750880" y="4279320"/>
            <a:ext cx="135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78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控制層成為獨立工程能力：可讀、可控、可驗證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3"/>
          <p:cNvSpPr/>
          <p:nvPr/>
        </p:nvSpPr>
        <p:spPr>
          <a:xfrm>
            <a:off x="1051560" y="1481400"/>
            <a:ext cx="9966600" cy="603000"/>
          </a:xfrm>
          <a:prstGeom prst="roundRect">
            <a:avLst>
              <a:gd name="adj" fmla="val 18182"/>
            </a:avLst>
          </a:prstGeom>
          <a:solidFill>
            <a:srgbClr val="f0f7ff"/>
          </a:solidFill>
          <a:ln w="12700">
            <a:solidFill>
              <a:srgbClr val="c9d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4"/>
          <p:cNvSpPr/>
          <p:nvPr/>
        </p:nvSpPr>
        <p:spPr>
          <a:xfrm>
            <a:off x="1298520" y="1673280"/>
            <a:ext cx="9372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3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關鍵轉折：產業不再只問「模型能不能做」，而是問「系統能不能控制它怎麼做」。</a:t>
            </a:r>
            <a:endParaRPr b="0" lang="en-US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35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6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37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5/15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06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成熟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是一個控制迴路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模型提出假設；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提供證據、限制行動、驗證結果，並累積失敗經驗。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2286000" y="2194560"/>
            <a:ext cx="457200" cy="360"/>
          </a:xfrm>
          <a:prstGeom prst="line">
            <a:avLst/>
          </a:prstGeom>
          <a:ln w="1651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4233600" y="2194560"/>
            <a:ext cx="457200" cy="360"/>
          </a:xfrm>
          <a:prstGeom prst="line">
            <a:avLst/>
          </a:prstGeom>
          <a:ln w="1651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6181200" y="2194560"/>
            <a:ext cx="457200" cy="360"/>
          </a:xfrm>
          <a:prstGeom prst="line">
            <a:avLst/>
          </a:prstGeom>
          <a:ln w="1651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8128800" y="2194560"/>
            <a:ext cx="457200" cy="360"/>
          </a:xfrm>
          <a:prstGeom prst="line">
            <a:avLst/>
          </a:prstGeom>
          <a:ln w="1651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 flipH="1">
            <a:off x="4690800" y="2194560"/>
            <a:ext cx="5385600" cy="2331720"/>
          </a:xfrm>
          <a:prstGeom prst="line">
            <a:avLst/>
          </a:prstGeom>
          <a:ln w="1651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2"/>
          <p:cNvSpPr/>
          <p:nvPr/>
        </p:nvSpPr>
        <p:spPr>
          <a:xfrm flipH="1">
            <a:off x="6400800" y="2615040"/>
            <a:ext cx="2944080" cy="1545480"/>
          </a:xfrm>
          <a:prstGeom prst="line">
            <a:avLst/>
          </a:prstGeom>
          <a:ln w="1651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3"/>
          <p:cNvSpPr/>
          <p:nvPr/>
        </p:nvSpPr>
        <p:spPr>
          <a:xfrm flipH="1" flipV="1">
            <a:off x="1600200" y="2615040"/>
            <a:ext cx="3136320" cy="1911240"/>
          </a:xfrm>
          <a:prstGeom prst="line">
            <a:avLst/>
          </a:prstGeom>
          <a:ln w="1651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841320" y="1828800"/>
            <a:ext cx="1663920" cy="74952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1397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914400" y="1938600"/>
            <a:ext cx="151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使用者目標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清楚定義任務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6"/>
          <p:cNvSpPr/>
          <p:nvPr/>
        </p:nvSpPr>
        <p:spPr>
          <a:xfrm>
            <a:off x="2788920" y="1828800"/>
            <a:ext cx="1663920" cy="749520"/>
          </a:xfrm>
          <a:prstGeom prst="roundRect">
            <a:avLst>
              <a:gd name="adj" fmla="val 14634"/>
            </a:avLst>
          </a:prstGeom>
          <a:solidFill>
            <a:srgbClr val="e9faf7"/>
          </a:solidFill>
          <a:ln w="1397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2862000" y="1938600"/>
            <a:ext cx="151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任務契約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Schema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輸入輸出格式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8"/>
          <p:cNvSpPr/>
          <p:nvPr/>
        </p:nvSpPr>
        <p:spPr>
          <a:xfrm>
            <a:off x="4736520" y="1828800"/>
            <a:ext cx="1663920" cy="749520"/>
          </a:xfrm>
          <a:prstGeom prst="roundRect">
            <a:avLst>
              <a:gd name="adj" fmla="val 14634"/>
            </a:avLst>
          </a:prstGeom>
          <a:solidFill>
            <a:srgbClr val="fff7e6"/>
          </a:solidFill>
          <a:ln w="13970">
            <a:solidFill>
              <a:srgbClr val="f4b7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4809600" y="1938600"/>
            <a:ext cx="151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Context + Tools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受控資料與工具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0"/>
          <p:cNvSpPr/>
          <p:nvPr/>
        </p:nvSpPr>
        <p:spPr>
          <a:xfrm>
            <a:off x="6684120" y="1828800"/>
            <a:ext cx="1663920" cy="749520"/>
          </a:xfrm>
          <a:prstGeom prst="roundRect">
            <a:avLst>
              <a:gd name="adj" fmla="val 14634"/>
            </a:avLst>
          </a:prstGeom>
          <a:solidFill>
            <a:srgbClr val="f0eeff"/>
          </a:solidFill>
          <a:ln w="13970">
            <a:solidFill>
              <a:srgbClr val="6e6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6757560" y="1938600"/>
            <a:ext cx="151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模型推理與行動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生成、查詢、修改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2"/>
          <p:cNvSpPr/>
          <p:nvPr/>
        </p:nvSpPr>
        <p:spPr>
          <a:xfrm>
            <a:off x="8632080" y="1828800"/>
            <a:ext cx="1663920" cy="749520"/>
          </a:xfrm>
          <a:prstGeom prst="roundRect">
            <a:avLst>
              <a:gd name="adj" fmla="val 14634"/>
            </a:avLst>
          </a:prstGeom>
          <a:solidFill>
            <a:srgbClr val="ecf8f2"/>
          </a:solidFill>
          <a:ln w="13970">
            <a:solidFill>
              <a:srgbClr val="31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3"/>
          <p:cNvSpPr/>
          <p:nvPr/>
        </p:nvSpPr>
        <p:spPr>
          <a:xfrm>
            <a:off x="8705160" y="1938600"/>
            <a:ext cx="151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驗證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評估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批准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測試、風控、人工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4"/>
          <p:cNvSpPr/>
          <p:nvPr/>
        </p:nvSpPr>
        <p:spPr>
          <a:xfrm>
            <a:off x="4736520" y="4160520"/>
            <a:ext cx="1663920" cy="749520"/>
          </a:xfrm>
          <a:prstGeom prst="roundRect">
            <a:avLst>
              <a:gd name="adj" fmla="val 14634"/>
            </a:avLst>
          </a:prstGeom>
          <a:solidFill>
            <a:srgbClr val="edf2f7"/>
          </a:solidFill>
          <a:ln w="13970">
            <a:solidFill>
              <a:srgbClr val="183a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4809600" y="4270320"/>
            <a:ext cx="151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Trace +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回寫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錯誤轉成規則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6"/>
          <p:cNvSpPr/>
          <p:nvPr/>
        </p:nvSpPr>
        <p:spPr>
          <a:xfrm>
            <a:off x="960120" y="5440680"/>
            <a:ext cx="10240920" cy="50256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7"/>
          <p:cNvSpPr/>
          <p:nvPr/>
        </p:nvSpPr>
        <p:spPr>
          <a:xfrm>
            <a:off x="1207080" y="5596200"/>
            <a:ext cx="9738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控制迴路的價值：讓長任務不失憶、錯誤可追蹤、品質可回歸測試，並把高風險行為切到人類批准點。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8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9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0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6/15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07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成熟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的七個層次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模型只回答其中一部分；真正的可靠性來自完整系統設計。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685800" y="1600200"/>
            <a:ext cx="1919880" cy="383760"/>
          </a:xfrm>
          <a:prstGeom prst="rect">
            <a:avLst/>
          </a:prstGeom>
          <a:solidFill>
            <a:srgbClr val="183a59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740520" y="1673280"/>
            <a:ext cx="1810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3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層次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2606040" y="1600200"/>
            <a:ext cx="3840120" cy="383760"/>
          </a:xfrm>
          <a:prstGeom prst="rect">
            <a:avLst/>
          </a:prstGeom>
          <a:solidFill>
            <a:srgbClr val="183a59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2660760" y="1673280"/>
            <a:ext cx="3730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3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必須回答的問題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6446520" y="1600200"/>
            <a:ext cx="5120280" cy="383760"/>
          </a:xfrm>
          <a:prstGeom prst="rect">
            <a:avLst/>
          </a:prstGeom>
          <a:solidFill>
            <a:srgbClr val="183a59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6501240" y="1673280"/>
            <a:ext cx="5010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3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缺失後果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3"/>
          <p:cNvSpPr/>
          <p:nvPr/>
        </p:nvSpPr>
        <p:spPr>
          <a:xfrm>
            <a:off x="685800" y="1984320"/>
            <a:ext cx="191988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740520" y="2057400"/>
            <a:ext cx="1810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任務契約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5"/>
          <p:cNvSpPr/>
          <p:nvPr/>
        </p:nvSpPr>
        <p:spPr>
          <a:xfrm>
            <a:off x="2606040" y="1984320"/>
            <a:ext cx="384012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6"/>
          <p:cNvSpPr/>
          <p:nvPr/>
        </p:nvSpPr>
        <p:spPr>
          <a:xfrm>
            <a:off x="2660760" y="2057400"/>
            <a:ext cx="37303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完成定義、輸出格式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7"/>
          <p:cNvSpPr/>
          <p:nvPr/>
        </p:nvSpPr>
        <p:spPr>
          <a:xfrm>
            <a:off x="6446520" y="1984320"/>
            <a:ext cx="512028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6501240" y="2057400"/>
            <a:ext cx="50104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做很多事但不符合需求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9"/>
          <p:cNvSpPr/>
          <p:nvPr/>
        </p:nvSpPr>
        <p:spPr>
          <a:xfrm>
            <a:off x="685800" y="2496240"/>
            <a:ext cx="191988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0"/>
          <p:cNvSpPr/>
          <p:nvPr/>
        </p:nvSpPr>
        <p:spPr>
          <a:xfrm>
            <a:off x="740520" y="2569320"/>
            <a:ext cx="1810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Context </a:t>
            </a: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系統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1"/>
          <p:cNvSpPr/>
          <p:nvPr/>
        </p:nvSpPr>
        <p:spPr>
          <a:xfrm>
            <a:off x="2606040" y="2496240"/>
            <a:ext cx="384012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2"/>
          <p:cNvSpPr/>
          <p:nvPr/>
        </p:nvSpPr>
        <p:spPr>
          <a:xfrm>
            <a:off x="2660760" y="2569320"/>
            <a:ext cx="37303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該讀哪些資料與規則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3"/>
          <p:cNvSpPr/>
          <p:nvPr/>
        </p:nvSpPr>
        <p:spPr>
          <a:xfrm>
            <a:off x="6446520" y="2496240"/>
            <a:ext cx="512028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4"/>
          <p:cNvSpPr/>
          <p:nvPr/>
        </p:nvSpPr>
        <p:spPr>
          <a:xfrm>
            <a:off x="6501240" y="2569320"/>
            <a:ext cx="50104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遺漏背景或被雜訊干擾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5"/>
          <p:cNvSpPr/>
          <p:nvPr/>
        </p:nvSpPr>
        <p:spPr>
          <a:xfrm>
            <a:off x="685800" y="3008520"/>
            <a:ext cx="191988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26"/>
          <p:cNvSpPr/>
          <p:nvPr/>
        </p:nvSpPr>
        <p:spPr>
          <a:xfrm>
            <a:off x="740520" y="3081600"/>
            <a:ext cx="1810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工具介面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7"/>
          <p:cNvSpPr/>
          <p:nvPr/>
        </p:nvSpPr>
        <p:spPr>
          <a:xfrm>
            <a:off x="2606040" y="3008520"/>
            <a:ext cx="384012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8"/>
          <p:cNvSpPr/>
          <p:nvPr/>
        </p:nvSpPr>
        <p:spPr>
          <a:xfrm>
            <a:off x="2660760" y="3081600"/>
            <a:ext cx="37303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能讀、查、改什麼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9"/>
          <p:cNvSpPr/>
          <p:nvPr/>
        </p:nvSpPr>
        <p:spPr>
          <a:xfrm>
            <a:off x="6446520" y="3008520"/>
            <a:ext cx="512028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30"/>
          <p:cNvSpPr/>
          <p:nvPr/>
        </p:nvSpPr>
        <p:spPr>
          <a:xfrm>
            <a:off x="6501240" y="3081600"/>
            <a:ext cx="50104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幻覺、亂猜資料、亂改系統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31"/>
          <p:cNvSpPr/>
          <p:nvPr/>
        </p:nvSpPr>
        <p:spPr>
          <a:xfrm>
            <a:off x="685800" y="3520440"/>
            <a:ext cx="191988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32"/>
          <p:cNvSpPr/>
          <p:nvPr/>
        </p:nvSpPr>
        <p:spPr>
          <a:xfrm>
            <a:off x="740520" y="3593520"/>
            <a:ext cx="1810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狀態與記憶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33"/>
          <p:cNvSpPr/>
          <p:nvPr/>
        </p:nvSpPr>
        <p:spPr>
          <a:xfrm>
            <a:off x="2606040" y="3520440"/>
            <a:ext cx="384012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34"/>
          <p:cNvSpPr/>
          <p:nvPr/>
        </p:nvSpPr>
        <p:spPr>
          <a:xfrm>
            <a:off x="2660760" y="3593520"/>
            <a:ext cx="37303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上一步做了什麼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5"/>
          <p:cNvSpPr/>
          <p:nvPr/>
        </p:nvSpPr>
        <p:spPr>
          <a:xfrm>
            <a:off x="6446520" y="3520440"/>
            <a:ext cx="512028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36"/>
          <p:cNvSpPr/>
          <p:nvPr/>
        </p:nvSpPr>
        <p:spPr>
          <a:xfrm>
            <a:off x="6501240" y="3593520"/>
            <a:ext cx="50104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重複工作、長任務失憶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37"/>
          <p:cNvSpPr/>
          <p:nvPr/>
        </p:nvSpPr>
        <p:spPr>
          <a:xfrm>
            <a:off x="685800" y="4032360"/>
            <a:ext cx="191988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38"/>
          <p:cNvSpPr/>
          <p:nvPr/>
        </p:nvSpPr>
        <p:spPr>
          <a:xfrm>
            <a:off x="740520" y="4105800"/>
            <a:ext cx="1810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權限與風控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39"/>
          <p:cNvSpPr/>
          <p:nvPr/>
        </p:nvSpPr>
        <p:spPr>
          <a:xfrm>
            <a:off x="2606040" y="4032360"/>
            <a:ext cx="384012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40"/>
          <p:cNvSpPr/>
          <p:nvPr/>
        </p:nvSpPr>
        <p:spPr>
          <a:xfrm>
            <a:off x="2660760" y="4105800"/>
            <a:ext cx="37303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哪些行為需批准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41"/>
          <p:cNvSpPr/>
          <p:nvPr/>
        </p:nvSpPr>
        <p:spPr>
          <a:xfrm>
            <a:off x="6446520" y="4032360"/>
            <a:ext cx="512028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42"/>
          <p:cNvSpPr/>
          <p:nvPr/>
        </p:nvSpPr>
        <p:spPr>
          <a:xfrm>
            <a:off x="6501240" y="4105800"/>
            <a:ext cx="50104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誤刪、洩漏、錯誤交易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43"/>
          <p:cNvSpPr/>
          <p:nvPr/>
        </p:nvSpPr>
        <p:spPr>
          <a:xfrm>
            <a:off x="685800" y="4544640"/>
            <a:ext cx="191988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44"/>
          <p:cNvSpPr/>
          <p:nvPr/>
        </p:nvSpPr>
        <p:spPr>
          <a:xfrm>
            <a:off x="740520" y="4617720"/>
            <a:ext cx="1810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驗證與評估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45"/>
          <p:cNvSpPr/>
          <p:nvPr/>
        </p:nvSpPr>
        <p:spPr>
          <a:xfrm>
            <a:off x="2606040" y="4544640"/>
            <a:ext cx="384012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46"/>
          <p:cNvSpPr/>
          <p:nvPr/>
        </p:nvSpPr>
        <p:spPr>
          <a:xfrm>
            <a:off x="2660760" y="4617720"/>
            <a:ext cx="37303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如何知道結果正確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47"/>
          <p:cNvSpPr/>
          <p:nvPr/>
        </p:nvSpPr>
        <p:spPr>
          <a:xfrm>
            <a:off x="6446520" y="4544640"/>
            <a:ext cx="5120280" cy="51156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8"/>
          <p:cNvSpPr/>
          <p:nvPr/>
        </p:nvSpPr>
        <p:spPr>
          <a:xfrm>
            <a:off x="6501240" y="4617720"/>
            <a:ext cx="50104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看似合理但不可信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49"/>
          <p:cNvSpPr/>
          <p:nvPr/>
        </p:nvSpPr>
        <p:spPr>
          <a:xfrm>
            <a:off x="685800" y="5056560"/>
            <a:ext cx="191988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50"/>
          <p:cNvSpPr/>
          <p:nvPr/>
        </p:nvSpPr>
        <p:spPr>
          <a:xfrm>
            <a:off x="740520" y="5129640"/>
            <a:ext cx="1810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可觀測性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51"/>
          <p:cNvSpPr/>
          <p:nvPr/>
        </p:nvSpPr>
        <p:spPr>
          <a:xfrm>
            <a:off x="2606040" y="5056560"/>
            <a:ext cx="384012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52"/>
          <p:cNvSpPr/>
          <p:nvPr/>
        </p:nvSpPr>
        <p:spPr>
          <a:xfrm>
            <a:off x="2660760" y="5129640"/>
            <a:ext cx="37303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哪一步失敗、成本多少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53"/>
          <p:cNvSpPr/>
          <p:nvPr/>
        </p:nvSpPr>
        <p:spPr>
          <a:xfrm>
            <a:off x="6446520" y="5056560"/>
            <a:ext cx="5120280" cy="51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54"/>
          <p:cNvSpPr/>
          <p:nvPr/>
        </p:nvSpPr>
        <p:spPr>
          <a:xfrm>
            <a:off x="6501240" y="5129640"/>
            <a:ext cx="50104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無法除錯與改善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55"/>
          <p:cNvSpPr/>
          <p:nvPr/>
        </p:nvSpPr>
        <p:spPr>
          <a:xfrm>
            <a:off x="7818120" y="6062400"/>
            <a:ext cx="2788560" cy="255600"/>
          </a:xfrm>
          <a:prstGeom prst="roundRect">
            <a:avLst>
              <a:gd name="adj" fmla="val 21429"/>
            </a:avLst>
          </a:prstGeom>
          <a:solidFill>
            <a:srgbClr val="e7faf6"/>
          </a:solidFill>
          <a:ln w="12700">
            <a:solidFill>
              <a:srgbClr val="e7fa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56"/>
          <p:cNvSpPr/>
          <p:nvPr/>
        </p:nvSpPr>
        <p:spPr>
          <a:xfrm>
            <a:off x="7891200" y="6112800"/>
            <a:ext cx="26424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76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七層皆可被文件化、工具化、測試化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57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58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59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7/15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08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三個常見誤解：不要把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簡化成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Prompt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或多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的本質是控制與驗證，不是把模型包裝得更像人在聊天。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777240" y="1737360"/>
            <a:ext cx="3200040" cy="31086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978480" y="1993320"/>
            <a:ext cx="868320" cy="255600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1051560" y="2043720"/>
            <a:ext cx="722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760" spc="-1" strike="noStrike">
                <a:solidFill>
                  <a:srgbClr val="d55a5a"/>
                </a:solidFill>
                <a:latin typeface="Noto Sans CJK TC"/>
                <a:ea typeface="Noto Sans CJK TC"/>
              </a:rPr>
              <a:t>誤解一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005840" y="251460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= System Prompt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1188720" y="3246120"/>
            <a:ext cx="2377440" cy="360"/>
          </a:xfrm>
          <a:prstGeom prst="line">
            <a:avLst/>
          </a:prstGeom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2"/>
          <p:cNvSpPr/>
          <p:nvPr/>
        </p:nvSpPr>
        <p:spPr>
          <a:xfrm>
            <a:off x="1106280" y="3529440"/>
            <a:ext cx="2541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Prompt </a:t>
            </a:r>
            <a:r>
              <a:rPr b="0" lang="zh-CN" sz="102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只是其中一層；缺測試、權限、資料驗證，本質仍是賭模型每次聽話。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3"/>
          <p:cNvSpPr/>
          <p:nvPr/>
        </p:nvSpPr>
        <p:spPr>
          <a:xfrm>
            <a:off x="4544640" y="1737360"/>
            <a:ext cx="3200040" cy="31086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4"/>
          <p:cNvSpPr/>
          <p:nvPr/>
        </p:nvSpPr>
        <p:spPr>
          <a:xfrm>
            <a:off x="4745880" y="1993320"/>
            <a:ext cx="868320" cy="255600"/>
          </a:xfrm>
          <a:prstGeom prst="roundRect">
            <a:avLst>
              <a:gd name="adj" fmla="val 21429"/>
            </a:avLst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4818960" y="2043720"/>
            <a:ext cx="722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760" spc="-1" strike="noStrike">
                <a:solidFill>
                  <a:srgbClr val="f4b740"/>
                </a:solidFill>
                <a:latin typeface="Noto Sans CJK TC"/>
                <a:ea typeface="Noto Sans CJK TC"/>
              </a:rPr>
              <a:t>誤解二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4773240" y="251460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多 </a:t>
            </a:r>
            <a:r>
              <a:rPr b="1" lang="en-US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 = </a:t>
            </a:r>
            <a:r>
              <a:rPr b="1" lang="zh-CN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成熟 </a:t>
            </a:r>
            <a:r>
              <a:rPr b="1" lang="en-US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7"/>
          <p:cNvSpPr/>
          <p:nvPr/>
        </p:nvSpPr>
        <p:spPr>
          <a:xfrm>
            <a:off x="4955760" y="3246120"/>
            <a:ext cx="2377440" cy="360"/>
          </a:xfrm>
          <a:prstGeom prst="line">
            <a:avLst/>
          </a:prstGeom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4873680" y="3529440"/>
            <a:ext cx="2541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2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多 </a:t>
            </a:r>
            <a:r>
              <a:rPr b="0" lang="en-US" sz="102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102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只是編排策略；若沒有工具契約與評估，只會增加狀態同步與責任不清。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9"/>
          <p:cNvSpPr/>
          <p:nvPr/>
        </p:nvSpPr>
        <p:spPr>
          <a:xfrm>
            <a:off x="8312040" y="1737360"/>
            <a:ext cx="3200040" cy="31086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0"/>
          <p:cNvSpPr/>
          <p:nvPr/>
        </p:nvSpPr>
        <p:spPr>
          <a:xfrm>
            <a:off x="8512920" y="1993320"/>
            <a:ext cx="868320" cy="255600"/>
          </a:xfrm>
          <a:prstGeom prst="roundRect">
            <a:avLst>
              <a:gd name="adj" fmla="val 21429"/>
            </a:avLst>
          </a:prstGeom>
          <a:solidFill>
            <a:srgbClr val="eef6ff"/>
          </a:solidFill>
          <a:ln w="12700">
            <a:solidFill>
              <a:srgbClr val="eef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8586360" y="2043720"/>
            <a:ext cx="722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760" spc="-1" strike="noStrike">
                <a:solidFill>
                  <a:srgbClr val="2b6cb0"/>
                </a:solidFill>
                <a:latin typeface="Noto Sans CJK TC"/>
                <a:ea typeface="Noto Sans CJK TC"/>
              </a:rPr>
              <a:t>誤解三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2"/>
          <p:cNvSpPr/>
          <p:nvPr/>
        </p:nvSpPr>
        <p:spPr>
          <a:xfrm>
            <a:off x="8540640" y="251460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16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讓人不用管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3"/>
          <p:cNvSpPr/>
          <p:nvPr/>
        </p:nvSpPr>
        <p:spPr>
          <a:xfrm>
            <a:off x="8723160" y="3246120"/>
            <a:ext cx="2377440" cy="360"/>
          </a:xfrm>
          <a:prstGeom prst="line">
            <a:avLst/>
          </a:prstGeom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4"/>
          <p:cNvSpPr/>
          <p:nvPr/>
        </p:nvSpPr>
        <p:spPr>
          <a:xfrm>
            <a:off x="8641080" y="3529440"/>
            <a:ext cx="2541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2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真正目標是人類只在高風險、高判斷成本的地方介入。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5"/>
          <p:cNvSpPr/>
          <p:nvPr/>
        </p:nvSpPr>
        <p:spPr>
          <a:xfrm>
            <a:off x="1024200" y="5394960"/>
            <a:ext cx="10149480" cy="529920"/>
          </a:xfrm>
          <a:prstGeom prst="roundRect">
            <a:avLst>
              <a:gd name="adj" fmla="val 20690"/>
            </a:avLst>
          </a:prstGeom>
          <a:solidFill>
            <a:srgbClr val="f0f7ff"/>
          </a:solidFill>
          <a:ln w="12700">
            <a:solidFill>
              <a:srgbClr val="c9d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26"/>
          <p:cNvSpPr/>
          <p:nvPr/>
        </p:nvSpPr>
        <p:spPr>
          <a:xfrm>
            <a:off x="1261800" y="5559480"/>
            <a:ext cx="9692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正確順序：單 </a:t>
            </a:r>
            <a:r>
              <a:rPr b="1" lang="en-US" sz="11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Agent + </a:t>
            </a:r>
            <a:r>
              <a:rPr b="1" lang="zh-CN" sz="11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好工具 </a:t>
            </a:r>
            <a:r>
              <a:rPr b="1" lang="en-US" sz="11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+ </a:t>
            </a:r>
            <a:r>
              <a:rPr b="1" lang="zh-CN" sz="11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明確輸出格式 → 驗證器 </a:t>
            </a:r>
            <a:r>
              <a:rPr b="1" lang="en-US" sz="11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/ Trace → </a:t>
            </a:r>
            <a:r>
              <a:rPr b="1" lang="zh-CN" sz="11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必要時才拆專責 </a:t>
            </a:r>
            <a:r>
              <a:rPr b="1" lang="en-US" sz="11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Agent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7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28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29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8/15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09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橫向分析：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賽道不是單一市場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不同玩家其實在不同層工作：產品、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Runtime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、框架、協定與研究系統。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7"/>
          <p:cNvSpPr/>
          <p:nvPr/>
        </p:nvSpPr>
        <p:spPr>
          <a:xfrm>
            <a:off x="685800" y="1609200"/>
            <a:ext cx="3309840" cy="13528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8"/>
          <p:cNvSpPr/>
          <p:nvPr/>
        </p:nvSpPr>
        <p:spPr>
          <a:xfrm>
            <a:off x="887040" y="1828800"/>
            <a:ext cx="383760" cy="38376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1398960" y="18104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6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Coding Harness </a:t>
            </a:r>
            <a:r>
              <a:rPr b="1" lang="zh-CN" sz="126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產品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1398960" y="211212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2b6cb0"/>
                </a:solidFill>
                <a:latin typeface="Noto Sans CJK TC"/>
                <a:ea typeface="Noto Sans CJK TC"/>
              </a:rPr>
              <a:t>Codex</a:t>
            </a:r>
            <a:r>
              <a:rPr b="1" lang="zh-CN" sz="880" spc="-1" strike="noStrike">
                <a:solidFill>
                  <a:srgbClr val="2b6cb0"/>
                </a:solidFill>
                <a:latin typeface="Noto Sans CJK TC"/>
                <a:ea typeface="Noto Sans CJK TC"/>
              </a:rPr>
              <a:t>、</a:t>
            </a:r>
            <a:r>
              <a:rPr b="1" lang="en-US" sz="880" spc="-1" strike="noStrike">
                <a:solidFill>
                  <a:srgbClr val="2b6cb0"/>
                </a:solidFill>
                <a:latin typeface="Noto Sans CJK TC"/>
                <a:ea typeface="Noto Sans CJK TC"/>
              </a:rPr>
              <a:t>Claude Code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11"/>
          <p:cNvSpPr/>
          <p:nvPr/>
        </p:nvSpPr>
        <p:spPr>
          <a:xfrm>
            <a:off x="1398960" y="2395800"/>
            <a:ext cx="2331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讀 </a:t>
            </a:r>
            <a:r>
              <a:rPr b="0" lang="en-US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repo</a:t>
            </a:r>
            <a:r>
              <a:rPr b="0" lang="zh-CN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、改檔、跑 </a:t>
            </a:r>
            <a:r>
              <a:rPr b="0" lang="en-US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command</a:t>
            </a:r>
            <a:r>
              <a:rPr b="0" lang="zh-CN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、驗證結果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2"/>
          <p:cNvSpPr/>
          <p:nvPr/>
        </p:nvSpPr>
        <p:spPr>
          <a:xfrm>
            <a:off x="4389120" y="1609200"/>
            <a:ext cx="3309840" cy="13528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3"/>
          <p:cNvSpPr/>
          <p:nvPr/>
        </p:nvSpPr>
        <p:spPr>
          <a:xfrm>
            <a:off x="4590360" y="1828800"/>
            <a:ext cx="383760" cy="383760"/>
          </a:xfrm>
          <a:prstGeom prst="ellipse">
            <a:avLst/>
          </a:prstGeom>
          <a:solidFill>
            <a:srgbClr val="0e9f8f"/>
          </a:solidFill>
          <a:ln w="1270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4"/>
          <p:cNvSpPr/>
          <p:nvPr/>
        </p:nvSpPr>
        <p:spPr>
          <a:xfrm>
            <a:off x="5102280" y="18104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6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 Runtime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5"/>
          <p:cNvSpPr/>
          <p:nvPr/>
        </p:nvSpPr>
        <p:spPr>
          <a:xfrm>
            <a:off x="5102280" y="211212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LangGraph</a:t>
            </a:r>
            <a:r>
              <a:rPr b="1" lang="zh-CN" sz="88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、</a:t>
            </a:r>
            <a:r>
              <a:rPr b="1" lang="en-US" sz="88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OpenAI Agents SDK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6"/>
          <p:cNvSpPr/>
          <p:nvPr/>
        </p:nvSpPr>
        <p:spPr>
          <a:xfrm>
            <a:off x="5102280" y="2395800"/>
            <a:ext cx="2331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狀態、工具、審批、</a:t>
            </a:r>
            <a:r>
              <a:rPr b="0" lang="en-US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trace</a:t>
            </a:r>
            <a:r>
              <a:rPr b="0" lang="zh-CN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、部署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7"/>
          <p:cNvSpPr/>
          <p:nvPr/>
        </p:nvSpPr>
        <p:spPr>
          <a:xfrm>
            <a:off x="8092440" y="1609200"/>
            <a:ext cx="3309840" cy="13528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8"/>
          <p:cNvSpPr/>
          <p:nvPr/>
        </p:nvSpPr>
        <p:spPr>
          <a:xfrm>
            <a:off x="8293680" y="1828800"/>
            <a:ext cx="383760" cy="383760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9"/>
          <p:cNvSpPr/>
          <p:nvPr/>
        </p:nvSpPr>
        <p:spPr>
          <a:xfrm>
            <a:off x="8805600" y="18104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6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Multi-Agent Framework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20"/>
          <p:cNvSpPr/>
          <p:nvPr/>
        </p:nvSpPr>
        <p:spPr>
          <a:xfrm>
            <a:off x="8805600" y="211212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f4b740"/>
                </a:solidFill>
                <a:latin typeface="Noto Sans CJK TC"/>
                <a:ea typeface="Noto Sans CJK TC"/>
              </a:rPr>
              <a:t>Google ADK</a:t>
            </a:r>
            <a:r>
              <a:rPr b="1" lang="zh-CN" sz="880" spc="-1" strike="noStrike">
                <a:solidFill>
                  <a:srgbClr val="f4b740"/>
                </a:solidFill>
                <a:latin typeface="Noto Sans CJK TC"/>
                <a:ea typeface="Noto Sans CJK TC"/>
              </a:rPr>
              <a:t>、</a:t>
            </a:r>
            <a:r>
              <a:rPr b="1" lang="en-US" sz="880" spc="-1" strike="noStrike">
                <a:solidFill>
                  <a:srgbClr val="f4b740"/>
                </a:solidFill>
                <a:latin typeface="Noto Sans CJK TC"/>
                <a:ea typeface="Noto Sans CJK TC"/>
              </a:rPr>
              <a:t>AutoGen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21"/>
          <p:cNvSpPr/>
          <p:nvPr/>
        </p:nvSpPr>
        <p:spPr>
          <a:xfrm>
            <a:off x="8805600" y="2395800"/>
            <a:ext cx="2331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多角色協作與流程編排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2"/>
          <p:cNvSpPr/>
          <p:nvPr/>
        </p:nvSpPr>
        <p:spPr>
          <a:xfrm>
            <a:off x="685800" y="3483720"/>
            <a:ext cx="3309840" cy="13528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3"/>
          <p:cNvSpPr/>
          <p:nvPr/>
        </p:nvSpPr>
        <p:spPr>
          <a:xfrm>
            <a:off x="887040" y="3703320"/>
            <a:ext cx="383760" cy="383760"/>
          </a:xfrm>
          <a:prstGeom prst="ellipse">
            <a:avLst/>
          </a:prstGeom>
          <a:solidFill>
            <a:srgbClr val="6e62d8"/>
          </a:solidFill>
          <a:ln w="12700">
            <a:solidFill>
              <a:srgbClr val="6e6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4"/>
          <p:cNvSpPr/>
          <p:nvPr/>
        </p:nvSpPr>
        <p:spPr>
          <a:xfrm>
            <a:off x="1398960" y="36849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6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跨系統協定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5"/>
          <p:cNvSpPr/>
          <p:nvPr/>
        </p:nvSpPr>
        <p:spPr>
          <a:xfrm>
            <a:off x="1398960" y="398664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6e62d8"/>
                </a:solidFill>
                <a:latin typeface="Noto Sans CJK TC"/>
                <a:ea typeface="Noto Sans CJK TC"/>
              </a:rPr>
              <a:t>MCP</a:t>
            </a:r>
            <a:r>
              <a:rPr b="1" lang="zh-CN" sz="880" spc="-1" strike="noStrike">
                <a:solidFill>
                  <a:srgbClr val="6e62d8"/>
                </a:solidFill>
                <a:latin typeface="Noto Sans CJK TC"/>
                <a:ea typeface="Noto Sans CJK TC"/>
              </a:rPr>
              <a:t>、</a:t>
            </a:r>
            <a:r>
              <a:rPr b="1" lang="en-US" sz="880" spc="-1" strike="noStrike">
                <a:solidFill>
                  <a:srgbClr val="6e62d8"/>
                </a:solidFill>
                <a:latin typeface="Noto Sans CJK TC"/>
                <a:ea typeface="Noto Sans CJK TC"/>
              </a:rPr>
              <a:t>Agent Skills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26"/>
          <p:cNvSpPr/>
          <p:nvPr/>
        </p:nvSpPr>
        <p:spPr>
          <a:xfrm>
            <a:off x="1398960" y="4270320"/>
            <a:ext cx="2331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工具與技能可攜、標準化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27"/>
          <p:cNvSpPr/>
          <p:nvPr/>
        </p:nvSpPr>
        <p:spPr>
          <a:xfrm>
            <a:off x="4389120" y="3483720"/>
            <a:ext cx="3309840" cy="135288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8"/>
          <p:cNvSpPr/>
          <p:nvPr/>
        </p:nvSpPr>
        <p:spPr>
          <a:xfrm>
            <a:off x="4590360" y="3703320"/>
            <a:ext cx="383760" cy="383760"/>
          </a:xfrm>
          <a:prstGeom prst="ellipse">
            <a:avLst/>
          </a:prstGeom>
          <a:solidFill>
            <a:srgbClr val="31a66a"/>
          </a:solidFill>
          <a:ln w="12700">
            <a:solidFill>
              <a:srgbClr val="31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9"/>
          <p:cNvSpPr/>
          <p:nvPr/>
        </p:nvSpPr>
        <p:spPr>
          <a:xfrm>
            <a:off x="5102280" y="36849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6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專用研究 </a:t>
            </a:r>
            <a:r>
              <a:rPr b="1" lang="en-US" sz="126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30"/>
          <p:cNvSpPr/>
          <p:nvPr/>
        </p:nvSpPr>
        <p:spPr>
          <a:xfrm>
            <a:off x="5102280" y="398664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31a66a"/>
                </a:solidFill>
                <a:latin typeface="Noto Sans CJK TC"/>
                <a:ea typeface="Noto Sans CJK TC"/>
              </a:rPr>
              <a:t>SWE-agent</a:t>
            </a:r>
            <a:r>
              <a:rPr b="1" lang="zh-CN" sz="880" spc="-1" strike="noStrike">
                <a:solidFill>
                  <a:srgbClr val="31a66a"/>
                </a:solidFill>
                <a:latin typeface="Noto Sans CJK TC"/>
                <a:ea typeface="Noto Sans CJK TC"/>
              </a:rPr>
              <a:t>、</a:t>
            </a:r>
            <a:r>
              <a:rPr b="1" lang="en-US" sz="880" spc="-1" strike="noStrike">
                <a:solidFill>
                  <a:srgbClr val="31a66a"/>
                </a:solidFill>
                <a:latin typeface="Noto Sans CJK TC"/>
                <a:ea typeface="Noto Sans CJK TC"/>
              </a:rPr>
              <a:t>OpenHands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31"/>
          <p:cNvSpPr/>
          <p:nvPr/>
        </p:nvSpPr>
        <p:spPr>
          <a:xfrm>
            <a:off x="5102280" y="4270320"/>
            <a:ext cx="2331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1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任務專注、實驗可重現</a:t>
            </a:r>
            <a:endParaRPr b="0" lang="en-U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32"/>
          <p:cNvSpPr/>
          <p:nvPr/>
        </p:nvSpPr>
        <p:spPr>
          <a:xfrm>
            <a:off x="8101440" y="3493080"/>
            <a:ext cx="3245760" cy="1810080"/>
          </a:xfrm>
          <a:prstGeom prst="roundRect">
            <a:avLst>
              <a:gd name="adj" fmla="val 6061"/>
            </a:avLst>
          </a:prstGeom>
          <a:solidFill>
            <a:srgbClr val="f8fafd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33"/>
          <p:cNvSpPr/>
          <p:nvPr/>
        </p:nvSpPr>
        <p:spPr>
          <a:xfrm>
            <a:off x="8321040" y="37490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選型原則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34"/>
          <p:cNvSpPr/>
          <p:nvPr/>
        </p:nvSpPr>
        <p:spPr>
          <a:xfrm>
            <a:off x="8321040" y="4133160"/>
            <a:ext cx="269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先問任務風險與資料契約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再選 </a:t>
            </a:r>
            <a:r>
              <a:rPr b="0" lang="en-US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runtime </a:t>
            </a:r>
            <a:r>
              <a:rPr b="0" lang="zh-CN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或多 </a:t>
            </a:r>
            <a:r>
              <a:rPr b="0" lang="en-US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3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協定層可降低供應商綁定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35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6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37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9/15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10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Codex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與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Claude Code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：兩種高價值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思維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一個強在讓 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repo 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變成工作記憶；一個強在以 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hooks 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把不確定行為接上確定檢查。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7"/>
          <p:cNvSpPr/>
          <p:nvPr/>
        </p:nvSpPr>
        <p:spPr>
          <a:xfrm>
            <a:off x="777240" y="1645920"/>
            <a:ext cx="5166000" cy="31543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8"/>
          <p:cNvSpPr/>
          <p:nvPr/>
        </p:nvSpPr>
        <p:spPr>
          <a:xfrm>
            <a:off x="6263640" y="1645920"/>
            <a:ext cx="5166000" cy="31543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9"/>
          <p:cNvSpPr/>
          <p:nvPr/>
        </p:nvSpPr>
        <p:spPr>
          <a:xfrm>
            <a:off x="1005840" y="1938600"/>
            <a:ext cx="822600" cy="255600"/>
          </a:xfrm>
          <a:prstGeom prst="roundRect">
            <a:avLst>
              <a:gd name="adj" fmla="val 21429"/>
            </a:avLst>
          </a:prstGeom>
          <a:solidFill>
            <a:srgbClr val="eef6ff"/>
          </a:solidFill>
          <a:ln w="12700">
            <a:solidFill>
              <a:srgbClr val="eef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1078920" y="1989000"/>
            <a:ext cx="676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-1" strike="noStrike">
                <a:solidFill>
                  <a:srgbClr val="2b6cb0"/>
                </a:solidFill>
                <a:latin typeface="Noto Sans CJK TC"/>
                <a:ea typeface="Noto Sans CJK TC"/>
              </a:rPr>
              <a:t>Codex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6492240" y="1938600"/>
            <a:ext cx="1234080" cy="255600"/>
          </a:xfrm>
          <a:prstGeom prst="roundRect">
            <a:avLst>
              <a:gd name="adj" fmla="val 21429"/>
            </a:avLst>
          </a:prstGeom>
          <a:solidFill>
            <a:srgbClr val="e9faf7"/>
          </a:solidFill>
          <a:ln w="12700">
            <a:solidFill>
              <a:srgbClr val="e9faf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2"/>
          <p:cNvSpPr/>
          <p:nvPr/>
        </p:nvSpPr>
        <p:spPr>
          <a:xfrm>
            <a:off x="6565320" y="1989000"/>
            <a:ext cx="10879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Claude Code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1005840" y="242316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把 </a:t>
            </a:r>
            <a:r>
              <a:rPr b="1" lang="en-US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repo </a:t>
            </a:r>
            <a:r>
              <a:rPr b="1" lang="zh-CN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變成 </a:t>
            </a:r>
            <a:r>
              <a:rPr b="1" lang="en-US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 </a:t>
            </a:r>
            <a:r>
              <a:rPr b="1" lang="zh-CN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的工作記憶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1051560" y="2971800"/>
            <a:ext cx="452592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AGENTS.md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分層載入規則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Skills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封裝可重用流程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Subagents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平行分派大型工作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限制：</a:t>
            </a: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repo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混亂會放大壞模式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5"/>
          <p:cNvSpPr/>
          <p:nvPr/>
        </p:nvSpPr>
        <p:spPr>
          <a:xfrm>
            <a:off x="6492240" y="242316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用 </a:t>
            </a:r>
            <a:r>
              <a:rPr b="1" lang="en-US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Hooks / Permissions </a:t>
            </a:r>
            <a:r>
              <a:rPr b="1" lang="zh-CN" sz="15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接上確定性檢查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6537960" y="2971800"/>
            <a:ext cx="448020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修改後強制 </a:t>
            </a: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formatter / lint / test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權限控制與 </a:t>
            </a: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MCP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整合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Skills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採漸進式載入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限制：</a:t>
            </a:r>
            <a:r>
              <a:rPr b="0" lang="en-US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hook </a:t>
            </a:r>
            <a:r>
              <a:rPr b="0" lang="zh-CN" sz="10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與權限設計仍需工程能力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7"/>
          <p:cNvSpPr/>
          <p:nvPr/>
        </p:nvSpPr>
        <p:spPr>
          <a:xfrm>
            <a:off x="3273480" y="5139000"/>
            <a:ext cx="5714640" cy="420120"/>
          </a:xfrm>
          <a:prstGeom prst="roundRect">
            <a:avLst>
              <a:gd name="adj" fmla="val 26087"/>
            </a:avLst>
          </a:prstGeom>
          <a:solidFill>
            <a:srgbClr val="f0f7ff"/>
          </a:solidFill>
          <a:ln w="12700">
            <a:solidFill>
              <a:srgbClr val="c9d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3520440" y="5266800"/>
            <a:ext cx="5211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06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共同原則：不要期待模型記得規則；要讓系統強制執行規則。</a:t>
            </a:r>
            <a:endParaRPr b="0" lang="en-US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9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21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10/15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11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Runtime / Framework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選型：能力不同，使用時機也不同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成熟做法不是先問「我要幾個 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」，而是先找出哪個步驟需要不同工具、權限與評估標準。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7"/>
          <p:cNvSpPr/>
          <p:nvPr/>
        </p:nvSpPr>
        <p:spPr>
          <a:xfrm>
            <a:off x="749880" y="1691640"/>
            <a:ext cx="2057040" cy="456840"/>
          </a:xfrm>
          <a:prstGeom prst="rect">
            <a:avLst/>
          </a:prstGeom>
          <a:solidFill>
            <a:srgbClr val="183a59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8"/>
          <p:cNvSpPr/>
          <p:nvPr/>
        </p:nvSpPr>
        <p:spPr>
          <a:xfrm>
            <a:off x="804600" y="1764720"/>
            <a:ext cx="19472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8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工具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9"/>
          <p:cNvSpPr/>
          <p:nvPr/>
        </p:nvSpPr>
        <p:spPr>
          <a:xfrm>
            <a:off x="2807280" y="1691640"/>
            <a:ext cx="4937400" cy="456840"/>
          </a:xfrm>
          <a:prstGeom prst="rect">
            <a:avLst/>
          </a:prstGeom>
          <a:solidFill>
            <a:srgbClr val="183a59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0"/>
          <p:cNvSpPr/>
          <p:nvPr/>
        </p:nvSpPr>
        <p:spPr>
          <a:xfrm>
            <a:off x="2862000" y="1764720"/>
            <a:ext cx="4827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8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最適合用途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1"/>
          <p:cNvSpPr/>
          <p:nvPr/>
        </p:nvSpPr>
        <p:spPr>
          <a:xfrm>
            <a:off x="7745040" y="1691640"/>
            <a:ext cx="3748680" cy="456840"/>
          </a:xfrm>
          <a:prstGeom prst="rect">
            <a:avLst/>
          </a:prstGeom>
          <a:solidFill>
            <a:srgbClr val="183a59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12"/>
          <p:cNvSpPr/>
          <p:nvPr/>
        </p:nvSpPr>
        <p:spPr>
          <a:xfrm>
            <a:off x="7799760" y="1764720"/>
            <a:ext cx="36388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8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主要代價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3"/>
          <p:cNvSpPr/>
          <p:nvPr/>
        </p:nvSpPr>
        <p:spPr>
          <a:xfrm>
            <a:off x="749880" y="2148840"/>
            <a:ext cx="2057040" cy="566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4"/>
          <p:cNvSpPr/>
          <p:nvPr/>
        </p:nvSpPr>
        <p:spPr>
          <a:xfrm>
            <a:off x="804600" y="2221920"/>
            <a:ext cx="1947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LangGraph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2807280" y="2148840"/>
            <a:ext cx="4937400" cy="566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6"/>
          <p:cNvSpPr/>
          <p:nvPr/>
        </p:nvSpPr>
        <p:spPr>
          <a:xfrm>
            <a:off x="2862000" y="2221920"/>
            <a:ext cx="48276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長任務、持久化、</a:t>
            </a:r>
            <a:r>
              <a:rPr b="0" lang="en-US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Human-in-the-loop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7"/>
          <p:cNvSpPr/>
          <p:nvPr/>
        </p:nvSpPr>
        <p:spPr>
          <a:xfrm>
            <a:off x="7745040" y="2148840"/>
            <a:ext cx="3748680" cy="566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8"/>
          <p:cNvSpPr/>
          <p:nvPr/>
        </p:nvSpPr>
        <p:spPr>
          <a:xfrm>
            <a:off x="7799760" y="2221920"/>
            <a:ext cx="36388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需要自行設計資料契約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9"/>
          <p:cNvSpPr/>
          <p:nvPr/>
        </p:nvSpPr>
        <p:spPr>
          <a:xfrm>
            <a:off x="749880" y="2715840"/>
            <a:ext cx="2057040" cy="56664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20"/>
          <p:cNvSpPr/>
          <p:nvPr/>
        </p:nvSpPr>
        <p:spPr>
          <a:xfrm>
            <a:off x="804600" y="2788920"/>
            <a:ext cx="1947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OpenAI Agents SDK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1"/>
          <p:cNvSpPr/>
          <p:nvPr/>
        </p:nvSpPr>
        <p:spPr>
          <a:xfrm>
            <a:off x="2807280" y="2715840"/>
            <a:ext cx="4937400" cy="56664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22"/>
          <p:cNvSpPr/>
          <p:nvPr/>
        </p:nvSpPr>
        <p:spPr>
          <a:xfrm>
            <a:off x="2862000" y="2788920"/>
            <a:ext cx="48276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把 </a:t>
            </a:r>
            <a:r>
              <a:rPr b="0" lang="en-US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 </a:t>
            </a: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變成產品後端的一部分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3"/>
          <p:cNvSpPr/>
          <p:nvPr/>
        </p:nvSpPr>
        <p:spPr>
          <a:xfrm>
            <a:off x="7745040" y="2715840"/>
            <a:ext cx="3748680" cy="56664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4"/>
          <p:cNvSpPr/>
          <p:nvPr/>
        </p:nvSpPr>
        <p:spPr>
          <a:xfrm>
            <a:off x="7799760" y="2788920"/>
            <a:ext cx="36388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雲端模型與整合治理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5"/>
          <p:cNvSpPr/>
          <p:nvPr/>
        </p:nvSpPr>
        <p:spPr>
          <a:xfrm>
            <a:off x="749880" y="3282840"/>
            <a:ext cx="2057040" cy="566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6"/>
          <p:cNvSpPr/>
          <p:nvPr/>
        </p:nvSpPr>
        <p:spPr>
          <a:xfrm>
            <a:off x="804600" y="3355920"/>
            <a:ext cx="1947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Google ADK / AutoGen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7"/>
          <p:cNvSpPr/>
          <p:nvPr/>
        </p:nvSpPr>
        <p:spPr>
          <a:xfrm>
            <a:off x="2807280" y="3282840"/>
            <a:ext cx="4937400" cy="566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8"/>
          <p:cNvSpPr/>
          <p:nvPr/>
        </p:nvSpPr>
        <p:spPr>
          <a:xfrm>
            <a:off x="2862000" y="3355920"/>
            <a:ext cx="48276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多角色協作、流程編排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9"/>
          <p:cNvSpPr/>
          <p:nvPr/>
        </p:nvSpPr>
        <p:spPr>
          <a:xfrm>
            <a:off x="7745040" y="3282840"/>
            <a:ext cx="3748680" cy="5666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30"/>
          <p:cNvSpPr/>
          <p:nvPr/>
        </p:nvSpPr>
        <p:spPr>
          <a:xfrm>
            <a:off x="7799760" y="3355920"/>
            <a:ext cx="36388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過度設計與除錯複雜度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1"/>
          <p:cNvSpPr/>
          <p:nvPr/>
        </p:nvSpPr>
        <p:spPr>
          <a:xfrm>
            <a:off x="749880" y="3849480"/>
            <a:ext cx="2057040" cy="56664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32"/>
          <p:cNvSpPr/>
          <p:nvPr/>
        </p:nvSpPr>
        <p:spPr>
          <a:xfrm>
            <a:off x="804600" y="3922920"/>
            <a:ext cx="1947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MCP / Agent Skills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33"/>
          <p:cNvSpPr/>
          <p:nvPr/>
        </p:nvSpPr>
        <p:spPr>
          <a:xfrm>
            <a:off x="2807280" y="3849480"/>
            <a:ext cx="4937400" cy="56664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34"/>
          <p:cNvSpPr/>
          <p:nvPr/>
        </p:nvSpPr>
        <p:spPr>
          <a:xfrm>
            <a:off x="2862000" y="3922920"/>
            <a:ext cx="48276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工具與流程跨平台可攜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35"/>
          <p:cNvSpPr/>
          <p:nvPr/>
        </p:nvSpPr>
        <p:spPr>
          <a:xfrm>
            <a:off x="7745040" y="3849480"/>
            <a:ext cx="3748680" cy="566640"/>
          </a:xfrm>
          <a:prstGeom prst="rect">
            <a:avLst/>
          </a:prstGeom>
          <a:solidFill>
            <a:srgbClr val="f8fafd"/>
          </a:solidFill>
          <a:ln w="762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36"/>
          <p:cNvSpPr/>
          <p:nvPr/>
        </p:nvSpPr>
        <p:spPr>
          <a:xfrm>
            <a:off x="7799760" y="3922920"/>
            <a:ext cx="36388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39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協定本身不保證品質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7"/>
          <p:cNvSpPr/>
          <p:nvPr/>
        </p:nvSpPr>
        <p:spPr>
          <a:xfrm>
            <a:off x="914400" y="5074920"/>
            <a:ext cx="10240920" cy="694440"/>
          </a:xfrm>
          <a:prstGeom prst="roundRect">
            <a:avLst>
              <a:gd name="adj" fmla="val 15789"/>
            </a:avLst>
          </a:prstGeom>
          <a:solidFill>
            <a:srgbClr val="fff7e6"/>
          </a:solidFill>
          <a:ln w="12700">
            <a:solidFill>
              <a:srgbClr val="f6dc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38"/>
          <p:cNvSpPr/>
          <p:nvPr/>
        </p:nvSpPr>
        <p:spPr>
          <a:xfrm>
            <a:off x="1188720" y="5321880"/>
            <a:ext cx="9646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7a5300"/>
                </a:solidFill>
                <a:latin typeface="Noto Sans CJK TC"/>
                <a:ea typeface="Noto Sans CJK TC"/>
              </a:rPr>
              <a:t>投資網站第一優先：先建立不綁定單一模型的 </a:t>
            </a:r>
            <a:r>
              <a:rPr b="1" lang="en-US" sz="1250" spc="-1" strike="noStrike">
                <a:solidFill>
                  <a:srgbClr val="7a5300"/>
                </a:solidFill>
                <a:latin typeface="Noto Sans CJK TC"/>
                <a:ea typeface="Noto Sans CJK TC"/>
              </a:rPr>
              <a:t>Custom Harness</a:t>
            </a:r>
            <a:r>
              <a:rPr b="1" lang="zh-CN" sz="1250" spc="-1" strike="noStrike">
                <a:solidFill>
                  <a:srgbClr val="7a5300"/>
                </a:solidFill>
                <a:latin typeface="Noto Sans CJK TC"/>
                <a:ea typeface="Noto Sans CJK TC"/>
              </a:rPr>
              <a:t>，把資料、驗證、風控與 </a:t>
            </a:r>
            <a:r>
              <a:rPr b="1" lang="en-US" sz="1250" spc="-1" strike="noStrike">
                <a:solidFill>
                  <a:srgbClr val="7a5300"/>
                </a:solidFill>
                <a:latin typeface="Noto Sans CJK TC"/>
                <a:ea typeface="Noto Sans CJK TC"/>
              </a:rPr>
              <a:t>UI </a:t>
            </a:r>
            <a:r>
              <a:rPr b="1" lang="zh-CN" sz="1250" spc="-1" strike="noStrike">
                <a:solidFill>
                  <a:srgbClr val="7a5300"/>
                </a:solidFill>
                <a:latin typeface="Noto Sans CJK TC"/>
                <a:ea typeface="Noto Sans CJK TC"/>
              </a:rPr>
              <a:t>契約穩定下來。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9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40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41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11/15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12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使用者體驗的改變：從「相信答案」到「審核證據」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有 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後，使用者不只看到結論，還看到資料來源、計算方式、驗證結果與風險提示。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7"/>
          <p:cNvSpPr/>
          <p:nvPr/>
        </p:nvSpPr>
        <p:spPr>
          <a:xfrm>
            <a:off x="1920240" y="2084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d55a5a"/>
                </a:solidFill>
                <a:latin typeface="Noto Sans CJK TC"/>
                <a:ea typeface="Noto Sans CJK TC"/>
              </a:rPr>
              <a:t>沒有 </a:t>
            </a:r>
            <a:r>
              <a:rPr b="1" lang="en-US" sz="1600" spc="-1" strike="noStrike">
                <a:solidFill>
                  <a:srgbClr val="d55a5a"/>
                </a:solidFill>
                <a:latin typeface="Noto Sans CJK TC"/>
                <a:ea typeface="Noto Sans CJK TC"/>
              </a:rPr>
              <a:t>Harness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8"/>
          <p:cNvSpPr/>
          <p:nvPr/>
        </p:nvSpPr>
        <p:spPr>
          <a:xfrm>
            <a:off x="1828800" y="2788920"/>
            <a:ext cx="2102760" cy="54828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3970">
            <a:solidFill>
              <a:srgbClr val="d55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9"/>
          <p:cNvSpPr/>
          <p:nvPr/>
        </p:nvSpPr>
        <p:spPr>
          <a:xfrm>
            <a:off x="1901880" y="289872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模型給答案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0"/>
          <p:cNvSpPr/>
          <p:nvPr/>
        </p:nvSpPr>
        <p:spPr>
          <a:xfrm>
            <a:off x="2880360" y="3355560"/>
            <a:ext cx="360" cy="320040"/>
          </a:xfrm>
          <a:prstGeom prst="line">
            <a:avLst/>
          </a:prstGeom>
          <a:ln w="1524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1"/>
          <p:cNvSpPr/>
          <p:nvPr/>
        </p:nvSpPr>
        <p:spPr>
          <a:xfrm>
            <a:off x="1572840" y="3703320"/>
            <a:ext cx="2614680" cy="566640"/>
          </a:xfrm>
          <a:prstGeom prst="roundRect">
            <a:avLst>
              <a:gd name="adj" fmla="val 19355"/>
            </a:avLst>
          </a:prstGeom>
          <a:solidFill>
            <a:srgbClr val="f8fafd"/>
          </a:solidFill>
          <a:ln w="13970">
            <a:solidFill>
              <a:srgbClr val="4252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12"/>
          <p:cNvSpPr/>
          <p:nvPr/>
        </p:nvSpPr>
        <p:spPr>
          <a:xfrm>
            <a:off x="1645920" y="38131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使用者自己判斷能不能信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13"/>
          <p:cNvSpPr/>
          <p:nvPr/>
        </p:nvSpPr>
        <p:spPr>
          <a:xfrm>
            <a:off x="8138160" y="208476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有 </a:t>
            </a:r>
            <a:r>
              <a:rPr b="1" lang="en-US" sz="160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Harness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4"/>
          <p:cNvSpPr/>
          <p:nvPr/>
        </p:nvSpPr>
        <p:spPr>
          <a:xfrm>
            <a:off x="7863840" y="2697480"/>
            <a:ext cx="2559960" cy="493560"/>
          </a:xfrm>
          <a:prstGeom prst="roundRect">
            <a:avLst>
              <a:gd name="adj" fmla="val 22222"/>
            </a:avLst>
          </a:prstGeom>
          <a:solidFill>
            <a:srgbClr val="e9faf7"/>
          </a:solidFill>
          <a:ln w="1397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5"/>
          <p:cNvSpPr/>
          <p:nvPr/>
        </p:nvSpPr>
        <p:spPr>
          <a:xfrm>
            <a:off x="7936920" y="2807280"/>
            <a:ext cx="2413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模型提出結論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6"/>
          <p:cNvSpPr/>
          <p:nvPr/>
        </p:nvSpPr>
        <p:spPr>
          <a:xfrm>
            <a:off x="9125640" y="3218400"/>
            <a:ext cx="360" cy="237960"/>
          </a:xfrm>
          <a:prstGeom prst="line">
            <a:avLst/>
          </a:prstGeom>
          <a:ln w="1524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7"/>
          <p:cNvSpPr/>
          <p:nvPr/>
        </p:nvSpPr>
        <p:spPr>
          <a:xfrm>
            <a:off x="7543800" y="3493080"/>
            <a:ext cx="3200040" cy="49356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1397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18"/>
          <p:cNvSpPr/>
          <p:nvPr/>
        </p:nvSpPr>
        <p:spPr>
          <a:xfrm>
            <a:off x="7616880" y="3602880"/>
            <a:ext cx="3053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來源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計算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驗證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風險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9"/>
          <p:cNvSpPr/>
          <p:nvPr/>
        </p:nvSpPr>
        <p:spPr>
          <a:xfrm>
            <a:off x="9125640" y="4014000"/>
            <a:ext cx="360" cy="237960"/>
          </a:xfrm>
          <a:prstGeom prst="line">
            <a:avLst/>
          </a:prstGeom>
          <a:ln w="15240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20"/>
          <p:cNvSpPr/>
          <p:nvPr/>
        </p:nvSpPr>
        <p:spPr>
          <a:xfrm>
            <a:off x="7772400" y="4279320"/>
            <a:ext cx="2742840" cy="493560"/>
          </a:xfrm>
          <a:prstGeom prst="roundRect">
            <a:avLst>
              <a:gd name="adj" fmla="val 22222"/>
            </a:avLst>
          </a:prstGeom>
          <a:solidFill>
            <a:srgbClr val="ecf8f2"/>
          </a:solidFill>
          <a:ln w="13970">
            <a:solidFill>
              <a:srgbClr val="31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21"/>
          <p:cNvSpPr/>
          <p:nvPr/>
        </p:nvSpPr>
        <p:spPr>
          <a:xfrm>
            <a:off x="7845480" y="4389120"/>
            <a:ext cx="259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使用者決定是否採納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2"/>
          <p:cNvSpPr/>
          <p:nvPr/>
        </p:nvSpPr>
        <p:spPr>
          <a:xfrm>
            <a:off x="5468040" y="2834640"/>
            <a:ext cx="1142640" cy="776880"/>
          </a:xfrm>
          <a:prstGeom prst="roundRect">
            <a:avLst>
              <a:gd name="adj" fmla="val 14118"/>
            </a:avLst>
          </a:prstGeom>
          <a:solidFill>
            <a:srgbClr val="f0f7ff"/>
          </a:solidFill>
          <a:ln w="12700">
            <a:solidFill>
              <a:srgbClr val="c9d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23"/>
          <p:cNvSpPr/>
          <p:nvPr/>
        </p:nvSpPr>
        <p:spPr>
          <a:xfrm>
            <a:off x="5596200" y="30542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111" lnSpcReduction="10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信任模式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升級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24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25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26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12/15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13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未來方向：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會成為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產品的真正護城河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模型會升級與降價；難複製的是資料品質、</a:t>
            </a:r>
            <a:r>
              <a:rPr b="0" lang="en-US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domain rules</a:t>
            </a: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、驗證器、失敗案例與工具權限設計。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7"/>
          <p:cNvSpPr/>
          <p:nvPr/>
        </p:nvSpPr>
        <p:spPr>
          <a:xfrm>
            <a:off x="685800" y="1600200"/>
            <a:ext cx="5074560" cy="85932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8"/>
          <p:cNvSpPr/>
          <p:nvPr/>
        </p:nvSpPr>
        <p:spPr>
          <a:xfrm>
            <a:off x="850320" y="1828800"/>
            <a:ext cx="402120" cy="4021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9"/>
          <p:cNvSpPr/>
          <p:nvPr/>
        </p:nvSpPr>
        <p:spPr>
          <a:xfrm>
            <a:off x="1398960" y="176472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Context + Control Engineering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1398960" y="20757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從寫 </a:t>
            </a:r>
            <a:r>
              <a:rPr b="0" lang="en-US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prompt </a:t>
            </a: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轉向知識地圖、工具契約、</a:t>
            </a:r>
            <a:r>
              <a:rPr b="0" lang="en-US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trace </a:t>
            </a: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與品質標準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1"/>
          <p:cNvSpPr/>
          <p:nvPr/>
        </p:nvSpPr>
        <p:spPr>
          <a:xfrm>
            <a:off x="6172200" y="1600200"/>
            <a:ext cx="5074560" cy="85932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2"/>
          <p:cNvSpPr/>
          <p:nvPr/>
        </p:nvSpPr>
        <p:spPr>
          <a:xfrm>
            <a:off x="6336720" y="1828800"/>
            <a:ext cx="402120" cy="402120"/>
          </a:xfrm>
          <a:prstGeom prst="ellipse">
            <a:avLst/>
          </a:prstGeom>
          <a:solidFill>
            <a:srgbClr val="0e9f8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6885360" y="176472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127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中心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14"/>
          <p:cNvSpPr/>
          <p:nvPr/>
        </p:nvSpPr>
        <p:spPr>
          <a:xfrm>
            <a:off x="6885360" y="20757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模型是通用智力；</a:t>
            </a:r>
            <a:r>
              <a:rPr b="0" lang="en-US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是轉成專有工作能力的方法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5"/>
          <p:cNvSpPr/>
          <p:nvPr/>
        </p:nvSpPr>
        <p:spPr>
          <a:xfrm>
            <a:off x="685800" y="2834640"/>
            <a:ext cx="5074560" cy="85932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16"/>
          <p:cNvSpPr/>
          <p:nvPr/>
        </p:nvSpPr>
        <p:spPr>
          <a:xfrm>
            <a:off x="850320" y="3063240"/>
            <a:ext cx="402120" cy="402120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7"/>
          <p:cNvSpPr/>
          <p:nvPr/>
        </p:nvSpPr>
        <p:spPr>
          <a:xfrm>
            <a:off x="1398960" y="299916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7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受限自主性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18"/>
          <p:cNvSpPr/>
          <p:nvPr/>
        </p:nvSpPr>
        <p:spPr>
          <a:xfrm>
            <a:off x="1398960" y="33102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可自主摘要與測試；寄信、刪資料、交易等高風險需批准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9"/>
          <p:cNvSpPr/>
          <p:nvPr/>
        </p:nvSpPr>
        <p:spPr>
          <a:xfrm>
            <a:off x="6172200" y="2834640"/>
            <a:ext cx="5074560" cy="85932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20"/>
          <p:cNvSpPr/>
          <p:nvPr/>
        </p:nvSpPr>
        <p:spPr>
          <a:xfrm>
            <a:off x="6336720" y="3063240"/>
            <a:ext cx="402120" cy="402120"/>
          </a:xfrm>
          <a:prstGeom prst="ellipse">
            <a:avLst/>
          </a:prstGeom>
          <a:solidFill>
            <a:srgbClr val="6e62d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6885360" y="299916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7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少 </a:t>
            </a:r>
            <a:r>
              <a:rPr b="1" lang="en-US" sz="127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Agent</a:t>
            </a:r>
            <a:r>
              <a:rPr b="1" lang="zh-CN" sz="127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、強評估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22"/>
          <p:cNvSpPr/>
          <p:nvPr/>
        </p:nvSpPr>
        <p:spPr>
          <a:xfrm>
            <a:off x="6885360" y="33102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先單 </a:t>
            </a:r>
            <a:r>
              <a:rPr b="0" lang="en-US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端到端，再用 </a:t>
            </a:r>
            <a:r>
              <a:rPr b="0" lang="en-US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eval </a:t>
            </a: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發現需要拆分的角色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3"/>
          <p:cNvSpPr/>
          <p:nvPr/>
        </p:nvSpPr>
        <p:spPr>
          <a:xfrm>
            <a:off x="685800" y="4069080"/>
            <a:ext cx="5074560" cy="85932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24"/>
          <p:cNvSpPr/>
          <p:nvPr/>
        </p:nvSpPr>
        <p:spPr>
          <a:xfrm>
            <a:off x="850320" y="4297680"/>
            <a:ext cx="402120" cy="402120"/>
          </a:xfrm>
          <a:prstGeom prst="ellipse">
            <a:avLst/>
          </a:prstGeom>
          <a:solidFill>
            <a:srgbClr val="31a66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25"/>
          <p:cNvSpPr/>
          <p:nvPr/>
        </p:nvSpPr>
        <p:spPr>
          <a:xfrm>
            <a:off x="1398960" y="423360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7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自我優化但需審核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6"/>
          <p:cNvSpPr/>
          <p:nvPr/>
        </p:nvSpPr>
        <p:spPr>
          <a:xfrm>
            <a:off x="1398960" y="454464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Agent </a:t>
            </a: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提出改進 → </a:t>
            </a:r>
            <a:r>
              <a:rPr b="0" lang="en-US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Evals </a:t>
            </a: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驗證 → </a:t>
            </a:r>
            <a:r>
              <a:rPr b="0" lang="en-US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Human review → </a:t>
            </a:r>
            <a:r>
              <a:rPr b="0" lang="zh-CN" sz="86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版本化部署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27"/>
          <p:cNvSpPr/>
          <p:nvPr/>
        </p:nvSpPr>
        <p:spPr>
          <a:xfrm>
            <a:off x="6172200" y="5257800"/>
            <a:ext cx="5010480" cy="529920"/>
          </a:xfrm>
          <a:prstGeom prst="roundRect">
            <a:avLst>
              <a:gd name="adj" fmla="val 20690"/>
            </a:avLst>
          </a:prstGeom>
          <a:solidFill>
            <a:srgbClr val="f0f7ff"/>
          </a:solidFill>
          <a:ln w="12700">
            <a:solidFill>
              <a:srgbClr val="c9d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8"/>
          <p:cNvSpPr/>
          <p:nvPr/>
        </p:nvSpPr>
        <p:spPr>
          <a:xfrm>
            <a:off x="6419160" y="5431680"/>
            <a:ext cx="4525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2026 </a:t>
            </a:r>
            <a:r>
              <a:rPr b="1" lang="zh-CN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判斷：通用完全自主 </a:t>
            </a:r>
            <a:r>
              <a:rPr b="1" lang="en-US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Agent </a:t>
            </a:r>
            <a:r>
              <a:rPr b="1" lang="zh-CN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未成熟；特定領域受限自主 </a:t>
            </a:r>
            <a:r>
              <a:rPr b="1" lang="en-US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Agent </a:t>
            </a:r>
            <a:r>
              <a:rPr b="1" lang="zh-CN" sz="1080" spc="-1" strike="noStrike">
                <a:solidFill>
                  <a:srgbClr val="183a59"/>
                </a:solidFill>
                <a:latin typeface="Noto Sans CJK TC"/>
                <a:ea typeface="Noto Sans CJK TC"/>
              </a:rPr>
              <a:t>開始成熟。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29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30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31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13/15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14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套用到你的投資分析網站：建議先做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Custom Harness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目標不是「會生成投資文字」，而是能把資料、推理、風險與視覺化結果綁在一起。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7"/>
          <p:cNvSpPr/>
          <p:nvPr/>
        </p:nvSpPr>
        <p:spPr>
          <a:xfrm>
            <a:off x="1069560" y="2834640"/>
            <a:ext cx="411480" cy="360"/>
          </a:xfrm>
          <a:prstGeom prst="line">
            <a:avLst/>
          </a:prstGeom>
          <a:ln w="14605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8"/>
          <p:cNvSpPr/>
          <p:nvPr/>
        </p:nvSpPr>
        <p:spPr>
          <a:xfrm>
            <a:off x="2642400" y="2834640"/>
            <a:ext cx="411480" cy="360"/>
          </a:xfrm>
          <a:prstGeom prst="line">
            <a:avLst/>
          </a:prstGeom>
          <a:ln w="14605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9"/>
          <p:cNvSpPr/>
          <p:nvPr/>
        </p:nvSpPr>
        <p:spPr>
          <a:xfrm>
            <a:off x="4215240" y="2834640"/>
            <a:ext cx="411480" cy="360"/>
          </a:xfrm>
          <a:prstGeom prst="line">
            <a:avLst/>
          </a:prstGeom>
          <a:ln w="14605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0"/>
          <p:cNvSpPr/>
          <p:nvPr/>
        </p:nvSpPr>
        <p:spPr>
          <a:xfrm>
            <a:off x="5788080" y="2834640"/>
            <a:ext cx="411480" cy="360"/>
          </a:xfrm>
          <a:prstGeom prst="line">
            <a:avLst/>
          </a:prstGeom>
          <a:ln w="14605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1"/>
          <p:cNvSpPr/>
          <p:nvPr/>
        </p:nvSpPr>
        <p:spPr>
          <a:xfrm>
            <a:off x="7360920" y="2834640"/>
            <a:ext cx="411480" cy="360"/>
          </a:xfrm>
          <a:prstGeom prst="line">
            <a:avLst/>
          </a:prstGeom>
          <a:ln w="14605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2"/>
          <p:cNvSpPr/>
          <p:nvPr/>
        </p:nvSpPr>
        <p:spPr>
          <a:xfrm>
            <a:off x="8933400" y="2834640"/>
            <a:ext cx="411480" cy="360"/>
          </a:xfrm>
          <a:prstGeom prst="line">
            <a:avLst/>
          </a:prstGeom>
          <a:ln w="14605">
            <a:solidFill>
              <a:srgbClr val="d8e0e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13"/>
          <p:cNvSpPr/>
          <p:nvPr/>
        </p:nvSpPr>
        <p:spPr>
          <a:xfrm>
            <a:off x="621720" y="2395800"/>
            <a:ext cx="1170000" cy="859320"/>
          </a:xfrm>
          <a:prstGeom prst="roundRect">
            <a:avLst>
              <a:gd name="adj" fmla="val 12766"/>
            </a:avLst>
          </a:prstGeom>
          <a:solidFill>
            <a:srgbClr val="eef6ff"/>
          </a:solidFill>
          <a:ln w="1397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4"/>
          <p:cNvSpPr/>
          <p:nvPr/>
        </p:nvSpPr>
        <p:spPr>
          <a:xfrm>
            <a:off x="694800" y="2505600"/>
            <a:ext cx="1023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自然語言問題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使用者輸入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5"/>
          <p:cNvSpPr/>
          <p:nvPr/>
        </p:nvSpPr>
        <p:spPr>
          <a:xfrm>
            <a:off x="2194560" y="2395800"/>
            <a:ext cx="1170000" cy="859320"/>
          </a:xfrm>
          <a:prstGeom prst="roundRect">
            <a:avLst>
              <a:gd name="adj" fmla="val 12766"/>
            </a:avLst>
          </a:prstGeom>
          <a:solidFill>
            <a:srgbClr val="e9faf7"/>
          </a:solidFill>
          <a:ln w="13970">
            <a:solidFill>
              <a:srgbClr val="0e9f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16"/>
          <p:cNvSpPr/>
          <p:nvPr/>
        </p:nvSpPr>
        <p:spPr>
          <a:xfrm>
            <a:off x="2267640" y="2505600"/>
            <a:ext cx="1023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Query Schema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結構化需求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17"/>
          <p:cNvSpPr/>
          <p:nvPr/>
        </p:nvSpPr>
        <p:spPr>
          <a:xfrm>
            <a:off x="3767400" y="2395800"/>
            <a:ext cx="1170000" cy="859320"/>
          </a:xfrm>
          <a:prstGeom prst="roundRect">
            <a:avLst>
              <a:gd name="adj" fmla="val 12766"/>
            </a:avLst>
          </a:prstGeom>
          <a:solidFill>
            <a:srgbClr val="fff7e6"/>
          </a:solidFill>
          <a:ln w="13970">
            <a:solidFill>
              <a:srgbClr val="f4b7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18"/>
          <p:cNvSpPr/>
          <p:nvPr/>
        </p:nvSpPr>
        <p:spPr>
          <a:xfrm>
            <a:off x="3840480" y="2505600"/>
            <a:ext cx="1023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受控資料工具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財報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月營收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股價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估值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/ </a:t>
            </a: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法說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9"/>
          <p:cNvSpPr/>
          <p:nvPr/>
        </p:nvSpPr>
        <p:spPr>
          <a:xfrm>
            <a:off x="5340240" y="2395800"/>
            <a:ext cx="1170000" cy="859320"/>
          </a:xfrm>
          <a:prstGeom prst="roundRect">
            <a:avLst>
              <a:gd name="adj" fmla="val 12766"/>
            </a:avLst>
          </a:prstGeom>
          <a:solidFill>
            <a:srgbClr val="f0eeff"/>
          </a:solidFill>
          <a:ln w="13970">
            <a:solidFill>
              <a:srgbClr val="6e62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20"/>
          <p:cNvSpPr/>
          <p:nvPr/>
        </p:nvSpPr>
        <p:spPr>
          <a:xfrm>
            <a:off x="5413320" y="2505600"/>
            <a:ext cx="1023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Analysis Agent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推理與摘要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21"/>
          <p:cNvSpPr/>
          <p:nvPr/>
        </p:nvSpPr>
        <p:spPr>
          <a:xfrm>
            <a:off x="6912720" y="2395800"/>
            <a:ext cx="1170000" cy="859320"/>
          </a:xfrm>
          <a:prstGeom prst="roundRect">
            <a:avLst>
              <a:gd name="adj" fmla="val 12766"/>
            </a:avLst>
          </a:prstGeom>
          <a:solidFill>
            <a:srgbClr val="fdecec"/>
          </a:solidFill>
          <a:ln w="13970">
            <a:solidFill>
              <a:srgbClr val="d55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22"/>
          <p:cNvSpPr/>
          <p:nvPr/>
        </p:nvSpPr>
        <p:spPr>
          <a:xfrm>
            <a:off x="6986160" y="2505600"/>
            <a:ext cx="1023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Risk + Evidence Validator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來源、日期、公式、風險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23"/>
          <p:cNvSpPr/>
          <p:nvPr/>
        </p:nvSpPr>
        <p:spPr>
          <a:xfrm>
            <a:off x="8485560" y="2395800"/>
            <a:ext cx="1170000" cy="859320"/>
          </a:xfrm>
          <a:prstGeom prst="roundRect">
            <a:avLst>
              <a:gd name="adj" fmla="val 12766"/>
            </a:avLst>
          </a:prstGeom>
          <a:solidFill>
            <a:srgbClr val="ecf8f2"/>
          </a:solidFill>
          <a:ln w="13970">
            <a:solidFill>
              <a:srgbClr val="31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24"/>
          <p:cNvSpPr/>
          <p:nvPr/>
        </p:nvSpPr>
        <p:spPr>
          <a:xfrm>
            <a:off x="8558640" y="2505600"/>
            <a:ext cx="1023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Structured JSON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可回到 </a:t>
            </a: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UI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5"/>
          <p:cNvSpPr/>
          <p:nvPr/>
        </p:nvSpPr>
        <p:spPr>
          <a:xfrm>
            <a:off x="10058400" y="2395800"/>
            <a:ext cx="1170000" cy="859320"/>
          </a:xfrm>
          <a:prstGeom prst="roundRect">
            <a:avLst>
              <a:gd name="adj" fmla="val 12766"/>
            </a:avLst>
          </a:prstGeom>
          <a:solidFill>
            <a:srgbClr val="edf2f7"/>
          </a:solidFill>
          <a:ln w="13970">
            <a:solidFill>
              <a:srgbClr val="183a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26"/>
          <p:cNvSpPr/>
          <p:nvPr/>
        </p:nvSpPr>
        <p:spPr>
          <a:xfrm>
            <a:off x="10131480" y="2505600"/>
            <a:ext cx="1023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Dashboard UI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圖表與結論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27"/>
          <p:cNvSpPr/>
          <p:nvPr/>
        </p:nvSpPr>
        <p:spPr>
          <a:xfrm>
            <a:off x="777240" y="4133160"/>
            <a:ext cx="5257440" cy="129816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28"/>
          <p:cNvSpPr/>
          <p:nvPr/>
        </p:nvSpPr>
        <p:spPr>
          <a:xfrm>
            <a:off x="1005840" y="4370760"/>
            <a:ext cx="2377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Evidence Ledger </a:t>
            </a:r>
            <a:r>
              <a:rPr b="1" lang="zh-CN" sz="1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必留欄位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29"/>
          <p:cNvSpPr/>
          <p:nvPr/>
        </p:nvSpPr>
        <p:spPr>
          <a:xfrm>
            <a:off x="1024200" y="471816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數字來源、資料日期、計算公式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單位、是否為 </a:t>
            </a:r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mock data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事實 </a:t>
            </a:r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/ </a:t>
            </a:r>
            <a:r>
              <a:rPr b="0" lang="zh-CN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估計 </a:t>
            </a:r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/ </a:t>
            </a:r>
            <a:r>
              <a:rPr b="0" lang="zh-CN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推論的標示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0"/>
          <p:cNvSpPr/>
          <p:nvPr/>
        </p:nvSpPr>
        <p:spPr>
          <a:xfrm>
            <a:off x="6355080" y="4133160"/>
            <a:ext cx="5028840" cy="129816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31"/>
          <p:cNvSpPr/>
          <p:nvPr/>
        </p:nvSpPr>
        <p:spPr>
          <a:xfrm>
            <a:off x="6583680" y="437076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Risk Validator </a:t>
            </a:r>
            <a:r>
              <a:rPr b="1" lang="zh-CN" sz="1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必查規則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32"/>
          <p:cNvSpPr/>
          <p:nvPr/>
        </p:nvSpPr>
        <p:spPr>
          <a:xfrm>
            <a:off x="6602040" y="471816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不可捏造財務數字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不可用過期資料做當期結論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• </a:t>
            </a:r>
            <a:r>
              <a:rPr b="0" lang="zh-CN" sz="90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高風險投資結論需標不確定性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33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34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35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14/15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2"/>
          <p:cNvSpPr/>
          <p:nvPr/>
        </p:nvSpPr>
        <p:spPr>
          <a:xfrm>
            <a:off x="475200" y="511920"/>
            <a:ext cx="11064240" cy="360"/>
          </a:xfrm>
          <a:prstGeom prst="line">
            <a:avLst/>
          </a:prstGeom>
          <a:ln w="1016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3"/>
          <p:cNvSpPr/>
          <p:nvPr/>
        </p:nvSpPr>
        <p:spPr>
          <a:xfrm>
            <a:off x="585360" y="18288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Harness Engineering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4"/>
          <p:cNvSpPr/>
          <p:nvPr/>
        </p:nvSpPr>
        <p:spPr>
          <a:xfrm>
            <a:off x="11201400" y="16452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15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5"/>
          <p:cNvSpPr/>
          <p:nvPr/>
        </p:nvSpPr>
        <p:spPr>
          <a:xfrm>
            <a:off x="567000" y="603360"/>
            <a:ext cx="7223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落地檢查表：把 </a:t>
            </a:r>
            <a:r>
              <a:rPr b="1" lang="en-US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Harness </a:t>
            </a:r>
            <a:r>
              <a:rPr b="1" lang="zh-CN" sz="2400" spc="-1" strike="noStrike">
                <a:solidFill>
                  <a:srgbClr val="102033"/>
                </a:solidFill>
                <a:latin typeface="Noto Sans CJK TC"/>
                <a:ea typeface="Noto Sans CJK TC"/>
              </a:rPr>
              <a:t>變成可累積的工程系統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6"/>
          <p:cNvSpPr/>
          <p:nvPr/>
        </p:nvSpPr>
        <p:spPr>
          <a:xfrm>
            <a:off x="585360" y="111564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最終價值不是魔法，而是讓錯誤可隔離、可測量、可修復。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7"/>
          <p:cNvSpPr/>
          <p:nvPr/>
        </p:nvSpPr>
        <p:spPr>
          <a:xfrm>
            <a:off x="777240" y="1664280"/>
            <a:ext cx="5028840" cy="67644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8"/>
          <p:cNvSpPr/>
          <p:nvPr/>
        </p:nvSpPr>
        <p:spPr>
          <a:xfrm>
            <a:off x="941760" y="1847160"/>
            <a:ext cx="1170000" cy="255600"/>
          </a:xfrm>
          <a:prstGeom prst="roundRect">
            <a:avLst>
              <a:gd name="adj" fmla="val 21429"/>
            </a:avLst>
          </a:prstGeom>
          <a:solidFill>
            <a:srgbClr val="eef6ff"/>
          </a:solidFill>
          <a:ln w="12700">
            <a:solidFill>
              <a:srgbClr val="eef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9"/>
          <p:cNvSpPr/>
          <p:nvPr/>
        </p:nvSpPr>
        <p:spPr>
          <a:xfrm>
            <a:off x="1014840" y="1897560"/>
            <a:ext cx="1023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-1" strike="noStrike">
                <a:solidFill>
                  <a:srgbClr val="2b6cb0"/>
                </a:solidFill>
                <a:latin typeface="Noto Sans CJK TC"/>
                <a:ea typeface="Noto Sans CJK TC"/>
              </a:rPr>
              <a:t>AGENTS.md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10"/>
          <p:cNvSpPr/>
          <p:nvPr/>
        </p:nvSpPr>
        <p:spPr>
          <a:xfrm>
            <a:off x="2331720" y="1883520"/>
            <a:ext cx="315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只放導航、工作規則、不可違反原則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1"/>
          <p:cNvSpPr/>
          <p:nvPr/>
        </p:nvSpPr>
        <p:spPr>
          <a:xfrm>
            <a:off x="6263640" y="1664280"/>
            <a:ext cx="5028840" cy="67644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12"/>
          <p:cNvSpPr/>
          <p:nvPr/>
        </p:nvSpPr>
        <p:spPr>
          <a:xfrm>
            <a:off x="6428160" y="1847160"/>
            <a:ext cx="1170000" cy="255600"/>
          </a:xfrm>
          <a:prstGeom prst="roundRect">
            <a:avLst>
              <a:gd name="adj" fmla="val 21429"/>
            </a:avLst>
          </a:prstGeom>
          <a:solidFill>
            <a:srgbClr val="e9faf7"/>
          </a:solidFill>
          <a:ln w="12700">
            <a:solidFill>
              <a:srgbClr val="e9faf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13"/>
          <p:cNvSpPr/>
          <p:nvPr/>
        </p:nvSpPr>
        <p:spPr>
          <a:xfrm>
            <a:off x="6501240" y="1897560"/>
            <a:ext cx="1023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-1" strike="noStrike">
                <a:solidFill>
                  <a:srgbClr val="0e9f8f"/>
                </a:solidFill>
                <a:latin typeface="Noto Sans CJK TC"/>
                <a:ea typeface="Noto Sans CJK TC"/>
              </a:rPr>
              <a:t>docs/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14"/>
          <p:cNvSpPr/>
          <p:nvPr/>
        </p:nvSpPr>
        <p:spPr>
          <a:xfrm>
            <a:off x="7818120" y="1883520"/>
            <a:ext cx="315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架構、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API contract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、資料 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freshness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、估值規則、風控政策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5"/>
          <p:cNvSpPr/>
          <p:nvPr/>
        </p:nvSpPr>
        <p:spPr>
          <a:xfrm>
            <a:off x="777240" y="2624400"/>
            <a:ext cx="5028840" cy="67644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6"/>
          <p:cNvSpPr/>
          <p:nvPr/>
        </p:nvSpPr>
        <p:spPr>
          <a:xfrm>
            <a:off x="941760" y="2807280"/>
            <a:ext cx="1170000" cy="255600"/>
          </a:xfrm>
          <a:prstGeom prst="roundRect">
            <a:avLst>
              <a:gd name="adj" fmla="val 21429"/>
            </a:avLst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17"/>
          <p:cNvSpPr/>
          <p:nvPr/>
        </p:nvSpPr>
        <p:spPr>
          <a:xfrm>
            <a:off x="1014840" y="2857680"/>
            <a:ext cx="1023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-1" strike="noStrike">
                <a:solidFill>
                  <a:srgbClr val="f4b740"/>
                </a:solidFill>
                <a:latin typeface="Noto Sans CJK TC"/>
                <a:ea typeface="Noto Sans CJK TC"/>
              </a:rPr>
              <a:t>skills/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18"/>
          <p:cNvSpPr/>
          <p:nvPr/>
        </p:nvSpPr>
        <p:spPr>
          <a:xfrm>
            <a:off x="2331720" y="2843640"/>
            <a:ext cx="315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verify-investment-app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extract-earnings-charts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generate-report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9"/>
          <p:cNvSpPr/>
          <p:nvPr/>
        </p:nvSpPr>
        <p:spPr>
          <a:xfrm>
            <a:off x="6263640" y="2624400"/>
            <a:ext cx="5028840" cy="67644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20"/>
          <p:cNvSpPr/>
          <p:nvPr/>
        </p:nvSpPr>
        <p:spPr>
          <a:xfrm>
            <a:off x="6428160" y="2807280"/>
            <a:ext cx="1170000" cy="255600"/>
          </a:xfrm>
          <a:prstGeom prst="roundRect">
            <a:avLst>
              <a:gd name="adj" fmla="val 21429"/>
            </a:avLst>
          </a:prstGeom>
          <a:solidFill>
            <a:srgbClr val="f0eeff"/>
          </a:solidFill>
          <a:ln w="12700">
            <a:solidFill>
              <a:srgbClr val="f0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21"/>
          <p:cNvSpPr/>
          <p:nvPr/>
        </p:nvSpPr>
        <p:spPr>
          <a:xfrm>
            <a:off x="6501240" y="2857680"/>
            <a:ext cx="1023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-1" strike="noStrike">
                <a:solidFill>
                  <a:srgbClr val="6e62d8"/>
                </a:solidFill>
                <a:latin typeface="Noto Sans CJK TC"/>
                <a:ea typeface="Noto Sans CJK TC"/>
              </a:rPr>
              <a:t>scripts/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22"/>
          <p:cNvSpPr/>
          <p:nvPr/>
        </p:nvSpPr>
        <p:spPr>
          <a:xfrm>
            <a:off x="7818120" y="2843640"/>
            <a:ext cx="315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smoke_api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validate_financial_data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check_evidence_ledger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run_ui_judge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23"/>
          <p:cNvSpPr/>
          <p:nvPr/>
        </p:nvSpPr>
        <p:spPr>
          <a:xfrm>
            <a:off x="777240" y="3584520"/>
            <a:ext cx="5028840" cy="67644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d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24"/>
          <p:cNvSpPr/>
          <p:nvPr/>
        </p:nvSpPr>
        <p:spPr>
          <a:xfrm>
            <a:off x="941760" y="3767400"/>
            <a:ext cx="1170000" cy="255600"/>
          </a:xfrm>
          <a:prstGeom prst="roundRect">
            <a:avLst>
              <a:gd name="adj" fmla="val 21429"/>
            </a:avLst>
          </a:prstGeom>
          <a:solidFill>
            <a:srgbClr val="ecf8f2"/>
          </a:solidFill>
          <a:ln w="12700">
            <a:solidFill>
              <a:srgbClr val="ecf8f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25"/>
          <p:cNvSpPr/>
          <p:nvPr/>
        </p:nvSpPr>
        <p:spPr>
          <a:xfrm>
            <a:off x="1014840" y="3817800"/>
            <a:ext cx="1023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-1" strike="noStrike">
                <a:solidFill>
                  <a:srgbClr val="31a66a"/>
                </a:solidFill>
                <a:latin typeface="Noto Sans CJK TC"/>
                <a:ea typeface="Noto Sans CJK TC"/>
              </a:rPr>
              <a:t>tests/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26"/>
          <p:cNvSpPr/>
          <p:nvPr/>
        </p:nvSpPr>
        <p:spPr>
          <a:xfrm>
            <a:off x="2331720" y="3803760"/>
            <a:ext cx="315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資料 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freshness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、財務計算、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risk rules</a:t>
            </a:r>
            <a:r>
              <a:rPr b="0" lang="zh-CN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、</a:t>
            </a:r>
            <a:r>
              <a:rPr b="0" lang="en-US" sz="950" spc="-1" strike="noStrike">
                <a:solidFill>
                  <a:srgbClr val="42526e"/>
                </a:solidFill>
                <a:latin typeface="Noto Sans CJK TC"/>
                <a:ea typeface="Noto Sans CJK TC"/>
              </a:rPr>
              <a:t>query schema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27"/>
          <p:cNvSpPr/>
          <p:nvPr/>
        </p:nvSpPr>
        <p:spPr>
          <a:xfrm>
            <a:off x="1051560" y="5257800"/>
            <a:ext cx="10149480" cy="658080"/>
          </a:xfrm>
          <a:prstGeom prst="roundRect">
            <a:avLst>
              <a:gd name="adj" fmla="val 16667"/>
            </a:avLst>
          </a:prstGeom>
          <a:solidFill>
            <a:srgbClr val="183a59"/>
          </a:solidFill>
          <a:ln w="12700">
            <a:solidFill>
              <a:srgbClr val="183a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28"/>
          <p:cNvSpPr/>
          <p:nvPr/>
        </p:nvSpPr>
        <p:spPr>
          <a:xfrm>
            <a:off x="1389960" y="5504760"/>
            <a:ext cx="9463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2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成熟 </a:t>
            </a:r>
            <a:r>
              <a:rPr b="1" lang="en-US" sz="122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Agent = </a:t>
            </a:r>
            <a:r>
              <a:rPr b="1" lang="zh-CN" sz="1220" spc="-1" strike="noStrike">
                <a:solidFill>
                  <a:srgbClr val="ffffff"/>
                </a:solidFill>
                <a:latin typeface="Noto Sans CJK TC"/>
                <a:ea typeface="Noto Sans CJK TC"/>
              </a:rPr>
              <a:t>有資料依據、有任務邊界、有工具權限、有驗證流程、有錯誤紀錄、有品質標準、有人類最終判斷。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9"/>
          <p:cNvSpPr/>
          <p:nvPr/>
        </p:nvSpPr>
        <p:spPr>
          <a:xfrm>
            <a:off x="566640" y="6418800"/>
            <a:ext cx="11018520" cy="360"/>
          </a:xfrm>
          <a:prstGeom prst="line">
            <a:avLst/>
          </a:prstGeom>
          <a:ln w="8890">
            <a:solidFill>
              <a:srgbClr val="d8e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30"/>
          <p:cNvSpPr/>
          <p:nvPr/>
        </p:nvSpPr>
        <p:spPr>
          <a:xfrm>
            <a:off x="585360" y="6510600"/>
            <a:ext cx="9692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資料來源：使用者上傳「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Harness 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的教學及未來方向」與「</a:t>
            </a:r>
            <a:r>
              <a:rPr b="0" lang="en-US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ppt-native</a:t>
            </a:r>
            <a:r>
              <a:rPr b="0" lang="zh-CN" sz="64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」設計規格｜文字與圖表皆可編輯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31"/>
          <p:cNvSpPr/>
          <p:nvPr/>
        </p:nvSpPr>
        <p:spPr>
          <a:xfrm>
            <a:off x="10835640" y="651060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pc="-1" strike="noStrike">
                <a:solidFill>
                  <a:srgbClr val="6b7a90"/>
                </a:solidFill>
                <a:latin typeface="Noto Sans CJK TC"/>
                <a:ea typeface="Noto Sans CJK TC"/>
              </a:rPr>
              <a:t>15/15</a:t>
            </a:r>
            <a:endParaRPr b="0" lang="en-US" sz="6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 pitchFamily="0" charset="1"/>
        <a:ea typeface=""/>
        <a:cs typeface=""/>
      </a:majorFont>
      <a:minorFont>
        <a:latin typeface="Noto Sans CJK T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 pitchFamily="0" charset="1"/>
        <a:ea typeface=""/>
        <a:cs typeface=""/>
      </a:majorFont>
      <a:minorFont>
        <a:latin typeface="Noto Sans CJK T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2026-06-21T07:28:47Z</dcterms:created>
  <dc:creator>OpenAI</dc:creator>
  <dc:description/>
  <dc:language>en-US</dc:language>
  <cp:lastModifiedBy/>
  <dcterms:modified xsi:type="dcterms:W3CDTF">2026-06-21T15:41:39Z</dcterms:modified>
  <cp:revision>2</cp:revision>
  <dc:subject>Harness Engineering 教學與未來方向</dc:subject>
  <dc:title>Harness Engineering：從模型會回答到系統能可靠完成工作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