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dley" charset="1" panose="00000500000000000000"/>
      <p:regular r:id="rId16"/>
    </p:embeddedFont>
    <p:embeddedFont>
      <p:font typeface="Carlito" charset="1" panose="020F0502020204030204"/>
      <p:regular r:id="rId17"/>
    </p:embeddedFont>
    <p:embeddedFont>
      <p:font typeface="Radley Italics" charset="1" panose="00000500000000000000"/>
      <p:regular r:id="rId18"/>
    </p:embeddedFont>
    <p:embeddedFont>
      <p:font typeface="Carlito Bold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DFE6E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22606000" cy="263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299"/>
                </a:lnSpc>
              </a:pPr>
              <a:r>
                <a:rPr lang="en-US" sz="14299" spc="-285" u="none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Production RAG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11225" y="9275446"/>
            <a:ext cx="4010025" cy="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239">
                <a:solidFill>
                  <a:srgbClr val="DFE6EF"/>
                </a:solidFill>
                <a:latin typeface="Carlito"/>
                <a:ea typeface="Carlito"/>
                <a:cs typeface="Carlito"/>
                <a:sym typeface="Carlito"/>
              </a:rPr>
              <a:t>AI SYSTEMS ENGINEER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9323705"/>
            <a:ext cx="4010025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i="true">
                <a:solidFill>
                  <a:srgbClr val="DFE6EF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[Your Full 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5"/>
            <a:ext cx="7230865" cy="5391150"/>
            <a:chOff x="0" y="0"/>
            <a:chExt cx="9641153" cy="71882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6326" y="57150"/>
              <a:ext cx="9614826" cy="135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DFE6EF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Why RAG Matters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6326" y="2387600"/>
              <a:ext cx="9614826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Understanding the critical need for RAG systems in production environments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1901614"/>
              <a:ext cx="9614826" cy="0"/>
            </a:xfrm>
            <a:prstGeom prst="line">
              <a:avLst/>
            </a:prstGeom>
            <a:ln cap="flat" w="25400">
              <a:solidFill>
                <a:srgbClr val="DFE6E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118100"/>
              <a:ext cx="9588500" cy="207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RAG systems are essential for mitigating the </a:t>
              </a:r>
              <a:r>
                <a:rPr lang="en-US" b="true" sz="2000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hallucination risk</a:t>
              </a: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associated with standalone LLMs. They provide enhanced control over </a:t>
              </a:r>
              <a:r>
                <a:rPr lang="en-US" b="true" sz="2000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private data</a:t>
              </a: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and ensure traceability, making them indispensable for organizations that prioritize data accuracy and reliability in their AI applications.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DFE6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378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6"/>
              </a:lnSpc>
              <a:spcBef>
                <a:spcPct val="0"/>
              </a:spcBef>
            </a:pPr>
            <a:r>
              <a:rPr lang="en-US" sz="6675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High-Level RAG System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System Flow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This architecture illustrates how components interact seamlessly.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DFE6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038850"/>
            <a:ext cx="4010025" cy="358140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6038850"/>
            <a:ext cx="4010025" cy="358140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t="0" r="-1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038850"/>
            <a:ext cx="4010025" cy="358140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LangFlow Pipeline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1575" y="4248150"/>
            <a:ext cx="2876550" cy="1255395"/>
            <a:chOff x="0" y="0"/>
            <a:chExt cx="3835400" cy="16738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File Loader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Import various data formats seamlessly.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248150"/>
            <a:ext cx="2876550" cy="1255395"/>
            <a:chOff x="0" y="0"/>
            <a:chExt cx="3835400" cy="16738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Divide content into manageable chunks.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Text Splitter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4248150"/>
            <a:ext cx="2876550" cy="1255395"/>
            <a:chOff x="0" y="0"/>
            <a:chExt cx="3835400" cy="167386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Transform text into vector representations.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Embedding Node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04850"/>
            <a:ext cx="4619625" cy="290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2"/>
              </a:lnSpc>
              <a:spcBef>
                <a:spcPct val="0"/>
              </a:spcBef>
            </a:pPr>
            <a:r>
              <a:rPr lang="en-US" sz="5100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Python Backend Implementation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895350"/>
            <a:chOff x="0" y="0"/>
            <a:chExt cx="7670800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Backend Framework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FastAPI enables quick and efficient API development.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DFE6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038850"/>
            <a:ext cx="4010025" cy="358140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6038850"/>
            <a:ext cx="4010025" cy="358140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t="0" r="-1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038850"/>
            <a:ext cx="4010025" cy="358140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Data Preparation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1575" y="4248150"/>
            <a:ext cx="2876550" cy="1255395"/>
            <a:chOff x="0" y="0"/>
            <a:chExt cx="3835400" cy="16738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Loaders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Effective tools for loading various data formats.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248150"/>
            <a:ext cx="2876550" cy="1255395"/>
            <a:chOff x="0" y="0"/>
            <a:chExt cx="3835400" cy="16738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Breaking data into manageable pieces for processing.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Chunking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4248150"/>
            <a:ext cx="2876550" cy="1255395"/>
            <a:chOff x="0" y="0"/>
            <a:chExt cx="3835400" cy="167386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Organizing data attributes for enhanced searchability.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Metadata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038850"/>
            <a:ext cx="4010025" cy="358140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6038850"/>
            <a:ext cx="4010025" cy="358140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t="0" r="-1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038850"/>
            <a:ext cx="4010025" cy="358140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Embeddings &amp; Databases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1575" y="4248150"/>
            <a:ext cx="2876550" cy="1255967"/>
            <a:chOff x="0" y="0"/>
            <a:chExt cx="3835400" cy="16746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Semantic Search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9945"/>
              <a:ext cx="3835400" cy="844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88"/>
                </a:lnSpc>
              </a:pPr>
              <a:r>
                <a:rPr lang="en-US" b="true" sz="1777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Facilitates</a:t>
              </a:r>
              <a:r>
                <a:rPr lang="en-US" sz="1777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efficient information retrieval and discovery.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248150"/>
            <a:ext cx="2876550" cy="1255967"/>
            <a:chOff x="0" y="0"/>
            <a:chExt cx="3835400" cy="167462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9945"/>
              <a:ext cx="3835400" cy="844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88"/>
                </a:lnSpc>
              </a:pPr>
              <a:r>
                <a:rPr lang="en-US" b="true" sz="1777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Stores</a:t>
              </a:r>
              <a:r>
                <a:rPr lang="en-US" sz="1777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embeddings for rapid access and filtering.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Vector Storage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4248150"/>
            <a:ext cx="2876550" cy="1255967"/>
            <a:chOff x="0" y="0"/>
            <a:chExt cx="3835400" cy="167462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29945"/>
              <a:ext cx="3835400" cy="844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88"/>
                </a:lnSpc>
              </a:pPr>
              <a:r>
                <a:rPr lang="en-US" b="true" sz="1777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Transforms</a:t>
              </a:r>
              <a:r>
                <a:rPr lang="en-US" sz="1777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raw data into semantic representations.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Data Processing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397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DFE6EF"/>
                </a:solidFill>
                <a:latin typeface="Radley"/>
                <a:ea typeface="Radley"/>
                <a:cs typeface="Radley"/>
                <a:sym typeface="Radley"/>
              </a:rPr>
              <a:t>Retriever and Prompt Assembly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895350"/>
            <a:chOff x="0" y="0"/>
            <a:chExt cx="7670800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Context Building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Efficiently integrates retrieval results into coherent prompts.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DFE6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2699080"/>
            <a:ext cx="6057900" cy="4161311"/>
            <a:chOff x="0" y="0"/>
            <a:chExt cx="8077200" cy="55484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00050"/>
              <a:ext cx="8077200" cy="2498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70"/>
                </a:lnSpc>
              </a:pPr>
              <a:r>
                <a:rPr lang="en-US" sz="14300" spc="-715" strike="noStrike" u="none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85%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660348"/>
              <a:ext cx="8077200" cy="1888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This statistic highlights the </a:t>
              </a:r>
              <a:r>
                <a:rPr lang="en-US" b="true" sz="2000" u="none">
                  <a:solidFill>
                    <a:srgbClr val="DFE6E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accuracy</a:t>
              </a:r>
              <a:r>
                <a:rPr lang="en-US" sz="2000" u="none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 of generated responses, showcasing the system's ability to produce relevant and reliable answers while optimizing performance and user satisfaction.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3271926"/>
              <a:ext cx="8077200" cy="0"/>
            </a:xfrm>
            <a:prstGeom prst="line">
              <a:avLst/>
            </a:prstGeom>
            <a:ln cap="flat" w="25400">
              <a:solidFill>
                <a:srgbClr val="DFE6E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858125" cy="10287000"/>
            <a:chOff x="0" y="0"/>
            <a:chExt cx="2677931" cy="35056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7931" cy="3505655"/>
            </a:xfrm>
            <a:custGeom>
              <a:avLst/>
              <a:gdLst/>
              <a:ahLst/>
              <a:cxnLst/>
              <a:rect r="r" b="b" t="t" l="l"/>
              <a:pathLst>
                <a:path h="3505655" w="2677931">
                  <a:moveTo>
                    <a:pt x="0" y="0"/>
                  </a:moveTo>
                  <a:lnTo>
                    <a:pt x="2677931" y="0"/>
                  </a:lnTo>
                  <a:lnTo>
                    <a:pt x="2677931" y="3505655"/>
                  </a:lnTo>
                  <a:lnTo>
                    <a:pt x="0" y="350565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4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4" y="2932118"/>
            <a:ext cx="6569697" cy="4349743"/>
            <a:chOff x="0" y="0"/>
            <a:chExt cx="8759596" cy="5799657"/>
          </a:xfrm>
        </p:grpSpPr>
        <p:sp>
          <p:nvSpPr>
            <p:cNvPr name="AutoShape 3" id="3"/>
            <p:cNvSpPr/>
            <p:nvPr/>
          </p:nvSpPr>
          <p:spPr>
            <a:xfrm flipV="true">
              <a:off x="18" y="4140192"/>
              <a:ext cx="8759543" cy="12700"/>
            </a:xfrm>
            <a:prstGeom prst="line">
              <a:avLst/>
            </a:prstGeom>
            <a:ln cap="flat" w="25400">
              <a:solidFill>
                <a:srgbClr val="DFE6E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V="true">
              <a:off x="35" y="1748365"/>
              <a:ext cx="8759543" cy="12700"/>
            </a:xfrm>
            <a:prstGeom prst="line">
              <a:avLst/>
            </a:prstGeom>
            <a:ln cap="flat" w="25400">
              <a:solidFill>
                <a:srgbClr val="DFE6E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52" y="-76200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WEBSITE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2" y="414865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" y="2317746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EMAIL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2" y="2808811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hello@reallygreatsite.com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" y="4610092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DFE6EF"/>
                  </a:solidFill>
                  <a:latin typeface="Carlito"/>
                  <a:ea typeface="Carlito"/>
                  <a:cs typeface="Carlito"/>
                  <a:sym typeface="Carlito"/>
                </a:rPr>
                <a:t>PHONE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2" y="5101157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123-456-7890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2963509"/>
            <a:ext cx="8324850" cy="3911919"/>
            <a:chOff x="0" y="0"/>
            <a:chExt cx="11099800" cy="521589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9111" y="1215813"/>
              <a:ext cx="11050689" cy="4000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DFE6EF"/>
                  </a:solidFill>
                  <a:latin typeface="Radley"/>
                  <a:ea typeface="Radley"/>
                  <a:cs typeface="Radley"/>
                  <a:sym typeface="Radley"/>
                </a:rPr>
                <a:t>Get in Touch for Collaboration Opportunities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7150"/>
              <a:ext cx="11050689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3500" i="true" u="none">
                  <a:solidFill>
                    <a:srgbClr val="DFE6EF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Contact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Production RAG</dc:description>
  <dc:identifier>DAG8f8C7kuE</dc:identifier>
  <dcterms:modified xsi:type="dcterms:W3CDTF">2011-08-01T06:04:30Z</dcterms:modified>
  <cp:revision>1</cp:revision>
  <dc:title>簡報 - Production RAG</dc:title>
</cp:coreProperties>
</file>