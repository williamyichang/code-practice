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13232"/>
            <a:ext cx="96012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 Langflow 問答流程沉澱成可重用、可驗證、可版本化的 Skill 服務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1965960"/>
            <a:ext cx="283464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3154680"/>
            <a:ext cx="1975104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0" y="3154680"/>
            <a:ext cx="1965960" cy="0"/>
          </a:xfrm>
          <a:prstGeom prst="line">
            <a:avLst/>
          </a:prstGeom>
          <a:noFill/>
          <a:ln w="2794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0" y="3154680"/>
            <a:ext cx="196596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0" y="3154680"/>
            <a:ext cx="155448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" y="2578608"/>
            <a:ext cx="178308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Langflow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問答流程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578608"/>
            <a:ext cx="169164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99F6E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487168"/>
            <a:ext cx="1828800" cy="1234440"/>
          </a:xfrm>
          <a:prstGeom prst="rect">
            <a:avLst/>
          </a:prstGeom>
          <a:solidFill>
            <a:srgbClr val="FFFFFF"/>
          </a:solidFill>
          <a:ln w="1397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Creator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92440" y="2578608"/>
            <a:ext cx="164592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Registry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104120" y="2578608"/>
            <a:ext cx="1645920" cy="1051560"/>
          </a:xfrm>
          <a:prstGeom prst="rect">
            <a:avLst/>
          </a:prstGeom>
          <a:solidFill>
            <a:srgbClr val="FFFFFF"/>
          </a:solidFill>
          <a:ln w="1397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Future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Reuse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983480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核心判斷：API 不是 Agent，而是把產生、驗證、儲存、查詢與匹配 Skill 工程化。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669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 頁架構整理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1｜關鍵觀念：API 不是 Agent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先把「智能理解」與「穩定服務」拆開，系統才容易長期維護。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063240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理解・判斷・流程決策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3063240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功能封裝・格式穩定・可驗證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66760" y="1828800"/>
            <a:ext cx="3063240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Registry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保存・查詢・版本化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86200" y="2487168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62672" y="2487168"/>
            <a:ext cx="5486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05840" y="4160520"/>
            <a:ext cx="102412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你的系統中，Langflow Agent 負責「理解完整問答內容」；Skill Creator API 負責「穩定產出可重用 Skill」。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5074920"/>
            <a:ext cx="93268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用一句話區分：Agent 會決策；API 讓決策結果變成可管理的產品功能。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2｜整體架構：從問答到可重用 Skill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把一次成功任務轉成可以重複套用的能力模組。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01368" y="2743200"/>
            <a:ext cx="393192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1880" y="2743200"/>
            <a:ext cx="429768" cy="0"/>
          </a:xfrm>
          <a:prstGeom prst="line">
            <a:avLst/>
          </a:prstGeom>
          <a:noFill/>
          <a:ln w="2286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58968" y="2743200"/>
            <a:ext cx="438912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0" y="2743200"/>
            <a:ext cx="45720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89720" y="2743200"/>
            <a:ext cx="429768" cy="0"/>
          </a:xfrm>
          <a:prstGeom prst="line">
            <a:avLst/>
          </a:prstGeom>
          <a:noFill/>
          <a:ln w="2286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66928" y="2148840"/>
            <a:ext cx="132588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Chat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77440" y="2148840"/>
            <a:ext cx="132588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Databricks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24528" y="2148840"/>
            <a:ext cx="132588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80760" y="2148840"/>
            <a:ext cx="132588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A78B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Creator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55280" y="2148840"/>
            <a:ext cx="132588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Registry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802368" y="2148840"/>
            <a:ext cx="132588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Future Skill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Router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Creator API 的定位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572000"/>
            <a:ext cx="102412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 Summary Agent 已整理好的任務模式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用穩定 schema 產生 skill_json 與 skill.md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進行品質檢查，避免生成不可重用的聊天摘要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3｜API 應提供的 6 大功能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的價值不是「自己當 Agent」，而是把 Skill 生命週期標準化。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1051560" cy="310896"/>
          </a:xfrm>
          <a:prstGeom prst="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Create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278892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產生 Skill JSON / Markdown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1325880"/>
            <a:ext cx="1051560" cy="310896"/>
          </a:xfrm>
          <a:prstGeom prst="rect">
            <a:avLst/>
          </a:prstGeom>
          <a:solidFill>
            <a:srgbClr val="14B8A6"/>
          </a:solidFill>
          <a:ln>
            <a:solidFill>
              <a:srgbClr val="14B8A6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828800"/>
            <a:ext cx="278892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檢查品質與可重用性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75320" y="1325880"/>
            <a:ext cx="1051560" cy="310896"/>
          </a:xfrm>
          <a:prstGeom prst="rect">
            <a:avLst/>
          </a:prstGeom>
          <a:solidFill>
            <a:srgbClr val="7C3AED"/>
          </a:solidFill>
          <a:ln>
            <a:solidFill>
              <a:srgbClr val="7C3AED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Render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38160" y="1828800"/>
            <a:ext cx="278892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JSON 轉 skill.md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383280"/>
            <a:ext cx="1051560" cy="310896"/>
          </a:xfrm>
          <a:prstGeom prst="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278892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存入 Registry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383280"/>
            <a:ext cx="1051560" cy="310896"/>
          </a:xfrm>
          <a:prstGeom prst="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Search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3886200"/>
            <a:ext cx="278892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查詢既有 Skill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3383280"/>
            <a:ext cx="1051560" cy="310896"/>
          </a:xfrm>
          <a:prstGeom prst="rect">
            <a:avLst/>
          </a:prstGeom>
          <a:solidFill>
            <a:srgbClr val="EF4444"/>
          </a:solidFill>
          <a:ln>
            <a:solidFill>
              <a:srgbClr val="EF4444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Match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38160" y="3886200"/>
            <a:ext cx="278892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判斷新問題是否套用 Skill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5897880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最小可行版本不必一次做完；先做 create + validate + get，再逐步加入 save / match / version control。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4｜Agent 與 API 的分工表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這張表可以作為你設計 Langflow flow 的邊界原則。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874520" cy="708660"/>
          </a:xfrm>
          <a:prstGeom prst="rect">
            <a:avLst/>
          </a:prstGeom>
          <a:solidFill>
            <a:srgbClr val="DBEAFE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面向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2697480" y="1691640"/>
            <a:ext cx="4160520" cy="708660"/>
          </a:xfrm>
          <a:prstGeom prst="rect">
            <a:avLst/>
          </a:prstGeom>
          <a:solidFill>
            <a:srgbClr val="DBEAFE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6858000" y="1691640"/>
            <a:ext cx="4526280" cy="708660"/>
          </a:xfrm>
          <a:prstGeom prst="rect">
            <a:avLst/>
          </a:prstGeom>
          <a:solidFill>
            <a:srgbClr val="DBEAFE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822960" y="2400300"/>
            <a:ext cx="187452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主要角色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2697480" y="2400300"/>
            <a:ext cx="416052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理解與決策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6858000" y="2400300"/>
            <a:ext cx="452628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穩定功能服務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822960" y="3108960"/>
            <a:ext cx="187452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是否主動思考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2697480" y="3108960"/>
            <a:ext cx="416052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會根據任務判斷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6858000" y="3108960"/>
            <a:ext cx="452628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不主動，只執行明確功能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822960" y="3817620"/>
            <a:ext cx="187452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適合任務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2697480" y="3817620"/>
            <a:ext cx="416052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理解問題、摘要對話、選工具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6858000" y="3817620"/>
            <a:ext cx="452628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產生、驗證、儲存、查詢、匹配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822960" y="4526280"/>
            <a:ext cx="187452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輸出特性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2697480" y="4526280"/>
            <a:ext cx="416052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彈性高，但格式可能漂移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6858000" y="4526280"/>
            <a:ext cx="452628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格式穩定，可 schema 驗證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822960" y="5234940"/>
            <a:ext cx="187452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在本系統位置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2697480" y="5234940"/>
            <a:ext cx="416052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Langflow Summary / Router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6858000" y="5234940"/>
            <a:ext cx="4526280" cy="7086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Creator / Registry Service</a:t>
            </a:r>
            <a:endParaRPr lang="en-US" sz="10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5｜Create Skill：最核心的 Endpoint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將完整問答摘要轉成正式 skill_json 與 skill_markdown。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2194560" cy="1097280"/>
          </a:xfrm>
          <a:prstGeom prst="rect">
            <a:avLst/>
          </a:prstGeom>
          <a:solidFill>
            <a:srgbClr val="FFFFFF"/>
          </a:solidFill>
          <a:ln w="1397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/api/v1/skills/create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508760"/>
            <a:ext cx="224028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99F6E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conversation_text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agent_summary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final_answer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metadata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6629400" y="1508760"/>
            <a:ext cx="21488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處理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Azure OpenAI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Structured Output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Schema Validation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9189720" y="1508760"/>
            <a:ext cx="2148840" cy="1737360"/>
          </a:xfrm>
          <a:prstGeom prst="rect">
            <a:avLst/>
          </a:prstGeom>
          <a:solidFill>
            <a:srgbClr val="FFFFFF"/>
          </a:solidFill>
          <a:ln w="1397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skill_id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skill_json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skill_markdown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warnings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3090672" y="2377440"/>
            <a:ext cx="566928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72200" y="2377440"/>
            <a:ext cx="2743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823960" y="2377440"/>
            <a:ext cx="2743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關鍵設計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617720"/>
            <a:ext cx="99669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不要直接吃混亂原文；最好吃 Summary Agent 整理後的內容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輸出先用 JSON，之後再 render 成 skill.md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workflow_orchestration_guide 必須來自整個問答內容，不可套固定模板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6｜Validate Skill：避免產生「看起來像 Skill」的摘要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Validator 是讓 Skill 系統可長期累積的品質閘門。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201168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格式完整性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99232" y="1828800"/>
            <a:ext cx="201168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99F6E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可重用性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75504" y="1828800"/>
            <a:ext cx="201168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流程來源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51776" y="1828800"/>
            <a:ext cx="201168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觸發邊界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28048" y="1828800"/>
            <a:ext cx="201168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FECAC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風險限制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657600"/>
            <a:ext cx="1001268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是否包含技能名稱、使用場景、Prompt Fragment、workflow、輸出契約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是否把單次任務抽象成可重複能力，而不是聊天紀錄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 是否真的反映整個問答過程與修正方向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是否有 trigger / anti-trigger，避免過度觸發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是否標示資料不足、工具限制、不可做精準預測等限制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7｜Render &amp; Save：從結構化資料到可管理文件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JSON 給機器驗證；Markdown 給人閱讀與修改。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19456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skill_json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機器可驗證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920240"/>
            <a:ext cx="219456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render template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固定章節格式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1920240"/>
            <a:ext cx="2194560" cy="1143000"/>
          </a:xfrm>
          <a:prstGeom prst="rect">
            <a:avLst/>
          </a:prstGeom>
          <a:solidFill>
            <a:srgbClr val="FFFFFF"/>
          </a:solidFill>
          <a:ln w="1397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skill.md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人類可編輯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120" y="2514600"/>
            <a:ext cx="1161288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03720" y="2514600"/>
            <a:ext cx="1161288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4160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Save Skill 需要保存的資訊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8992" y="4572000"/>
            <a:ext cx="987552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8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skill_id、skill_name、version、status</a:t>
            </a:r>
            <a:endParaRPr lang="en-US" sz="1280" dirty="0"/>
          </a:p>
          <a:p>
            <a:r>
              <a:rPr lang="en-US" sz="128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skill_json、skill_markdown、validation_warnings</a:t>
            </a:r>
            <a:endParaRPr lang="en-US" sz="1280" dirty="0"/>
          </a:p>
          <a:p>
            <a:r>
              <a:rPr lang="en-US" sz="128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source_conversation_id、created_at、updated_at、metadata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8｜Search &amp; Match：讓 Skill 真的被重複使用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Skill 只是第一步；match 才能讓系統自動套用過去沉澱的能力。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228600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New User Prompt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49040" y="1874520"/>
            <a:ext cx="205740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/skills/match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214884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Matched Skill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confidence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0" y="1737360"/>
            <a:ext cx="2423160" cy="1188720"/>
          </a:xfrm>
          <a:prstGeom prst="rect">
            <a:avLst/>
          </a:prstGeom>
          <a:solidFill>
            <a:srgbClr val="FFFFFF"/>
          </a:solidFill>
          <a:ln w="13970">
            <a:solidFill>
              <a:srgbClr val="BBF7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Apply Prompt Fragment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Workflow Guide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411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97880" y="2331720"/>
            <a:ext cx="429768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86800" y="2331720"/>
            <a:ext cx="3657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0584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Match Endpoint 回傳應包含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480560"/>
            <a:ext cx="99212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8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matched: true / false</a:t>
            </a:r>
            <a:endParaRPr lang="en-US" sz="1280" dirty="0"/>
          </a:p>
          <a:p>
            <a:r>
              <a:rPr lang="en-US" sz="128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skill_id、skill_name、confidence</a:t>
            </a:r>
            <a:endParaRPr lang="en-US" sz="1280" dirty="0"/>
          </a:p>
          <a:p>
            <a:r>
              <a:rPr lang="en-US" sz="128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reason：為什麼匹配</a:t>
            </a:r>
            <a:endParaRPr lang="en-US" sz="1280" dirty="0"/>
          </a:p>
          <a:p>
            <a:r>
              <a:rPr lang="en-US" sz="128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required_tools：套用前需要哪些工具可用</a:t>
            </a:r>
            <a:endParaRPr lang="en-US" sz="12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9｜MVP：先做最小但有價值的 API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不要一開始做太大；先讓 Skill 可以被穩定產生與檢查。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2834640" cy="560070"/>
          </a:xfrm>
          <a:prstGeom prst="rect">
            <a:avLst/>
          </a:prstGeom>
          <a:solidFill>
            <a:srgbClr val="DBEAFE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MVP Endpoint</a:t>
            </a:r>
            <a:endParaRPr lang="en-US" sz="1110" dirty="0"/>
          </a:p>
        </p:txBody>
      </p:sp>
      <p:sp>
        <p:nvSpPr>
          <p:cNvPr id="8" name="Text 6"/>
          <p:cNvSpPr/>
          <p:nvPr/>
        </p:nvSpPr>
        <p:spPr>
          <a:xfrm>
            <a:off x="3749040" y="1874520"/>
            <a:ext cx="3611880" cy="560070"/>
          </a:xfrm>
          <a:prstGeom prst="rect">
            <a:avLst/>
          </a:prstGeom>
          <a:solidFill>
            <a:srgbClr val="DBEAFE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</a:t>
            </a:r>
            <a:endParaRPr lang="en-US" sz="1110" dirty="0"/>
          </a:p>
        </p:txBody>
      </p:sp>
      <p:sp>
        <p:nvSpPr>
          <p:cNvPr id="9" name="Text 7"/>
          <p:cNvSpPr/>
          <p:nvPr/>
        </p:nvSpPr>
        <p:spPr>
          <a:xfrm>
            <a:off x="7360920" y="1874520"/>
            <a:ext cx="3840480" cy="560070"/>
          </a:xfrm>
          <a:prstGeom prst="rect">
            <a:avLst/>
          </a:prstGeom>
          <a:solidFill>
            <a:srgbClr val="DBEAFE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1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為什麼先做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914400" y="2434590"/>
            <a:ext cx="2834640" cy="56007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POST /skills/create</a:t>
            </a:r>
            <a:endParaRPr lang="en-US" sz="1110" dirty="0"/>
          </a:p>
        </p:txBody>
      </p:sp>
      <p:sp>
        <p:nvSpPr>
          <p:cNvPr id="11" name="Text 9"/>
          <p:cNvSpPr/>
          <p:nvPr/>
        </p:nvSpPr>
        <p:spPr>
          <a:xfrm>
            <a:off x="3749040" y="2434590"/>
            <a:ext cx="3611880" cy="56007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由問答摘要產生 skill_json + skill.md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7360920" y="2434590"/>
            <a:ext cx="3840480" cy="56007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核心產出</a:t>
            </a:r>
            <a:endParaRPr lang="en-US" sz="1110" dirty="0"/>
          </a:p>
        </p:txBody>
      </p:sp>
      <p:sp>
        <p:nvSpPr>
          <p:cNvPr id="13" name="Text 11"/>
          <p:cNvSpPr/>
          <p:nvPr/>
        </p:nvSpPr>
        <p:spPr>
          <a:xfrm>
            <a:off x="914400" y="2994660"/>
            <a:ext cx="2834640" cy="56007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POST /skills/validate</a:t>
            </a:r>
            <a:endParaRPr lang="en-US" sz="1110" dirty="0"/>
          </a:p>
        </p:txBody>
      </p:sp>
      <p:sp>
        <p:nvSpPr>
          <p:cNvPr id="14" name="Text 12"/>
          <p:cNvSpPr/>
          <p:nvPr/>
        </p:nvSpPr>
        <p:spPr>
          <a:xfrm>
            <a:off x="3749040" y="2994660"/>
            <a:ext cx="3611880" cy="56007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檢查格式、可重用性、流程來源與風險</a:t>
            </a:r>
            <a:endParaRPr lang="en-US" sz="1110" dirty="0"/>
          </a:p>
        </p:txBody>
      </p:sp>
      <p:sp>
        <p:nvSpPr>
          <p:cNvPr id="15" name="Text 13"/>
          <p:cNvSpPr/>
          <p:nvPr/>
        </p:nvSpPr>
        <p:spPr>
          <a:xfrm>
            <a:off x="7360920" y="2994660"/>
            <a:ext cx="3840480" cy="56007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品質閘門</a:t>
            </a:r>
            <a:endParaRPr lang="en-US" sz="1110" dirty="0"/>
          </a:p>
        </p:txBody>
      </p:sp>
      <p:sp>
        <p:nvSpPr>
          <p:cNvPr id="16" name="Text 14"/>
          <p:cNvSpPr/>
          <p:nvPr/>
        </p:nvSpPr>
        <p:spPr>
          <a:xfrm>
            <a:off x="914400" y="3554730"/>
            <a:ext cx="2834640" cy="56007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GET /skills/{id}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3749040" y="3554730"/>
            <a:ext cx="3611880" cy="56007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讀取已產生 Skill</a:t>
            </a:r>
            <a:endParaRPr lang="en-US" sz="1110" dirty="0"/>
          </a:p>
        </p:txBody>
      </p:sp>
      <p:sp>
        <p:nvSpPr>
          <p:cNvPr id="18" name="Text 16"/>
          <p:cNvSpPr/>
          <p:nvPr/>
        </p:nvSpPr>
        <p:spPr>
          <a:xfrm>
            <a:off x="7360920" y="3554730"/>
            <a:ext cx="3840480" cy="56007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 Langflow / 網站可回查</a:t>
            </a:r>
            <a:endParaRPr lang="en-US" sz="1110" dirty="0"/>
          </a:p>
        </p:txBody>
      </p:sp>
      <p:sp>
        <p:nvSpPr>
          <p:cNvPr id="19" name="Text 17"/>
          <p:cNvSpPr/>
          <p:nvPr/>
        </p:nvSpPr>
        <p:spPr>
          <a:xfrm>
            <a:off x="914400" y="4828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後續再擴充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5230368"/>
            <a:ext cx="9875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/save：存進 Databricks Registry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/search：搜尋相似 Skill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/match：自動判斷是否套用 Skill</a:t>
            </a:r>
            <a:endParaRPr lang="en-US" sz="1250" dirty="0"/>
          </a:p>
          <a:p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/version：更新與版本控管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10｜API 內部是否要呼叫 Azure OpenAI？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兩種做法都可以，但正式系統更適合讓 API 負責 structured output。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288036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方案 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不呼叫 LLM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880360" cy="141732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Langflow Skill Creator Agent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產生 skill_json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只 validate / save / render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2880360" cy="530352"/>
          </a:xfrm>
          <a:prstGeom prst="rect">
            <a:avLst/>
          </a:prstGeom>
          <a:solidFill>
            <a:srgbClr val="EFF6FF"/>
          </a:solidFill>
          <a:ln w="1397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適合：極早期 Prototype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17720" y="1737360"/>
            <a:ext cx="288036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方案 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呼叫 Azure OpenAI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834640"/>
            <a:ext cx="2880360" cy="141732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Summary Agent → 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Azure Structured Output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validate / render / save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17720" y="4617720"/>
            <a:ext cx="2880360" cy="530352"/>
          </a:xfrm>
          <a:prstGeom prst="rect">
            <a:avLst/>
          </a:prstGeom>
          <a:solidFill>
            <a:srgbClr val="F5F3FF"/>
          </a:solidFill>
          <a:ln w="1397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適合：正式產品架構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58200" y="1965960"/>
            <a:ext cx="2697480" cy="1005840"/>
          </a:xfrm>
          <a:prstGeom prst="rect">
            <a:avLst/>
          </a:prstGeom>
          <a:solidFill>
            <a:srgbClr val="FFFFFF"/>
          </a:solidFill>
          <a:ln w="1397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我的建議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使用方案 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0" y="3703320"/>
            <a:ext cx="34290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原因：schema 穩定、可測試、可加入 validator、可被多系統重複呼叫。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11｜最推薦：Hybrid 架構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Langflow 做智能流程；API 做穩定工程服務。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2286000" cy="777240"/>
          </a:xfrm>
          <a:prstGeom prst="rect">
            <a:avLst/>
          </a:prstGeom>
          <a:solidFill>
            <a:srgbClr val="FFFFFF"/>
          </a:solidFill>
          <a:ln w="1397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Langflow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20116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Chat Input</a:t>
            </a:r>
            <a:endParaRPr lang="en-US" sz="1150" dirty="0"/>
          </a:p>
          <a:p>
            <a:r>
              <a:rPr lang="en-US" sz="11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with Databricks</a:t>
            </a:r>
            <a:endParaRPr lang="en-US" sz="1150" dirty="0"/>
          </a:p>
          <a:p>
            <a:r>
              <a:rPr lang="en-US" sz="11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Summary</a:t>
            </a:r>
            <a:endParaRPr lang="en-US" sz="1150" dirty="0"/>
          </a:p>
          <a:p>
            <a:r>
              <a:rPr lang="en-US" sz="11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User Confirmation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17720" y="1737360"/>
            <a:ext cx="2560320" cy="777240"/>
          </a:xfrm>
          <a:prstGeom prst="rect">
            <a:avLst/>
          </a:prstGeom>
          <a:solidFill>
            <a:srgbClr val="FFFFFF"/>
          </a:solidFill>
          <a:ln w="13970">
            <a:solidFill>
              <a:srgbClr val="C4B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Creator API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22402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Create Skill</a:t>
            </a:r>
            <a:endParaRPr lang="en-US" sz="1150" dirty="0"/>
          </a:p>
          <a:p>
            <a:r>
              <a:rPr lang="en-US" sz="11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Validate Skill</a:t>
            </a:r>
            <a:endParaRPr lang="en-US" sz="1150" dirty="0"/>
          </a:p>
          <a:p>
            <a:r>
              <a:rPr lang="en-US" sz="11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Render Markdown</a:t>
            </a:r>
            <a:endParaRPr lang="en-US" sz="1150" dirty="0"/>
          </a:p>
          <a:p>
            <a:r>
              <a:rPr lang="en-US" sz="11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Save / Version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03920" y="1737360"/>
            <a:ext cx="2651760" cy="777240"/>
          </a:xfrm>
          <a:prstGeom prst="rect">
            <a:avLst/>
          </a:prstGeom>
          <a:solidFill>
            <a:srgbClr val="FFFFFF"/>
          </a:solidFill>
          <a:ln w="13970">
            <a:solidFill>
              <a:srgbClr val="FDE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Registry / Router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41080" y="2743200"/>
            <a:ext cx="22402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List / Get</a:t>
            </a:r>
            <a:endParaRPr lang="en-US" sz="1150" dirty="0"/>
          </a:p>
          <a:p>
            <a:r>
              <a:rPr lang="en-US" sz="11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Search</a:t>
            </a:r>
            <a:endParaRPr lang="en-US" sz="1150" dirty="0"/>
          </a:p>
          <a:p>
            <a:r>
              <a:rPr lang="en-US" sz="11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Match</a:t>
            </a:r>
            <a:endParaRPr lang="en-US" sz="1150" dirty="0"/>
          </a:p>
          <a:p>
            <a:r>
              <a:rPr lang="en-US" sz="115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Future Reuse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2121408"/>
            <a:ext cx="1143000" cy="0"/>
          </a:xfrm>
          <a:prstGeom prst="line">
            <a:avLst/>
          </a:prstGeom>
          <a:noFill/>
          <a:ln w="2667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60920" y="2121408"/>
            <a:ext cx="960120" cy="0"/>
          </a:xfrm>
          <a:prstGeom prst="line">
            <a:avLst/>
          </a:prstGeom>
          <a:noFill/>
          <a:ln w="2667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234440" y="5513832"/>
            <a:ext cx="9692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清楚分層 = 更好維護、更好測試、更容易擴充。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12｜Databricks Skill Registry：建議資料表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Registry 是未來做 search、match、版本控管的基礎。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2880360" cy="492760"/>
          </a:xfrm>
          <a:prstGeom prst="rect">
            <a:avLst/>
          </a:prstGeom>
          <a:solidFill>
            <a:srgbClr val="DBEAFE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94760" y="1600200"/>
            <a:ext cx="7406640" cy="492760"/>
          </a:xfrm>
          <a:prstGeom prst="rect">
            <a:avLst/>
          </a:prstGeom>
          <a:solidFill>
            <a:srgbClr val="DBEAFE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092960"/>
            <a:ext cx="288036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skill_id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94760" y="2092960"/>
            <a:ext cx="740664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唯一識別碼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585720"/>
            <a:ext cx="288036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skill_name / domain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4760" y="2585720"/>
            <a:ext cx="740664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技能名稱與分類，例如 finance、data_query、report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078480"/>
            <a:ext cx="288036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skill_json / skill_markdown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94760" y="3078480"/>
            <a:ext cx="740664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機器版與人類可讀版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571240"/>
            <a:ext cx="288036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trigger / anti_trigger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4760" y="3571240"/>
            <a:ext cx="740664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Router 判斷邊界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064000"/>
            <a:ext cx="288036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version / status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94760" y="4064000"/>
            <a:ext cx="740664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draft、validated、deprecated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556760"/>
            <a:ext cx="288036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quality_score / warnings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94760" y="4556760"/>
            <a:ext cx="740664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Validator 結果與品質分數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049520"/>
            <a:ext cx="288036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source_conversation_id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94760" y="5049520"/>
            <a:ext cx="740664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可追溯來源問答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5542280"/>
            <a:ext cx="288036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created_at / updated_at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5542280"/>
            <a:ext cx="7406640" cy="49276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版本時間線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229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13｜開發路線圖：從 Prototype 到自動重用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分階段做，避免一開始把 Agentic Skill System 做得過重。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85216" y="1261872"/>
            <a:ext cx="18288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2057400" cy="502920"/>
          </a:xfrm>
          <a:prstGeom prst="rect">
            <a:avLst/>
          </a:prstGeom>
          <a:solidFill>
            <a:srgbClr val="2563EB"/>
          </a:solidFill>
          <a:ln w="13970">
            <a:solidFill>
              <a:srgbClr val="2563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057400" cy="141732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Langflow Agent 直接產生 Skill</a:t>
            </a:r>
            <a:endParaRPr lang="en-US" sz="1220" dirty="0"/>
          </a:p>
          <a:p>
            <a:pPr algn="ctr" indent="0" marL="0">
              <a:buNone/>
            </a:pP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驗證概念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862072" y="3291840"/>
            <a:ext cx="429768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474720" y="1920240"/>
            <a:ext cx="2057400" cy="502920"/>
          </a:xfrm>
          <a:prstGeom prst="rect">
            <a:avLst/>
          </a:prstGeom>
          <a:solidFill>
            <a:srgbClr val="14B8A6"/>
          </a:solidFill>
          <a:ln w="13970">
            <a:solidFill>
              <a:srgbClr val="14B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606040"/>
            <a:ext cx="2057400" cy="141732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改成 Call API</a:t>
            </a:r>
            <a:endParaRPr lang="en-US" sz="1220" dirty="0"/>
          </a:p>
          <a:p>
            <a:pPr algn="ctr" indent="0" marL="0">
              <a:buNone/>
            </a:pP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 schema 與 validation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559552" y="3291840"/>
            <a:ext cx="429768" cy="0"/>
          </a:xfrm>
          <a:prstGeom prst="line">
            <a:avLst/>
          </a:prstGeom>
          <a:noFill/>
          <a:ln w="22860">
            <a:solidFill>
              <a:srgbClr val="14B8A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172200" y="1920240"/>
            <a:ext cx="2057400" cy="502920"/>
          </a:xfrm>
          <a:prstGeom prst="rect">
            <a:avLst/>
          </a:prstGeom>
          <a:solidFill>
            <a:srgbClr val="7C3AED"/>
          </a:solidFill>
          <a:ln w="1397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2606040"/>
            <a:ext cx="2057400" cy="141732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Registry</a:t>
            </a:r>
            <a:endParaRPr lang="en-US" sz="1220" dirty="0"/>
          </a:p>
          <a:p>
            <a:pPr algn="ctr" indent="0" marL="0">
              <a:buNone/>
            </a:pP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可保存、查詢、版本化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257032" y="3291840"/>
            <a:ext cx="429768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869680" y="1920240"/>
            <a:ext cx="2057400" cy="502920"/>
          </a:xfrm>
          <a:prstGeom prst="rect">
            <a:avLst/>
          </a:prstGeom>
          <a:solidFill>
            <a:srgbClr val="F59E0B"/>
          </a:solidFill>
          <a:ln w="13970">
            <a:solidFill>
              <a:srgbClr val="F59E0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0" y="2606040"/>
            <a:ext cx="2057400" cy="1417320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Router / Match</a:t>
            </a:r>
            <a:endParaRPr lang="en-US" sz="1220" dirty="0"/>
          </a:p>
          <a:p>
            <a:pPr algn="ctr" indent="0" marL="0">
              <a:buNone/>
            </a:pP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讓新問題自動套用 Skill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960120" y="5257800"/>
            <a:ext cx="102412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先證明「能生成好 Skill」，再解決「如何長期管理與自動套用」。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40233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14｜最終建議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207008"/>
            <a:ext cx="2148840" cy="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74520"/>
            <a:ext cx="10332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正式架構使用 Call API；Langflow 只負責問答流程與 Summary。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14400" y="3246120"/>
            <a:ext cx="2468880" cy="1143000"/>
          </a:xfrm>
          <a:prstGeom prst="rect">
            <a:avLst/>
          </a:prstGeom>
          <a:solidFill>
            <a:srgbClr val="1E293B"/>
          </a:solidFill>
          <a:ln w="13970">
            <a:solidFill>
              <a:srgbClr val="60A5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Langflow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智能流程層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828032" y="3246120"/>
            <a:ext cx="2606040" cy="1143000"/>
          </a:xfrm>
          <a:prstGeom prst="rect">
            <a:avLst/>
          </a:prstGeom>
          <a:solidFill>
            <a:srgbClr val="1E293B"/>
          </a:solidFill>
          <a:ln w="13970">
            <a:solidFill>
              <a:srgbClr val="A78B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 Creator API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工程服務層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23960" y="3246120"/>
            <a:ext cx="2468880" cy="1143000"/>
          </a:xfrm>
          <a:prstGeom prst="rect">
            <a:avLst/>
          </a:prstGeom>
          <a:solidFill>
            <a:srgbClr val="1E293B"/>
          </a:solidFill>
          <a:ln w="13970">
            <a:solidFill>
              <a:srgbClr val="FACC1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Registry + Router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能力重用層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66160" y="3822192"/>
            <a:ext cx="1078992" cy="0"/>
          </a:xfrm>
          <a:prstGeom prst="line">
            <a:avLst/>
          </a:prstGeom>
          <a:noFill/>
          <a:ln w="27940">
            <a:solidFill>
              <a:srgbClr val="60A5F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35240" y="3822192"/>
            <a:ext cx="1005840" cy="0"/>
          </a:xfrm>
          <a:prstGeom prst="line">
            <a:avLst/>
          </a:prstGeom>
          <a:noFill/>
          <a:ln w="2794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05156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你的系統將從「一次性問答」升級成「可累積、可驗證、可重用的 Agentic Skill System」。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6437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Dynamic Skill Creator API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292840" y="6400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Skill Creator API：Langflow × Azure × Databricks</dc:title>
  <dc:subject>Dynamic Skill Creator API</dc:subject>
  <dc:creator>OpenAI</dc:creator>
  <cp:lastModifiedBy>OpenAI</cp:lastModifiedBy>
  <cp:revision>1</cp:revision>
  <dcterms:created xsi:type="dcterms:W3CDTF">2026-06-01T11:25:53Z</dcterms:created>
  <dcterms:modified xsi:type="dcterms:W3CDTF">2026-06-01T11:25:53Z</dcterms:modified>
</cp:coreProperties>
</file>