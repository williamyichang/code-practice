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DM Sans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7.jpe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25791" y="285750"/>
            <a:ext cx="7126185" cy="9715500"/>
            <a:chOff x="0" y="0"/>
            <a:chExt cx="1072489" cy="14621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2489" cy="1462180"/>
            </a:xfrm>
            <a:custGeom>
              <a:avLst/>
              <a:gdLst/>
              <a:ahLst/>
              <a:cxnLst/>
              <a:rect r="r" b="b" t="t" l="l"/>
              <a:pathLst>
                <a:path h="1462180" w="1072489">
                  <a:moveTo>
                    <a:pt x="32592" y="0"/>
                  </a:moveTo>
                  <a:lnTo>
                    <a:pt x="1039897" y="0"/>
                  </a:lnTo>
                  <a:cubicBezTo>
                    <a:pt x="1057897" y="0"/>
                    <a:pt x="1072489" y="14592"/>
                    <a:pt x="1072489" y="32592"/>
                  </a:cubicBezTo>
                  <a:lnTo>
                    <a:pt x="1072489" y="1429588"/>
                  </a:lnTo>
                  <a:cubicBezTo>
                    <a:pt x="1072489" y="1447588"/>
                    <a:pt x="1057897" y="1462180"/>
                    <a:pt x="1039897" y="1462180"/>
                  </a:cubicBezTo>
                  <a:lnTo>
                    <a:pt x="32592" y="1462180"/>
                  </a:lnTo>
                  <a:cubicBezTo>
                    <a:pt x="23948" y="1462180"/>
                    <a:pt x="15658" y="1458746"/>
                    <a:pt x="9546" y="1452634"/>
                  </a:cubicBezTo>
                  <a:cubicBezTo>
                    <a:pt x="3434" y="1446522"/>
                    <a:pt x="0" y="1438232"/>
                    <a:pt x="0" y="1429588"/>
                  </a:cubicBezTo>
                  <a:lnTo>
                    <a:pt x="0" y="32592"/>
                  </a:lnTo>
                  <a:cubicBezTo>
                    <a:pt x="0" y="14592"/>
                    <a:pt x="14592" y="0"/>
                    <a:pt x="3259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2" r="0" b="-15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3600423"/>
            <a:ext cx="10067925" cy="337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041"/>
              </a:lnSpc>
            </a:pPr>
            <a:r>
              <a:rPr lang="en-US" sz="13041" spc="-391">
                <a:solidFill>
                  <a:srgbClr val="61DAFB"/>
                </a:solidFill>
                <a:latin typeface="DM Sans"/>
                <a:ea typeface="DM Sans"/>
                <a:cs typeface="DM Sans"/>
                <a:sym typeface="DM Sans"/>
              </a:rPr>
              <a:t>Visual Orchestration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565823" y="7783108"/>
            <a:ext cx="2607127" cy="1012065"/>
            <a:chOff x="0" y="0"/>
            <a:chExt cx="3476169" cy="1349420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452517"/>
              <a:ext cx="2997536" cy="803206"/>
              <a:chOff x="0" y="0"/>
              <a:chExt cx="677333" cy="181495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677333" cy="181495"/>
              </a:xfrm>
              <a:custGeom>
                <a:avLst/>
                <a:gdLst/>
                <a:ahLst/>
                <a:cxnLst/>
                <a:rect r="r" b="b" t="t" l="l"/>
                <a:pathLst>
                  <a:path h="181495" w="677333">
                    <a:moveTo>
                      <a:pt x="90748" y="0"/>
                    </a:moveTo>
                    <a:lnTo>
                      <a:pt x="586586" y="0"/>
                    </a:lnTo>
                    <a:cubicBezTo>
                      <a:pt x="636704" y="0"/>
                      <a:pt x="677333" y="40629"/>
                      <a:pt x="677333" y="90748"/>
                    </a:cubicBezTo>
                    <a:lnTo>
                      <a:pt x="677333" y="90748"/>
                    </a:lnTo>
                    <a:cubicBezTo>
                      <a:pt x="677333" y="114815"/>
                      <a:pt x="667772" y="137897"/>
                      <a:pt x="650754" y="154916"/>
                    </a:cubicBezTo>
                    <a:cubicBezTo>
                      <a:pt x="633736" y="171934"/>
                      <a:pt x="610654" y="181495"/>
                      <a:pt x="586586" y="181495"/>
                    </a:cubicBezTo>
                    <a:lnTo>
                      <a:pt x="90748" y="181495"/>
                    </a:lnTo>
                    <a:cubicBezTo>
                      <a:pt x="66680" y="181495"/>
                      <a:pt x="43598" y="171934"/>
                      <a:pt x="26579" y="154916"/>
                    </a:cubicBezTo>
                    <a:cubicBezTo>
                      <a:pt x="9561" y="137897"/>
                      <a:pt x="0" y="114815"/>
                      <a:pt x="0" y="90748"/>
                    </a:cubicBezTo>
                    <a:lnTo>
                      <a:pt x="0" y="90748"/>
                    </a:lnTo>
                    <a:cubicBezTo>
                      <a:pt x="0" y="66680"/>
                      <a:pt x="9561" y="43598"/>
                      <a:pt x="26579" y="26579"/>
                    </a:cubicBezTo>
                    <a:cubicBezTo>
                      <a:pt x="43598" y="9561"/>
                      <a:pt x="66680" y="0"/>
                      <a:pt x="90748" y="0"/>
                    </a:cubicBezTo>
                    <a:close/>
                  </a:path>
                </a:pathLst>
              </a:custGeom>
              <a:solidFill>
                <a:srgbClr val="61DAF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0"/>
                <a:ext cx="677333" cy="181495"/>
              </a:xfrm>
              <a:prstGeom prst="rect">
                <a:avLst/>
              </a:prstGeom>
            </p:spPr>
            <p:txBody>
              <a:bodyPr anchor="ctr" rtlCol="false" tIns="44408" lIns="44408" bIns="44408" rIns="44408"/>
              <a:lstStyle/>
              <a:p>
                <a:pPr algn="ctr">
                  <a:lnSpc>
                    <a:spcPts val="287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-2700000">
              <a:off x="2906402" y="95255"/>
              <a:ext cx="468474" cy="480551"/>
            </a:xfrm>
            <a:custGeom>
              <a:avLst/>
              <a:gdLst/>
              <a:ahLst/>
              <a:cxnLst/>
              <a:rect r="r" b="b" t="t" l="l"/>
              <a:pathLst>
                <a:path h="480551" w="468474">
                  <a:moveTo>
                    <a:pt x="0" y="0"/>
                  </a:moveTo>
                  <a:lnTo>
                    <a:pt x="468473" y="0"/>
                  </a:lnTo>
                  <a:lnTo>
                    <a:pt x="468473" y="480551"/>
                  </a:lnTo>
                  <a:lnTo>
                    <a:pt x="0" y="4805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97602" y="358820"/>
              <a:ext cx="2602332" cy="990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[presenter's first name]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105025" y="9394750"/>
            <a:ext cx="68865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</a:pPr>
            <a:r>
              <a:rPr lang="en-US" sz="2653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February 5,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05025" y="476250"/>
            <a:ext cx="6886575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4"/>
              </a:lnSpc>
            </a:pPr>
            <a:r>
              <a:rPr lang="en-US" sz="2653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Langflow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21209"/>
            <a:ext cx="5828944" cy="2078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0"/>
              </a:lnSpc>
            </a:pPr>
            <a:r>
              <a:rPr lang="en-US" sz="7950" spc="-238">
                <a:solidFill>
                  <a:srgbClr val="61DAFB"/>
                </a:solidFill>
                <a:latin typeface="DM Sans"/>
                <a:ea typeface="DM Sans"/>
                <a:cs typeface="DM Sans"/>
                <a:sym typeface="DM Sans"/>
              </a:rPr>
              <a:t>Core Components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436392" cy="1537836"/>
            <a:chOff x="0" y="0"/>
            <a:chExt cx="4581856" cy="205044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6200"/>
              <a:ext cx="4581856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9FDFF6"/>
                  </a:solidFill>
                  <a:latin typeface="DM Sans"/>
                  <a:ea typeface="DM Sans"/>
                  <a:cs typeface="DM Sans"/>
                  <a:sym typeface="DM Sans"/>
                </a:rPr>
                <a:t>Nodes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228123"/>
              <a:ext cx="4581856" cy="82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Essential building blocks for LLM workflows.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436392" cy="1842122"/>
            <a:chOff x="0" y="0"/>
            <a:chExt cx="4581856" cy="245616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6200"/>
              <a:ext cx="4581856" cy="83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00"/>
                </a:lnSpc>
              </a:pPr>
              <a:r>
                <a:rPr lang="en-US" sz="4500" spc="-135">
                  <a:solidFill>
                    <a:srgbClr val="9FDFF6"/>
                  </a:solidFill>
                  <a:latin typeface="DM Sans"/>
                  <a:ea typeface="DM Sans"/>
                  <a:cs typeface="DM Sans"/>
                  <a:sym typeface="DM Sans"/>
                </a:rPr>
                <a:t>Edges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1227438"/>
              <a:ext cx="4581856" cy="1228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Represent the data and execution flow between nodes.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45" y="2120517"/>
            <a:ext cx="5524455" cy="7353420"/>
            <a:chOff x="0" y="0"/>
            <a:chExt cx="1548689" cy="2061409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689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689">
                  <a:moveTo>
                    <a:pt x="25225" y="0"/>
                  </a:moveTo>
                  <a:lnTo>
                    <a:pt x="1523464" y="0"/>
                  </a:lnTo>
                  <a:cubicBezTo>
                    <a:pt x="1537395" y="0"/>
                    <a:pt x="1548689" y="11294"/>
                    <a:pt x="1548689" y="25225"/>
                  </a:cubicBezTo>
                  <a:lnTo>
                    <a:pt x="1548689" y="2036184"/>
                  </a:lnTo>
                  <a:cubicBezTo>
                    <a:pt x="1548689" y="2050115"/>
                    <a:pt x="1537395" y="2061409"/>
                    <a:pt x="1523464" y="2061409"/>
                  </a:cubicBezTo>
                  <a:lnTo>
                    <a:pt x="25225" y="2061409"/>
                  </a:lnTo>
                  <a:cubicBezTo>
                    <a:pt x="11294" y="2061409"/>
                    <a:pt x="0" y="2050115"/>
                    <a:pt x="0" y="2036184"/>
                  </a:cubicBezTo>
                  <a:lnTo>
                    <a:pt x="0" y="25225"/>
                  </a:lnTo>
                  <a:cubicBezTo>
                    <a:pt x="0" y="11294"/>
                    <a:pt x="11294" y="0"/>
                    <a:pt x="25225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48689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84177" y="2120517"/>
            <a:ext cx="5522073" cy="7353420"/>
            <a:chOff x="0" y="0"/>
            <a:chExt cx="1548021" cy="2061409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021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021">
                  <a:moveTo>
                    <a:pt x="25236" y="0"/>
                  </a:moveTo>
                  <a:lnTo>
                    <a:pt x="1522785" y="0"/>
                  </a:lnTo>
                  <a:cubicBezTo>
                    <a:pt x="1529478" y="0"/>
                    <a:pt x="1535897" y="2659"/>
                    <a:pt x="1540630" y="7391"/>
                  </a:cubicBezTo>
                  <a:cubicBezTo>
                    <a:pt x="1545362" y="12124"/>
                    <a:pt x="1548021" y="18543"/>
                    <a:pt x="1548021" y="25236"/>
                  </a:cubicBezTo>
                  <a:lnTo>
                    <a:pt x="1548021" y="2036173"/>
                  </a:lnTo>
                  <a:cubicBezTo>
                    <a:pt x="1548021" y="2050110"/>
                    <a:pt x="1536723" y="2061409"/>
                    <a:pt x="1522785" y="2061409"/>
                  </a:cubicBezTo>
                  <a:lnTo>
                    <a:pt x="25236" y="2061409"/>
                  </a:lnTo>
                  <a:cubicBezTo>
                    <a:pt x="11299" y="2061409"/>
                    <a:pt x="0" y="2050110"/>
                    <a:pt x="0" y="2036173"/>
                  </a:cubicBezTo>
                  <a:lnTo>
                    <a:pt x="0" y="25236"/>
                  </a:lnTo>
                  <a:cubicBezTo>
                    <a:pt x="0" y="11299"/>
                    <a:pt x="11299" y="0"/>
                    <a:pt x="25236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48021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2120517"/>
            <a:ext cx="5524500" cy="7353420"/>
            <a:chOff x="0" y="0"/>
            <a:chExt cx="1548701" cy="2061409"/>
          </a:xfrm>
        </p:grpSpPr>
        <p:sp>
          <p:nvSpPr>
            <p:cNvPr name="Freeform 9" id="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701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701">
                  <a:moveTo>
                    <a:pt x="25225" y="0"/>
                  </a:moveTo>
                  <a:lnTo>
                    <a:pt x="1523477" y="0"/>
                  </a:lnTo>
                  <a:cubicBezTo>
                    <a:pt x="1537408" y="0"/>
                    <a:pt x="1548701" y="11294"/>
                    <a:pt x="1548701" y="25225"/>
                  </a:cubicBezTo>
                  <a:lnTo>
                    <a:pt x="1548701" y="2036184"/>
                  </a:lnTo>
                  <a:cubicBezTo>
                    <a:pt x="1548701" y="2050115"/>
                    <a:pt x="1537408" y="2061409"/>
                    <a:pt x="1523477" y="2061409"/>
                  </a:cubicBezTo>
                  <a:lnTo>
                    <a:pt x="25225" y="2061409"/>
                  </a:lnTo>
                  <a:cubicBezTo>
                    <a:pt x="11294" y="2061409"/>
                    <a:pt x="0" y="2050115"/>
                    <a:pt x="0" y="2036184"/>
                  </a:cubicBezTo>
                  <a:lnTo>
                    <a:pt x="0" y="25225"/>
                  </a:lnTo>
                  <a:cubicBezTo>
                    <a:pt x="0" y="11294"/>
                    <a:pt x="11294" y="0"/>
                    <a:pt x="25225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48701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6804" y="4737087"/>
            <a:ext cx="4958718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Accelerate Your Development Process with Visuals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3900" y="808956"/>
            <a:ext cx="5524527" cy="3775214"/>
            <a:chOff x="0" y="0"/>
            <a:chExt cx="1189426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2"/>
              <a:stretch>
                <a:fillRect l="-246" t="0" r="-246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3928" y="4254177"/>
            <a:ext cx="5522072" cy="329993"/>
            <a:chOff x="0" y="0"/>
            <a:chExt cx="1454373" cy="86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92045" y="808956"/>
            <a:ext cx="5524527" cy="3775214"/>
            <a:chOff x="0" y="0"/>
            <a:chExt cx="1189426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3"/>
              <a:stretch>
                <a:fillRect l="-246" t="0" r="-24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92073" y="4254177"/>
            <a:ext cx="5522072" cy="329993"/>
            <a:chOff x="0" y="0"/>
            <a:chExt cx="1454373" cy="869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56804" y="8803671"/>
            <a:ext cx="49587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Get Started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7750" y="8803671"/>
            <a:ext cx="49587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Join Us Today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381723" y="808956"/>
            <a:ext cx="5524527" cy="3775214"/>
            <a:chOff x="0" y="0"/>
            <a:chExt cx="1189426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4"/>
              <a:stretch>
                <a:fillRect l="-246" t="0" r="-246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81751" y="4254177"/>
            <a:ext cx="5522072" cy="329993"/>
            <a:chOff x="0" y="0"/>
            <a:chExt cx="1454373" cy="869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663428" y="8803671"/>
            <a:ext cx="49587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Discover More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3428" y="4660370"/>
            <a:ext cx="4958718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pc="-135" strike="noStrike" u="none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Simplify Complex Processes with Clear Visuals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77750" y="4660370"/>
            <a:ext cx="4958718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pc="-135" strike="noStrike" u="none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Foster Teamwork Through Visual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5581" y="578334"/>
            <a:ext cx="9621783" cy="4425067"/>
            <a:chOff x="0" y="0"/>
            <a:chExt cx="2534132" cy="1165450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65581" y="5290433"/>
            <a:ext cx="9621783" cy="4425067"/>
            <a:chOff x="0" y="0"/>
            <a:chExt cx="2534132" cy="1165450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2534132" cy="1165450"/>
            </a:xfrm>
            <a:custGeom>
              <a:avLst/>
              <a:gdLst/>
              <a:ahLst/>
              <a:cxnLst/>
              <a:rect r="r" b="b" t="t" l="l"/>
              <a:pathLst>
                <a:path h="1165450" w="2534132">
                  <a:moveTo>
                    <a:pt x="14483" y="0"/>
                  </a:moveTo>
                  <a:lnTo>
                    <a:pt x="2519649" y="0"/>
                  </a:lnTo>
                  <a:cubicBezTo>
                    <a:pt x="2523490" y="0"/>
                    <a:pt x="2527174" y="1526"/>
                    <a:pt x="2529890" y="4242"/>
                  </a:cubicBezTo>
                  <a:cubicBezTo>
                    <a:pt x="2532606" y="6958"/>
                    <a:pt x="2534132" y="10642"/>
                    <a:pt x="2534132" y="14483"/>
                  </a:cubicBezTo>
                  <a:lnTo>
                    <a:pt x="2534132" y="1150967"/>
                  </a:lnTo>
                  <a:cubicBezTo>
                    <a:pt x="2534132" y="1158965"/>
                    <a:pt x="2527648" y="1165450"/>
                    <a:pt x="2519649" y="1165450"/>
                  </a:cubicBezTo>
                  <a:lnTo>
                    <a:pt x="14483" y="1165450"/>
                  </a:lnTo>
                  <a:cubicBezTo>
                    <a:pt x="10642" y="1165450"/>
                    <a:pt x="6958" y="1163924"/>
                    <a:pt x="4242" y="1161208"/>
                  </a:cubicBezTo>
                  <a:cubicBezTo>
                    <a:pt x="1526" y="1158492"/>
                    <a:pt x="0" y="1154808"/>
                    <a:pt x="0" y="1150967"/>
                  </a:cubicBezTo>
                  <a:lnTo>
                    <a:pt x="0" y="14483"/>
                  </a:lnTo>
                  <a:cubicBezTo>
                    <a:pt x="0" y="10642"/>
                    <a:pt x="1526" y="6958"/>
                    <a:pt x="4242" y="4242"/>
                  </a:cubicBezTo>
                  <a:cubicBezTo>
                    <a:pt x="6958" y="1526"/>
                    <a:pt x="10642" y="0"/>
                    <a:pt x="14483" y="0"/>
                  </a:cubicBez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34132" cy="120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1028700"/>
            <a:ext cx="4924589" cy="3320734"/>
            <a:chOff x="0" y="0"/>
            <a:chExt cx="762948" cy="5144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2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72950" y="5778677"/>
            <a:ext cx="4924589" cy="3320734"/>
            <a:chOff x="0" y="0"/>
            <a:chExt cx="762948" cy="51446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948" cy="514469"/>
            </a:xfrm>
            <a:custGeom>
              <a:avLst/>
              <a:gdLst/>
              <a:ahLst/>
              <a:cxnLst/>
              <a:rect r="r" b="b" t="t" l="l"/>
              <a:pathLst>
                <a:path h="514469" w="762948">
                  <a:moveTo>
                    <a:pt x="25154" y="0"/>
                  </a:moveTo>
                  <a:lnTo>
                    <a:pt x="737794" y="0"/>
                  </a:lnTo>
                  <a:cubicBezTo>
                    <a:pt x="751686" y="0"/>
                    <a:pt x="762948" y="11262"/>
                    <a:pt x="762948" y="25154"/>
                  </a:cubicBezTo>
                  <a:lnTo>
                    <a:pt x="762948" y="489315"/>
                  </a:lnTo>
                  <a:cubicBezTo>
                    <a:pt x="762948" y="503207"/>
                    <a:pt x="751686" y="514469"/>
                    <a:pt x="737794" y="514469"/>
                  </a:cubicBezTo>
                  <a:lnTo>
                    <a:pt x="25154" y="514469"/>
                  </a:lnTo>
                  <a:cubicBezTo>
                    <a:pt x="11262" y="514469"/>
                    <a:pt x="0" y="503207"/>
                    <a:pt x="0" y="489315"/>
                  </a:cubicBezTo>
                  <a:lnTo>
                    <a:pt x="0" y="25154"/>
                  </a:lnTo>
                  <a:cubicBezTo>
                    <a:pt x="0" y="11262"/>
                    <a:pt x="11262" y="0"/>
                    <a:pt x="25154" y="0"/>
                  </a:cubicBezTo>
                  <a:close/>
                </a:path>
              </a:pathLst>
            </a:custGeom>
            <a:blipFill>
              <a:blip r:embed="rId3"/>
              <a:stretch>
                <a:fillRect l="-42" t="0" r="-42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90906" y="740259"/>
            <a:ext cx="5828944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sz="9000" spc="-270">
                <a:solidFill>
                  <a:srgbClr val="61DAFB"/>
                </a:solidFill>
                <a:latin typeface="DM Sans"/>
                <a:ea typeface="DM Sans"/>
                <a:cs typeface="DM Sans"/>
                <a:sym typeface="DM Sans"/>
              </a:rPr>
              <a:t>Common Use Cases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8431758" y="1028700"/>
            <a:ext cx="3436392" cy="2278881"/>
            <a:chOff x="0" y="0"/>
            <a:chExt cx="4581856" cy="3038508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66675"/>
              <a:ext cx="4581856" cy="1022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</a:pPr>
              <a:r>
                <a:rPr lang="en-US" sz="2925" spc="-87">
                  <a:solidFill>
                    <a:srgbClr val="9FDFF6"/>
                  </a:solidFill>
                  <a:latin typeface="DM Sans"/>
                  <a:ea typeface="DM Sans"/>
                  <a:cs typeface="DM Sans"/>
                  <a:sym typeface="DM Sans"/>
                </a:rPr>
                <a:t>Retrieval-Augmented Generation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403383"/>
              <a:ext cx="4581856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RAG enhances LLM capabilities by integrating retrieval mechanisms for rich responses.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31758" y="5778677"/>
            <a:ext cx="3436392" cy="1906892"/>
            <a:chOff x="0" y="0"/>
            <a:chExt cx="4581856" cy="2542523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66675"/>
              <a:ext cx="4581856" cy="5276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</a:pPr>
              <a:r>
                <a:rPr lang="en-US" sz="2925" spc="-87">
                  <a:solidFill>
                    <a:srgbClr val="9FDFF6"/>
                  </a:solidFill>
                  <a:latin typeface="DM Sans"/>
                  <a:ea typeface="DM Sans"/>
                  <a:cs typeface="DM Sans"/>
                  <a:sym typeface="DM Sans"/>
                </a:rPr>
                <a:t>Agent Workflows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907398"/>
              <a:ext cx="4581856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00"/>
                </a:lnSpc>
              </a:pPr>
              <a:r>
                <a:rPr lang="en-US" sz="2000" strike="noStrike" u="none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Agent workflows streamline interactions, allowing LLMs to efficiently manage tasks and responses.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E2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45" y="2120517"/>
            <a:ext cx="5524455" cy="7353420"/>
            <a:chOff x="0" y="0"/>
            <a:chExt cx="1548689" cy="2061409"/>
          </a:xfrm>
        </p:grpSpPr>
        <p:sp>
          <p:nvSpPr>
            <p:cNvPr name="Freeform 3" id="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689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689">
                  <a:moveTo>
                    <a:pt x="25225" y="0"/>
                  </a:moveTo>
                  <a:lnTo>
                    <a:pt x="1523464" y="0"/>
                  </a:lnTo>
                  <a:cubicBezTo>
                    <a:pt x="1537395" y="0"/>
                    <a:pt x="1548689" y="11294"/>
                    <a:pt x="1548689" y="25225"/>
                  </a:cubicBezTo>
                  <a:lnTo>
                    <a:pt x="1548689" y="2036184"/>
                  </a:lnTo>
                  <a:cubicBezTo>
                    <a:pt x="1548689" y="2050115"/>
                    <a:pt x="1537395" y="2061409"/>
                    <a:pt x="1523464" y="2061409"/>
                  </a:cubicBezTo>
                  <a:lnTo>
                    <a:pt x="25225" y="2061409"/>
                  </a:lnTo>
                  <a:cubicBezTo>
                    <a:pt x="11294" y="2061409"/>
                    <a:pt x="0" y="2050115"/>
                    <a:pt x="0" y="2036184"/>
                  </a:cubicBezTo>
                  <a:lnTo>
                    <a:pt x="0" y="25225"/>
                  </a:lnTo>
                  <a:cubicBezTo>
                    <a:pt x="0" y="11294"/>
                    <a:pt x="11294" y="0"/>
                    <a:pt x="25225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548689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384177" y="2120517"/>
            <a:ext cx="5522073" cy="7353420"/>
            <a:chOff x="0" y="0"/>
            <a:chExt cx="1548021" cy="2061409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021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021">
                  <a:moveTo>
                    <a:pt x="25236" y="0"/>
                  </a:moveTo>
                  <a:lnTo>
                    <a:pt x="1522785" y="0"/>
                  </a:lnTo>
                  <a:cubicBezTo>
                    <a:pt x="1529478" y="0"/>
                    <a:pt x="1535897" y="2659"/>
                    <a:pt x="1540630" y="7391"/>
                  </a:cubicBezTo>
                  <a:cubicBezTo>
                    <a:pt x="1545362" y="12124"/>
                    <a:pt x="1548021" y="18543"/>
                    <a:pt x="1548021" y="25236"/>
                  </a:cubicBezTo>
                  <a:lnTo>
                    <a:pt x="1548021" y="2036173"/>
                  </a:lnTo>
                  <a:cubicBezTo>
                    <a:pt x="1548021" y="2050110"/>
                    <a:pt x="1536723" y="2061409"/>
                    <a:pt x="1522785" y="2061409"/>
                  </a:cubicBezTo>
                  <a:lnTo>
                    <a:pt x="25236" y="2061409"/>
                  </a:lnTo>
                  <a:cubicBezTo>
                    <a:pt x="11299" y="2061409"/>
                    <a:pt x="0" y="2050110"/>
                    <a:pt x="0" y="2036173"/>
                  </a:cubicBezTo>
                  <a:lnTo>
                    <a:pt x="0" y="25236"/>
                  </a:lnTo>
                  <a:cubicBezTo>
                    <a:pt x="0" y="11299"/>
                    <a:pt x="11299" y="0"/>
                    <a:pt x="25236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1548021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71500" y="2120517"/>
            <a:ext cx="5524500" cy="7353420"/>
            <a:chOff x="0" y="0"/>
            <a:chExt cx="1548701" cy="2061409"/>
          </a:xfrm>
        </p:grpSpPr>
        <p:sp>
          <p:nvSpPr>
            <p:cNvPr name="Freeform 9" id="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48701" cy="2061409"/>
            </a:xfrm>
            <a:custGeom>
              <a:avLst/>
              <a:gdLst/>
              <a:ahLst/>
              <a:cxnLst/>
              <a:rect r="r" b="b" t="t" l="l"/>
              <a:pathLst>
                <a:path h="2061409" w="1548701">
                  <a:moveTo>
                    <a:pt x="25225" y="0"/>
                  </a:moveTo>
                  <a:lnTo>
                    <a:pt x="1523477" y="0"/>
                  </a:lnTo>
                  <a:cubicBezTo>
                    <a:pt x="1537408" y="0"/>
                    <a:pt x="1548701" y="11294"/>
                    <a:pt x="1548701" y="25225"/>
                  </a:cubicBezTo>
                  <a:lnTo>
                    <a:pt x="1548701" y="2036184"/>
                  </a:lnTo>
                  <a:cubicBezTo>
                    <a:pt x="1548701" y="2050115"/>
                    <a:pt x="1537408" y="2061409"/>
                    <a:pt x="1523477" y="2061409"/>
                  </a:cubicBezTo>
                  <a:lnTo>
                    <a:pt x="25225" y="2061409"/>
                  </a:lnTo>
                  <a:cubicBezTo>
                    <a:pt x="11294" y="2061409"/>
                    <a:pt x="0" y="2050115"/>
                    <a:pt x="0" y="2036184"/>
                  </a:cubicBezTo>
                  <a:lnTo>
                    <a:pt x="0" y="25225"/>
                  </a:lnTo>
                  <a:cubicBezTo>
                    <a:pt x="0" y="11294"/>
                    <a:pt x="11294" y="0"/>
                    <a:pt x="25225" y="0"/>
                  </a:cubicBezTo>
                  <a:close/>
                </a:path>
              </a:pathLst>
            </a:custGeom>
            <a:solidFill>
              <a:srgbClr val="19191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548701" cy="2061409"/>
            </a:xfrm>
            <a:prstGeom prst="rect">
              <a:avLst/>
            </a:prstGeom>
          </p:spPr>
          <p:txBody>
            <a:bodyPr anchor="ctr" rtlCol="false" tIns="33778" lIns="33778" bIns="33778" rIns="33778"/>
            <a:lstStyle/>
            <a:p>
              <a:pPr algn="ctr" marL="0" indent="0" lvl="0">
                <a:lnSpc>
                  <a:spcPts val="1605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56804" y="4737087"/>
            <a:ext cx="4958718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</a:pPr>
            <a:r>
              <a:rPr lang="en-US" sz="4500" spc="-135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Transforming visual designs into executable code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73900" y="808956"/>
            <a:ext cx="5524527" cy="3775214"/>
            <a:chOff x="0" y="0"/>
            <a:chExt cx="1189426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2"/>
              <a:stretch>
                <a:fillRect l="-246" t="0" r="-246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3928" y="4254177"/>
            <a:ext cx="5522072" cy="329993"/>
            <a:chOff x="0" y="0"/>
            <a:chExt cx="1454373" cy="8691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92045" y="808956"/>
            <a:ext cx="5524527" cy="3775214"/>
            <a:chOff x="0" y="0"/>
            <a:chExt cx="1189426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3"/>
              <a:stretch>
                <a:fillRect l="-246" t="0" r="-246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192073" y="4254177"/>
            <a:ext cx="5522072" cy="329993"/>
            <a:chOff x="0" y="0"/>
            <a:chExt cx="1454373" cy="869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56804" y="8803671"/>
            <a:ext cx="49587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Learn more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7750" y="8803671"/>
            <a:ext cx="49587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Get started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381723" y="808956"/>
            <a:ext cx="5524527" cy="3775214"/>
            <a:chOff x="0" y="0"/>
            <a:chExt cx="1189426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89426" cy="812800"/>
            </a:xfrm>
            <a:custGeom>
              <a:avLst/>
              <a:gdLst/>
              <a:ahLst/>
              <a:cxnLst/>
              <a:rect r="r" b="b" t="t" l="l"/>
              <a:pathLst>
                <a:path h="812800" w="1189426">
                  <a:moveTo>
                    <a:pt x="25225" y="0"/>
                  </a:moveTo>
                  <a:lnTo>
                    <a:pt x="1164201" y="0"/>
                  </a:lnTo>
                  <a:cubicBezTo>
                    <a:pt x="1170891" y="0"/>
                    <a:pt x="1177307" y="2658"/>
                    <a:pt x="1182037" y="7388"/>
                  </a:cubicBezTo>
                  <a:cubicBezTo>
                    <a:pt x="1186768" y="12119"/>
                    <a:pt x="1189426" y="18535"/>
                    <a:pt x="1189426" y="25225"/>
                  </a:cubicBezTo>
                  <a:lnTo>
                    <a:pt x="1189426" y="787575"/>
                  </a:lnTo>
                  <a:cubicBezTo>
                    <a:pt x="1189426" y="801507"/>
                    <a:pt x="1178132" y="812800"/>
                    <a:pt x="1164201" y="812800"/>
                  </a:cubicBezTo>
                  <a:lnTo>
                    <a:pt x="25225" y="812800"/>
                  </a:lnTo>
                  <a:cubicBezTo>
                    <a:pt x="11293" y="812800"/>
                    <a:pt x="0" y="801507"/>
                    <a:pt x="0" y="787575"/>
                  </a:cubicBezTo>
                  <a:lnTo>
                    <a:pt x="0" y="25225"/>
                  </a:lnTo>
                  <a:cubicBezTo>
                    <a:pt x="0" y="11293"/>
                    <a:pt x="11293" y="0"/>
                    <a:pt x="25225" y="0"/>
                  </a:cubicBezTo>
                  <a:close/>
                </a:path>
              </a:pathLst>
            </a:custGeom>
            <a:blipFill>
              <a:blip r:embed="rId4"/>
              <a:stretch>
                <a:fillRect l="-246" t="0" r="-246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381751" y="4254177"/>
            <a:ext cx="5522072" cy="329993"/>
            <a:chOff x="0" y="0"/>
            <a:chExt cx="1454373" cy="8691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54373" cy="86912"/>
            </a:xfrm>
            <a:custGeom>
              <a:avLst/>
              <a:gdLst/>
              <a:ahLst/>
              <a:cxnLst/>
              <a:rect r="r" b="b" t="t" l="l"/>
              <a:pathLst>
                <a:path h="86912" w="1454373">
                  <a:moveTo>
                    <a:pt x="0" y="0"/>
                  </a:moveTo>
                  <a:lnTo>
                    <a:pt x="1454373" y="0"/>
                  </a:lnTo>
                  <a:lnTo>
                    <a:pt x="1454373" y="86912"/>
                  </a:lnTo>
                  <a:lnTo>
                    <a:pt x="0" y="86912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454373" cy="125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6663428" y="8803671"/>
            <a:ext cx="495871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79"/>
              </a:lnSpc>
            </a:pPr>
            <a:r>
              <a:rPr lang="en-US" sz="189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Explore options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3428" y="4660370"/>
            <a:ext cx="4958718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pc="-135" strike="noStrike" u="none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Creating tailored integrations for your needs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77750" y="4660370"/>
            <a:ext cx="4958718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00"/>
              </a:lnSpc>
              <a:spcBef>
                <a:spcPct val="0"/>
              </a:spcBef>
            </a:pPr>
            <a:r>
              <a:rPr lang="en-US" sz="4500" spc="-135" strike="noStrike" u="none">
                <a:solidFill>
                  <a:srgbClr val="9FDFF6"/>
                </a:solidFill>
                <a:latin typeface="DM Sans"/>
                <a:ea typeface="DM Sans"/>
                <a:cs typeface="DM Sans"/>
                <a:sym typeface="DM Sans"/>
              </a:rPr>
              <a:t>Ensuring seamless transition to production stages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Visual Orchestration</dc:description>
  <dc:identifier>DAHAdQuLy5Y</dc:identifier>
  <dcterms:modified xsi:type="dcterms:W3CDTF">2011-08-01T06:04:30Z</dcterms:modified>
  <cp:revision>1</cp:revision>
  <dc:title>Presentation - Visual Orchestration</dc:title>
</cp:coreProperties>
</file>