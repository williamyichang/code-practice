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203816-F457-467F-BFAC-7B54DD897C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5B250B-6F55-4068-9E61-EAF08762B0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5655653-3B76-4C67-AE62-3B38ABA5B3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0C0CCB7-5816-4789-90DE-A24210EAEC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A902A1C-A417-410E-85AF-04B124D2FC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87B1A67-4AB4-4BA5-908C-F5B967B5DA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A748A0B-9A30-4BCF-91FE-4371CFA67B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EF7E316-71ED-4C40-BF8C-1A3A5349BC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5043021-D08E-448D-B943-5C1E4B6315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5E84099-FE0E-41F9-B1A6-FB2198C3B1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DAF12CF-AA9A-427A-AB5F-3B16643FF7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FA56F1-9C6B-4596-9ACE-39883719EF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53C3D4-758F-4A94-9752-0570074924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23D08E-0280-4436-902E-F16324A9E3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570E9B-A56B-448B-9E59-61FCF70A77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012AC0-7BC8-45A8-9CE7-01502B845E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51073F-4060-4E96-B0FA-853E9A8740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6359B2-CA55-4C93-B977-0B2119DF4B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413B76-4B1E-41D2-A880-DDB899477F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21241A-6BBF-4A49-80EB-9DFF850C82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A497F0-9808-4031-A71F-8E642E7A0B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3679C4-A185-4B2E-BF3F-BFB446D1E5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713160" y="530280"/>
            <a:ext cx="5851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Microsoft JhengHei"/>
              </a:rPr>
              <a:t>Agent Harness </a:t>
            </a:r>
            <a:r>
              <a:rPr b="1" lang="zh-CN" sz="2800" spc="-1" strike="noStrike">
                <a:solidFill>
                  <a:srgbClr val="ffffff"/>
                </a:solidFill>
                <a:latin typeface="Microsoft JhengHei"/>
              </a:rPr>
              <a:t>系統架構完全解析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731520" y="1298520"/>
            <a:ext cx="5988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600" spc="-1" strike="noStrike">
                <a:solidFill>
                  <a:srgbClr val="00d5e8"/>
                </a:solidFill>
                <a:latin typeface="Microsoft JhengHei"/>
              </a:rPr>
              <a:t>決定 </a:t>
            </a:r>
            <a:r>
              <a:rPr b="0" lang="en-US" sz="1600" spc="-1" strike="noStrike">
                <a:solidFill>
                  <a:srgbClr val="00d5e8"/>
                </a:solidFill>
                <a:latin typeface="Microsoft JhengHei"/>
              </a:rPr>
              <a:t>AI </a:t>
            </a:r>
            <a:r>
              <a:rPr b="0" lang="zh-CN" sz="1600" spc="-1" strike="noStrike">
                <a:solidFill>
                  <a:srgbClr val="00d5e8"/>
                </a:solidFill>
                <a:latin typeface="Microsoft JhengHei"/>
              </a:rPr>
              <a:t>智能體能否真正落地的底層基礎設施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713160" y="1828800"/>
            <a:ext cx="5211720" cy="932400"/>
          </a:xfrm>
          <a:prstGeom prst="roundRect">
            <a:avLst>
              <a:gd name="adj" fmla="val 16667"/>
            </a:avLst>
          </a:prstGeom>
          <a:solidFill>
            <a:srgbClr val="202f3c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914400" y="2039040"/>
            <a:ext cx="4800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400" spc="-1" strike="noStrike">
                <a:solidFill>
                  <a:srgbClr val="eaf2f7"/>
                </a:solidFill>
                <a:latin typeface="Microsoft JhengHei"/>
              </a:rPr>
              <a:t>從「模型會回答」到「系統能穩定交付」：</a:t>
            </a:r>
            <a:r>
              <a:rPr b="1" lang="en-US" sz="1400" spc="-1" strike="noStrike">
                <a:solidFill>
                  <a:srgbClr val="eaf2f7"/>
                </a:solidFill>
                <a:latin typeface="Microsoft JhengHei"/>
              </a:rPr>
              <a:t>Harness </a:t>
            </a:r>
            <a:r>
              <a:rPr b="1" lang="zh-CN" sz="1400" spc="-1" strike="noStrike">
                <a:solidFill>
                  <a:srgbClr val="eaf2f7"/>
                </a:solidFill>
                <a:latin typeface="Microsoft JhengHei"/>
              </a:rPr>
              <a:t>是 </a:t>
            </a:r>
            <a:r>
              <a:rPr b="1" lang="en-US" sz="1400" spc="-1" strike="noStrike">
                <a:solidFill>
                  <a:srgbClr val="eaf2f7"/>
                </a:solidFill>
                <a:latin typeface="Microsoft JhengHei"/>
              </a:rPr>
              <a:t>LLM </a:t>
            </a:r>
            <a:r>
              <a:rPr b="1" lang="zh-CN" sz="1400" spc="-1" strike="noStrike">
                <a:solidFill>
                  <a:srgbClr val="eaf2f7"/>
                </a:solidFill>
                <a:latin typeface="Microsoft JhengHei"/>
              </a:rPr>
              <a:t>之外的控制層。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841320" y="3063240"/>
            <a:ext cx="502884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核心概念：</a:t>
            </a:r>
            <a:r>
              <a:rPr b="0" lang="en-US" sz="1500" spc="-1" strike="noStrike">
                <a:solidFill>
                  <a:srgbClr val="eaf2f7"/>
                </a:solidFill>
                <a:latin typeface="Microsoft JhengHei"/>
              </a:rPr>
              <a:t>Agent = Model + Harness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eaf2f7"/>
                </a:solidFill>
                <a:latin typeface="Microsoft JhengHei"/>
              </a:rPr>
              <a:t>Harness </a:t>
            </a: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包含工具、記憶、驗證、權限、狀態與流程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工程師的角色從「寫提示詞」升級為「設計 </a:t>
            </a:r>
            <a:r>
              <a:rPr b="0" lang="en-US" sz="1500" spc="-1" strike="noStrike">
                <a:solidFill>
                  <a:srgbClr val="eaf2f7"/>
                </a:solidFill>
                <a:latin typeface="Microsoft JhengHei"/>
              </a:rPr>
              <a:t>AI </a:t>
            </a: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運作環境」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ounded Rectangle 12"/>
          <p:cNvSpPr/>
          <p:nvPr/>
        </p:nvSpPr>
        <p:spPr>
          <a:xfrm>
            <a:off x="6391800" y="631080"/>
            <a:ext cx="5184360" cy="294408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4"/>
          <p:cNvSpPr/>
          <p:nvPr/>
        </p:nvSpPr>
        <p:spPr>
          <a:xfrm>
            <a:off x="6446520" y="3584520"/>
            <a:ext cx="5074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1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ounded Rectangle 15"/>
          <p:cNvSpPr/>
          <p:nvPr/>
        </p:nvSpPr>
        <p:spPr>
          <a:xfrm>
            <a:off x="6446520" y="3886200"/>
            <a:ext cx="1508400" cy="9597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916b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6"/>
          <p:cNvSpPr/>
          <p:nvPr/>
        </p:nvSpPr>
        <p:spPr>
          <a:xfrm>
            <a:off x="6537960" y="4041720"/>
            <a:ext cx="1325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916bff"/>
                </a:solidFill>
                <a:latin typeface="Aptos"/>
              </a:rPr>
              <a:t>Model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17"/>
          <p:cNvSpPr/>
          <p:nvPr/>
        </p:nvSpPr>
        <p:spPr>
          <a:xfrm>
            <a:off x="6556320" y="4334400"/>
            <a:ext cx="12798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eaf2f7"/>
                </a:solidFill>
                <a:latin typeface="Microsoft JhengHei"/>
              </a:rPr>
              <a:t>LLM </a:t>
            </a:r>
            <a:r>
              <a:rPr b="0" lang="zh-CN" sz="950" spc="-1" strike="noStrike">
                <a:solidFill>
                  <a:srgbClr val="eaf2f7"/>
                </a:solidFill>
                <a:latin typeface="Microsoft JhengHei"/>
              </a:rPr>
              <a:t>核心能力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ounded Rectangle 18"/>
          <p:cNvSpPr/>
          <p:nvPr/>
        </p:nvSpPr>
        <p:spPr>
          <a:xfrm>
            <a:off x="8138160" y="3886200"/>
            <a:ext cx="1508400" cy="9597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9"/>
          <p:cNvSpPr/>
          <p:nvPr/>
        </p:nvSpPr>
        <p:spPr>
          <a:xfrm>
            <a:off x="8229600" y="4041720"/>
            <a:ext cx="1325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d5e8"/>
                </a:solidFill>
                <a:latin typeface="Aptos"/>
              </a:rPr>
              <a:t>Harness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8247960" y="4334400"/>
            <a:ext cx="1279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eaf2f7"/>
                </a:solidFill>
                <a:latin typeface="Microsoft JhengHei"/>
              </a:rPr>
              <a:t>工具・記憶・護欄・驗證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ounded Rectangle 21"/>
          <p:cNvSpPr/>
          <p:nvPr/>
        </p:nvSpPr>
        <p:spPr>
          <a:xfrm>
            <a:off x="9829800" y="3886200"/>
            <a:ext cx="1508400" cy="9597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5bda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2"/>
          <p:cNvSpPr/>
          <p:nvPr/>
        </p:nvSpPr>
        <p:spPr>
          <a:xfrm>
            <a:off x="9921240" y="4041720"/>
            <a:ext cx="1325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5bdaa0"/>
                </a:solidFill>
                <a:latin typeface="Aptos"/>
              </a:rPr>
              <a:t>Agent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23"/>
          <p:cNvSpPr/>
          <p:nvPr/>
        </p:nvSpPr>
        <p:spPr>
          <a:xfrm>
            <a:off x="9939600" y="4334400"/>
            <a:ext cx="12798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950" spc="-1" strike="noStrike">
                <a:solidFill>
                  <a:srgbClr val="eaf2f7"/>
                </a:solidFill>
                <a:latin typeface="Microsoft JhengHei"/>
              </a:rPr>
              <a:t>可交付任務系統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生產環境的殘酷真相：錯誤滾雪球效應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Demo </a:t>
            </a: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成功不等於 </a:t>
            </a: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Production </a:t>
            </a: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成功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2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長任務中，只要每一步有微小錯誤，累積後成功率會快速下滑。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17"/>
          <p:cNvSpPr/>
          <p:nvPr/>
        </p:nvSpPr>
        <p:spPr>
          <a:xfrm>
            <a:off x="914400" y="3310200"/>
            <a:ext cx="5074560" cy="11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Demo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常是短流程、低風險、低工具數量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Production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是長流程、多工具、多狀態、多例外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Harness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的目的：降低錯誤累積，讓任務可追蹤、可恢復、可驗證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典範轉移：</a:t>
            </a: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AI 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工程邊界的三次擴張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Prompt → Context → Harness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3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14"/>
          <p:cNvSpPr/>
          <p:nvPr/>
        </p:nvSpPr>
        <p:spPr>
          <a:xfrm>
            <a:off x="914400" y="1938600"/>
            <a:ext cx="50745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是 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Agent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與 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Model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之間的差值：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Harness = Agent - Model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914400" y="3310200"/>
            <a:ext cx="50745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Prompt Engineering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：優化指令與表達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Context Engineering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：優化資訊供給與檢索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Harness Engineering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：優化系統控制、狀態、工具、權限與驗證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重新發明諾伊曼架構：</a:t>
            </a: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LLM 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的作業系統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CPU / RAM / HDD / Drivers </a:t>
            </a: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對應 </a:t>
            </a: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Agent Harness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4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914400" y="1938600"/>
            <a:ext cx="50745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LLM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像 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CPU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，只負責核心推理；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像 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OS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，管理一切外部資源。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17"/>
          <p:cNvSpPr/>
          <p:nvPr/>
        </p:nvSpPr>
        <p:spPr>
          <a:xfrm>
            <a:off x="914400" y="3310200"/>
            <a:ext cx="50745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LLM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：核心運算與推理能力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上下文窗口：短期工作記憶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向量資料庫：長期記憶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Tools / APIs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：外部裝置與現實世界操作能力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生產級 </a:t>
            </a: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的四層十二模組藍圖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從記憶狀態到免疫美化，形成完整的可運作系統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5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成熟 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不是單一功能，而是多層系統組合。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Box 17"/>
          <p:cNvSpPr/>
          <p:nvPr/>
        </p:nvSpPr>
        <p:spPr>
          <a:xfrm>
            <a:off x="914400" y="3310200"/>
            <a:ext cx="50745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Layer 1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：記憶與狀態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- Memory / State / Checkpoint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Layer 2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：決策與控制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- Orchestration / Tools / Feedback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Layer 3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：互動介面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- Context / Sub-agent / Verification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Layer 4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：免疫與美化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- Guardrails / Error handling / Monitoring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編排循環與對抗「上下文腐爛」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Gather → Act → Verify </a:t>
            </a: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的持續循環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6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Agent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不該一次性做完所有事，而是透過循環逐步行動與校正。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Box 17"/>
          <p:cNvSpPr/>
          <p:nvPr/>
        </p:nvSpPr>
        <p:spPr>
          <a:xfrm>
            <a:off x="914400" y="3310200"/>
            <a:ext cx="5074560" cy="11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Orchestration Loop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：收集資訊、執行動作、驗證結果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Context Rot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：上下文越長，關鍵資訊越容易在中間遺失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解法：摘要壓縮、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Observation Masking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、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JIT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檢索、子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Agent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委派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結構化工具與三級記憶庫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工具 </a:t>
            </a: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Schema + Claude Code Memory Pyramid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7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工具不是越多越好，必須被清楚定義、約束與記錄。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Box 17"/>
          <p:cNvSpPr/>
          <p:nvPr/>
        </p:nvSpPr>
        <p:spPr>
          <a:xfrm>
            <a:off x="914400" y="3310200"/>
            <a:ext cx="50745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工具邊界：以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JSON Schema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定義名稱、描述、參數與回傳格式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短期記憶：當前任務進度與近期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Observation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中期記憶：專案文件與上下文摘要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長期記憶：知識庫、偏好與歷史案例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免疫系統：從脆弱到反脆弱的防禦矩陣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錯誤處理 </a:t>
            </a: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+ Guardrails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8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安全不是只靠模型自律，而是由 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控制權限與風險。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17"/>
          <p:cNvSpPr/>
          <p:nvPr/>
        </p:nvSpPr>
        <p:spPr>
          <a:xfrm>
            <a:off x="914400" y="3310200"/>
            <a:ext cx="5074560" cy="11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錯誤可重試：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API timeout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、參數錯誤、工具失敗可回饋修正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中斷可恢復：底層崩潰時靠檢查點續跑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三層護欄：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Input Guardrails / Output Guardrails / Tool Guardrails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09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Anthropic 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實踐：</a:t>
            </a: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F-Harness 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與角色解耦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Planner / Generator / Evaluator </a:t>
            </a: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分工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9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高品質輸出需要角色分工，而不是讓同一個模型又產出又自評。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17"/>
          <p:cNvSpPr/>
          <p:nvPr/>
        </p:nvSpPr>
        <p:spPr>
          <a:xfrm>
            <a:off x="914400" y="3310200"/>
            <a:ext cx="50745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Planner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：拆解任務、規劃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Feature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與步驟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Generator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：負責具體產出與實作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Evaluator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：第三方挑錯、驗證、回饋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分工可讓品質提升，降低自我檢查盲點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10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OpenAI 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實踐：代碼自治工廠與垃圾回收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Humans steer, Agents execute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10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人類負責掌舵與規範；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Agent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負責執行與循環修正。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17"/>
          <p:cNvSpPr/>
          <p:nvPr/>
        </p:nvSpPr>
        <p:spPr>
          <a:xfrm>
            <a:off x="914400" y="3310200"/>
            <a:ext cx="50745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Agent.md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從厚重文件演化為精簡索引與規範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垃圾回收循環：定期整理、摘要、壓縮與丟棄過期上下文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工程核心：建立穩定的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Harness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支撐，而非無限堆疊提示詞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11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教導 </a:t>
            </a: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LLM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：情緒向量與康泰學習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Textual Gradients</a:t>
            </a: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：文字梯度回饋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11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可以把失敗、偏差與情緒化回饋轉成可操作的改進訊號。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17"/>
          <p:cNvSpPr/>
          <p:nvPr/>
        </p:nvSpPr>
        <p:spPr>
          <a:xfrm>
            <a:off x="914400" y="3310200"/>
            <a:ext cx="50745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絕望向量：重複失敗會讓模型陷入無效行為模式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冷靜向量：穩定、具體、結構化的回饋更有利於修正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Textual Gradients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：用文字描述錯誤方向，讓模型下一輪更準確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12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框架對決：五大主流 </a:t>
            </a: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對比矩陣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Anthropic SDK / OpenAI SDK / LangGraph / CrewAI / AutoGen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12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不同框架適合不同任務型態，選擇重點是架構需求而非流行度。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17"/>
          <p:cNvSpPr/>
          <p:nvPr/>
        </p:nvSpPr>
        <p:spPr>
          <a:xfrm>
            <a:off x="914400" y="3310200"/>
            <a:ext cx="50745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Anthropic SDK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：偏向簡潔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loop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與工具使用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OpenAI SDK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：適合與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Python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工作流、工具呼叫整合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LangGraph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：適合狀態圖、節點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/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邊與長流程工程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CrewAI / AutoGen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：適合多角色協作與探索型任務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13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系統架構師的七大 </a:t>
            </a: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決策清單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從單兵、多腦到權限天平與厚度選擇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13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Box 14"/>
          <p:cNvSpPr/>
          <p:nvPr/>
        </p:nvSpPr>
        <p:spPr>
          <a:xfrm>
            <a:off x="914400" y="1938600"/>
            <a:ext cx="50745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設計的本質是取捨：複雜度、可靠性、成本與速度。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Box 17"/>
          <p:cNvSpPr/>
          <p:nvPr/>
        </p:nvSpPr>
        <p:spPr>
          <a:xfrm>
            <a:off x="914400" y="3310200"/>
            <a:ext cx="50745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單兵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vs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多腦：工具與任務複雜度決定是否拆分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React vs Plan-Execute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：速度與穩定性的取捨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上下文管理：保留關鍵資訊，排除雜訊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驗證循環與權限天平：自動化效率與安全邊界平衡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14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Box 7"/>
          <p:cNvSpPr/>
          <p:nvPr/>
        </p:nvSpPr>
        <p:spPr>
          <a:xfrm>
            <a:off x="713160" y="493920"/>
            <a:ext cx="6400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共同進化：模型越強，</a:t>
            </a:r>
            <a:r>
              <a:rPr b="1" lang="en-US" sz="220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2200" spc="-1" strike="noStrike">
                <a:solidFill>
                  <a:srgbClr val="ffffff"/>
                </a:solidFill>
                <a:latin typeface="Microsoft JhengHei"/>
              </a:rPr>
              <a:t>越薄？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Box 8"/>
          <p:cNvSpPr/>
          <p:nvPr/>
        </p:nvSpPr>
        <p:spPr>
          <a:xfrm>
            <a:off x="731520" y="978480"/>
            <a:ext cx="65833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d5e8"/>
                </a:solidFill>
                <a:latin typeface="Microsoft JhengHei"/>
              </a:rPr>
              <a:t>Scaffolding Metaphor </a:t>
            </a:r>
            <a:r>
              <a:rPr b="0" lang="zh-CN" sz="1250" spc="-1" strike="noStrike">
                <a:solidFill>
                  <a:srgbClr val="00d5e8"/>
                </a:solidFill>
                <a:latin typeface="Microsoft JhengHei"/>
              </a:rPr>
              <a:t>與演化趨勢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Rounded Rectangle 9"/>
          <p:cNvSpPr/>
          <p:nvPr/>
        </p:nvSpPr>
        <p:spPr>
          <a:xfrm>
            <a:off x="6666120" y="603360"/>
            <a:ext cx="4727160" cy="268812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TextBox 11"/>
          <p:cNvSpPr/>
          <p:nvPr/>
        </p:nvSpPr>
        <p:spPr>
          <a:xfrm>
            <a:off x="6720840" y="3300840"/>
            <a:ext cx="4617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14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Rounded Rectangle 12"/>
          <p:cNvSpPr/>
          <p:nvPr/>
        </p:nvSpPr>
        <p:spPr>
          <a:xfrm>
            <a:off x="713160" y="1536120"/>
            <a:ext cx="5577480" cy="914040"/>
          </a:xfrm>
          <a:prstGeom prst="roundRect">
            <a:avLst>
              <a:gd name="adj" fmla="val 16667"/>
            </a:avLst>
          </a:prstGeom>
          <a:solidFill>
            <a:srgbClr val="23333f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TextBox 13"/>
          <p:cNvSpPr/>
          <p:nvPr/>
        </p:nvSpPr>
        <p:spPr>
          <a:xfrm>
            <a:off x="914400" y="1673280"/>
            <a:ext cx="91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00d5e8"/>
                </a:solidFill>
                <a:latin typeface="Microsoft JhengHei"/>
              </a:rPr>
              <a:t>核心觀點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Box 14"/>
          <p:cNvSpPr/>
          <p:nvPr/>
        </p:nvSpPr>
        <p:spPr>
          <a:xfrm>
            <a:off x="914400" y="1938600"/>
            <a:ext cx="50745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模型能力提升後，</a:t>
            </a:r>
            <a:r>
              <a:rPr b="1" lang="en-US" sz="1350" spc="-1" strike="noStrike">
                <a:solidFill>
                  <a:srgbClr val="ffffff"/>
                </a:solidFill>
                <a:latin typeface="Microsoft JhengHei"/>
              </a:rPr>
              <a:t>Harness </a:t>
            </a:r>
            <a:r>
              <a:rPr b="1" lang="zh-CN" sz="1350" spc="-1" strike="noStrike">
                <a:solidFill>
                  <a:srgbClr val="ffffff"/>
                </a:solidFill>
                <a:latin typeface="Microsoft JhengHei"/>
              </a:rPr>
              <a:t>不會消失，而會從厚重支架轉為精準控制層。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Rounded Rectangle 15"/>
          <p:cNvSpPr/>
          <p:nvPr/>
        </p:nvSpPr>
        <p:spPr>
          <a:xfrm>
            <a:off x="713160" y="2743200"/>
            <a:ext cx="5577480" cy="2788560"/>
          </a:xfrm>
          <a:prstGeom prst="roundRect">
            <a:avLst>
              <a:gd name="adj" fmla="val 16667"/>
            </a:avLst>
          </a:prstGeom>
          <a:solidFill>
            <a:srgbClr val="202d38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TextBox 16"/>
          <p:cNvSpPr/>
          <p:nvPr/>
        </p:nvSpPr>
        <p:spPr>
          <a:xfrm>
            <a:off x="914400" y="2898720"/>
            <a:ext cx="2011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5b84b"/>
                </a:solidFill>
                <a:latin typeface="Microsoft JhengHei"/>
              </a:rPr>
              <a:t>可編輯文字重點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Box 17"/>
          <p:cNvSpPr/>
          <p:nvPr/>
        </p:nvSpPr>
        <p:spPr>
          <a:xfrm>
            <a:off x="914400" y="3310200"/>
            <a:ext cx="50745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早期：模型弱，需要厚 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Harness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補足能力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中期：模型強，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Harness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轉向風險控制與流程約束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未來：</a:t>
            </a:r>
            <a:r>
              <a:rPr b="0" lang="en-US" sz="1320" spc="-1" strike="noStrike">
                <a:solidFill>
                  <a:srgbClr val="eaf2f7"/>
                </a:solidFill>
                <a:latin typeface="Microsoft JhengHei"/>
              </a:rPr>
              <a:t>Harness </a:t>
            </a:r>
            <a:r>
              <a:rPr b="0" lang="zh-CN" sz="1320" spc="-1" strike="noStrike">
                <a:solidFill>
                  <a:srgbClr val="eaf2f7"/>
                </a:solidFill>
                <a:latin typeface="Microsoft JhengHei"/>
              </a:rPr>
              <a:t>更薄、更精準，但仍是生產落地的關鍵工程層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Rounded Rectangle 18"/>
          <p:cNvSpPr/>
          <p:nvPr/>
        </p:nvSpPr>
        <p:spPr>
          <a:xfrm>
            <a:off x="6720840" y="3675960"/>
            <a:ext cx="4617360" cy="1371240"/>
          </a:xfrm>
          <a:prstGeom prst="roundRect">
            <a:avLst>
              <a:gd name="adj" fmla="val 16667"/>
            </a:avLst>
          </a:prstGeom>
          <a:solidFill>
            <a:srgbClr val="1e2b36"/>
          </a:solidFill>
          <a:ln w="12700">
            <a:solidFill>
              <a:srgbClr val="4a63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TextBox 19"/>
          <p:cNvSpPr/>
          <p:nvPr/>
        </p:nvSpPr>
        <p:spPr>
          <a:xfrm>
            <a:off x="6931080" y="3858840"/>
            <a:ext cx="14626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150" spc="-1" strike="noStrike">
                <a:solidFill>
                  <a:srgbClr val="f5b84b"/>
                </a:solidFill>
                <a:latin typeface="Microsoft JhengHei"/>
              </a:rPr>
              <a:t>圖片保留方式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Box 20"/>
          <p:cNvSpPr/>
          <p:nvPr/>
        </p:nvSpPr>
        <p:spPr>
          <a:xfrm>
            <a:off x="6931080" y="4169520"/>
            <a:ext cx="41601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右側保留原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PDF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頁面圖像，左側重新建立為 </a:t>
            </a:r>
            <a:r>
              <a:rPr b="0" lang="en-US" sz="1120" spc="-1" strike="noStrike">
                <a:solidFill>
                  <a:srgbClr val="b3c4cf"/>
                </a:solidFill>
                <a:latin typeface="Microsoft JhengHei"/>
              </a:rPr>
              <a:t>PowerPoint </a:t>
            </a:r>
            <a:r>
              <a:rPr b="0" lang="zh-CN" sz="1120" spc="-1" strike="noStrike">
                <a:solidFill>
                  <a:srgbClr val="b3c4cf"/>
                </a:solidFill>
                <a:latin typeface="Microsoft JhengHei"/>
              </a:rPr>
              <a:t>可編輯文字，方便後續修改、翻譯與重排。</a:t>
            </a:r>
            <a:endParaRPr b="0" lang="en-US" sz="11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Rounded Rectangle 2"/>
          <p:cNvSpPr/>
          <p:nvPr/>
        </p:nvSpPr>
        <p:spPr>
          <a:xfrm>
            <a:off x="73080" y="73080"/>
            <a:ext cx="12042360" cy="6711480"/>
          </a:xfrm>
          <a:prstGeom prst="roundRect">
            <a:avLst>
              <a:gd name="adj" fmla="val 16667"/>
            </a:avLst>
          </a:prstGeom>
          <a:solidFill>
            <a:srgbClr val="141e27"/>
          </a:solidFill>
          <a:ln w="12700">
            <a:solidFill>
              <a:srgbClr val="2c3f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Rectangle 3"/>
          <p:cNvSpPr/>
          <p:nvPr/>
        </p:nvSpPr>
        <p:spPr>
          <a:xfrm>
            <a:off x="73080" y="73080"/>
            <a:ext cx="12042360" cy="45360"/>
          </a:xfrm>
          <a:prstGeom prst="rect">
            <a:avLst/>
          </a:prstGeom>
          <a:solidFill>
            <a:srgbClr val="00d5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Rounded Rectangle 4"/>
          <p:cNvSpPr/>
          <p:nvPr/>
        </p:nvSpPr>
        <p:spPr>
          <a:xfrm>
            <a:off x="228600" y="201240"/>
            <a:ext cx="529920" cy="328680"/>
          </a:xfrm>
          <a:prstGeom prst="roundRect">
            <a:avLst>
              <a:gd name="adj" fmla="val 16667"/>
            </a:avLst>
          </a:prstGeom>
          <a:solidFill>
            <a:srgbClr val="0e597a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TextBox 5"/>
          <p:cNvSpPr/>
          <p:nvPr/>
        </p:nvSpPr>
        <p:spPr>
          <a:xfrm>
            <a:off x="228600" y="223920"/>
            <a:ext cx="529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</a:rPr>
              <a:t>15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Box 6"/>
          <p:cNvSpPr/>
          <p:nvPr/>
        </p:nvSpPr>
        <p:spPr>
          <a:xfrm>
            <a:off x="502920" y="6565320"/>
            <a:ext cx="7314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Editable text version</a:t>
            </a:r>
            <a:r>
              <a:rPr b="0" lang="zh-CN" sz="800" spc="-1" strike="noStrike">
                <a:solidFill>
                  <a:srgbClr val="829aa6"/>
                </a:solidFill>
                <a:latin typeface="Aptos"/>
              </a:rPr>
              <a:t>｜</a:t>
            </a:r>
            <a:r>
              <a:rPr b="0" lang="en-US" sz="800" spc="-1" strike="noStrike">
                <a:solidFill>
                  <a:srgbClr val="829aa6"/>
                </a:solidFill>
                <a:latin typeface="Aptos"/>
              </a:rPr>
              <a:t>Images preserved from uploaded PDF report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Box 7"/>
          <p:cNvSpPr/>
          <p:nvPr/>
        </p:nvSpPr>
        <p:spPr>
          <a:xfrm>
            <a:off x="713160" y="530280"/>
            <a:ext cx="64004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500" spc="-1" strike="noStrike">
                <a:solidFill>
                  <a:srgbClr val="ffffff"/>
                </a:solidFill>
                <a:latin typeface="Microsoft JhengHei"/>
              </a:rPr>
              <a:t>迎戰 </a:t>
            </a:r>
            <a:r>
              <a:rPr b="1" lang="en-US" sz="2500" spc="-1" strike="noStrike">
                <a:solidFill>
                  <a:srgbClr val="ffffff"/>
                </a:solidFill>
                <a:latin typeface="Microsoft JhengHei"/>
              </a:rPr>
              <a:t>2026</a:t>
            </a:r>
            <a:r>
              <a:rPr b="1" lang="zh-CN" sz="2500" spc="-1" strike="noStrike">
                <a:solidFill>
                  <a:srgbClr val="ffffff"/>
                </a:solidFill>
                <a:latin typeface="Microsoft JhengHei"/>
              </a:rPr>
              <a:t>：基礎設施的博弈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Box 8"/>
          <p:cNvSpPr/>
          <p:nvPr/>
        </p:nvSpPr>
        <p:spPr>
          <a:xfrm>
            <a:off x="731520" y="1170360"/>
            <a:ext cx="6583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d5e8"/>
                </a:solidFill>
                <a:latin typeface="Microsoft JhengHei"/>
              </a:rPr>
              <a:t>Master the Harness, Steer the Intelligence.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Rounded Rectangle 9"/>
          <p:cNvSpPr/>
          <p:nvPr/>
        </p:nvSpPr>
        <p:spPr>
          <a:xfrm>
            <a:off x="6528960" y="658440"/>
            <a:ext cx="5001480" cy="2852640"/>
          </a:xfrm>
          <a:prstGeom prst="roundRect">
            <a:avLst>
              <a:gd name="adj" fmla="val 16667"/>
            </a:avLst>
          </a:prstGeom>
          <a:solidFill>
            <a:srgbClr val="101922"/>
          </a:solidFill>
          <a:ln w="12700">
            <a:solidFill>
              <a:srgbClr val="4e69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TextBox 11"/>
          <p:cNvSpPr/>
          <p:nvPr/>
        </p:nvSpPr>
        <p:spPr>
          <a:xfrm>
            <a:off x="6583680" y="3520440"/>
            <a:ext cx="4891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原報告第 </a:t>
            </a:r>
            <a:r>
              <a:rPr b="0" lang="en-US" sz="850" spc="-1" strike="noStrike">
                <a:solidFill>
                  <a:srgbClr val="b3c4cf"/>
                </a:solidFill>
                <a:latin typeface="Microsoft JhengHei"/>
              </a:rPr>
              <a:t>15 </a:t>
            </a:r>
            <a:r>
              <a:rPr b="0" lang="zh-CN" sz="850" spc="-1" strike="noStrike">
                <a:solidFill>
                  <a:srgbClr val="b3c4cf"/>
                </a:solidFill>
                <a:latin typeface="Microsoft JhengHei"/>
              </a:rPr>
              <a:t>頁視覺保留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Rounded Rectangle 12"/>
          <p:cNvSpPr/>
          <p:nvPr/>
        </p:nvSpPr>
        <p:spPr>
          <a:xfrm>
            <a:off x="713160" y="1874520"/>
            <a:ext cx="5440320" cy="959760"/>
          </a:xfrm>
          <a:prstGeom prst="roundRect">
            <a:avLst>
              <a:gd name="adj" fmla="val 16667"/>
            </a:avLst>
          </a:prstGeom>
          <a:solidFill>
            <a:srgbClr val="243442"/>
          </a:solidFill>
          <a:ln w="12700">
            <a:solidFill>
              <a:srgbClr val="f5b8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13"/>
          <p:cNvSpPr/>
          <p:nvPr/>
        </p:nvSpPr>
        <p:spPr>
          <a:xfrm>
            <a:off x="914400" y="2094120"/>
            <a:ext cx="50288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500" spc="-1" strike="noStrike">
                <a:solidFill>
                  <a:srgbClr val="ffffff"/>
                </a:solidFill>
                <a:latin typeface="Microsoft JhengHei"/>
              </a:rPr>
              <a:t>真正的競爭不是誰擁有最大模型，而是誰能把模型穩定放進可執行系統。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Box 14"/>
          <p:cNvSpPr/>
          <p:nvPr/>
        </p:nvSpPr>
        <p:spPr>
          <a:xfrm>
            <a:off x="914400" y="3154680"/>
            <a:ext cx="5257440" cy="10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下一波 </a:t>
            </a:r>
            <a:r>
              <a:rPr b="0" lang="en-US" sz="1500" spc="-1" strike="noStrike">
                <a:solidFill>
                  <a:srgbClr val="eaf2f7"/>
                </a:solidFill>
                <a:latin typeface="Microsoft JhengHei"/>
              </a:rPr>
              <a:t>AI </a:t>
            </a: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應用競爭在基礎設施與系統設計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工程師需要掌握工具、狀態、驗證、護欄與子 </a:t>
            </a:r>
            <a:r>
              <a:rPr b="0" lang="en-US" sz="1500" spc="-1" strike="noStrike">
                <a:solidFill>
                  <a:srgbClr val="eaf2f7"/>
                </a:solidFill>
                <a:latin typeface="Microsoft JhengHei"/>
              </a:rPr>
              <a:t>Agent </a:t>
            </a: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編排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799"/>
              </a:spcAft>
            </a:pP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結論：駕馭 </a:t>
            </a:r>
            <a:r>
              <a:rPr b="0" lang="en-US" sz="1500" spc="-1" strike="noStrike">
                <a:solidFill>
                  <a:srgbClr val="eaf2f7"/>
                </a:solidFill>
                <a:latin typeface="Microsoft JhengHei"/>
              </a:rPr>
              <a:t>Harness</a:t>
            </a: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，就是駕馭 </a:t>
            </a:r>
            <a:r>
              <a:rPr b="0" lang="en-US" sz="1500" spc="-1" strike="noStrike">
                <a:solidFill>
                  <a:srgbClr val="eaf2f7"/>
                </a:solidFill>
                <a:latin typeface="Microsoft JhengHei"/>
              </a:rPr>
              <a:t>AI </a:t>
            </a:r>
            <a:r>
              <a:rPr b="0" lang="zh-CN" sz="1500" spc="-1" strike="noStrike">
                <a:solidFill>
                  <a:srgbClr val="eaf2f7"/>
                </a:solidFill>
                <a:latin typeface="Microsoft JhengHei"/>
              </a:rPr>
              <a:t>生產力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ounded Rectangle 15"/>
          <p:cNvSpPr/>
          <p:nvPr/>
        </p:nvSpPr>
        <p:spPr>
          <a:xfrm>
            <a:off x="6583680" y="3977640"/>
            <a:ext cx="4891680" cy="1096920"/>
          </a:xfrm>
          <a:prstGeom prst="roundRect">
            <a:avLst>
              <a:gd name="adj" fmla="val 16667"/>
            </a:avLst>
          </a:prstGeom>
          <a:solidFill>
            <a:srgbClr val="122b35"/>
          </a:solidFill>
          <a:ln w="12700">
            <a:solidFill>
              <a:srgbClr val="00d5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TextBox 16"/>
          <p:cNvSpPr/>
          <p:nvPr/>
        </p:nvSpPr>
        <p:spPr>
          <a:xfrm>
            <a:off x="6812280" y="4169520"/>
            <a:ext cx="73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400" spc="-1" strike="noStrike">
                <a:solidFill>
                  <a:srgbClr val="00d5e8"/>
                </a:solidFill>
                <a:latin typeface="Microsoft JhengHei"/>
              </a:rPr>
              <a:t>結論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Box 17"/>
          <p:cNvSpPr/>
          <p:nvPr/>
        </p:nvSpPr>
        <p:spPr>
          <a:xfrm>
            <a:off x="7452360" y="4160520"/>
            <a:ext cx="3657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eaf2f7"/>
                </a:solidFill>
                <a:latin typeface="Microsoft JhengHei"/>
              </a:rPr>
              <a:t>Harness </a:t>
            </a:r>
            <a:r>
              <a:rPr b="1" lang="zh-CN" sz="1400" spc="-1" strike="noStrike">
                <a:solidFill>
                  <a:srgbClr val="eaf2f7"/>
                </a:solidFill>
                <a:latin typeface="Microsoft JhengHei"/>
              </a:rPr>
              <a:t>是模型落地的底層博弈：掌握架構，才能駕馭智能。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2026-05-10T12:08:52Z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