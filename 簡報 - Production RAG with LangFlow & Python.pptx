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ilda Display" charset="1" panose="02000000000000000000"/>
      <p:regular r:id="rId16"/>
    </p:embeddedFont>
    <p:embeddedFont>
      <p:font typeface="HK Grotesk Light" charset="1" panose="00000400000000000000"/>
      <p:regular r:id="rId17"/>
    </p:embeddedFont>
    <p:embeddedFont>
      <p:font typeface="HK Grotesk Bold" charset="1" panose="00000800000000000000"/>
      <p:regular r:id="rId18"/>
    </p:embeddedFont>
    <p:embeddedFont>
      <p:font typeface="HK Grotesk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734675" y="680185"/>
            <a:ext cx="6886575" cy="4229702"/>
            <a:chOff x="0" y="0"/>
            <a:chExt cx="9182100" cy="563960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492393"/>
              <a:ext cx="9182100" cy="3147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23"/>
                </a:lnSpc>
              </a:pPr>
              <a:r>
                <a:rPr lang="en-US" sz="6023">
                  <a:solidFill>
                    <a:srgbClr val="CFD8DC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Production RAG with LangFlow &amp; Python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71668"/>
              <a:ext cx="9182100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</a:pPr>
              <a:r>
                <a:rPr lang="en-US" sz="4200">
                  <a:solidFill>
                    <a:srgbClr val="CFD8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Production RAG Overview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CFD8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December 25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CFD8DC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Why RAG Matters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CFD8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RAG mitigates </a:t>
              </a:r>
              <a:r>
                <a:rPr lang="en-US" b="true" sz="3000">
                  <a:solidFill>
                    <a:srgbClr val="CFD8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hallucination risks</a:t>
              </a:r>
              <a:r>
                <a:rPr lang="en-US" sz="3000">
                  <a:solidFill>
                    <a:srgbClr val="CFD8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by ensuring control and traceability of AI outputs, while protecting private data through robust retrieval mechanisms, enhancing overall reliability and trustworthiness.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CFD8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the importance in production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4133849"/>
            <a:chOff x="0" y="0"/>
            <a:chExt cx="11099800" cy="55117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543299"/>
              <a:ext cx="110998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CFD8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RAG architecture integrates key components ensuring seamless interaction between users, data retrieval, and language model outputs.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CFD8DC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High-Level Architecture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4133849"/>
            <a:chOff x="0" y="0"/>
            <a:chExt cx="11099800" cy="55117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543299"/>
              <a:ext cx="110998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CFD8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LangFlow visual pipeline orchestrates RAG components, facilitating seamless integration and enhancing the data processing workflow.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CFD8DC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LangFlow Pipeline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514724"/>
            <a:chOff x="0" y="0"/>
            <a:chExt cx="11099800" cy="46862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057399"/>
              <a:ext cx="11099800" cy="2628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CFD8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backend leverages </a:t>
              </a:r>
              <a:r>
                <a:rPr lang="en-US" b="true" sz="3000">
                  <a:solidFill>
                    <a:srgbClr val="CFD8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FastAPI</a:t>
              </a:r>
              <a:r>
                <a:rPr lang="en-US" sz="3000">
                  <a:solidFill>
                    <a:srgbClr val="CFD8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for rapid deployment, handling embedding calls and retrieval logic seamlessly within the RAG architecture.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CFD8DC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Python Backend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CFD8DC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Data Ingestion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CFD8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Effective data ingestion involves utilizing PDF and web loaders, implementing a robust chunking strategy, and maintaining comprehensive metadata to ensure high-quality input for the RAG system.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CFD8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Preparing Data for Effective Processing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2445084"/>
            <a:ext cx="12639675" cy="5029233"/>
            <a:chOff x="0" y="0"/>
            <a:chExt cx="16852900" cy="67056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CFD8DC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Embeddings &amp; Vector DB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371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b="true" sz="3000">
                  <a:solidFill>
                    <a:srgbClr val="CFD8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Embeddings translate</a:t>
              </a:r>
              <a:r>
                <a:rPr lang="en-US" sz="3000">
                  <a:solidFill>
                    <a:srgbClr val="CFD8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data into a numerical format, enabling efficient semantic search within a Vector Database, which facilitates rapid filtering and retrieval of relevant information.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719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CFD8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semantic search and filtering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CFD8DC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Retriever &amp; Prompt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CFD8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retriever employs </a:t>
              </a:r>
              <a:r>
                <a:rPr lang="en-US" b="true" sz="3000">
                  <a:solidFill>
                    <a:srgbClr val="CFD8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Top-K retrieval</a:t>
              </a:r>
              <a:r>
                <a:rPr lang="en-US" sz="3000">
                  <a:solidFill>
                    <a:srgbClr val="CFD8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to select relevant documents, constructing a prompt template that includes guardrails to ensure safe and accurate LLM outputs.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CFD8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Building Context for Effective Responses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2445084"/>
            <a:ext cx="12639675" cy="5029233"/>
            <a:chOff x="0" y="0"/>
            <a:chExt cx="16852900" cy="67056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CFD8DC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Generation &amp; Evaluation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371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CFD8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Ensuring </a:t>
              </a:r>
              <a:r>
                <a:rPr lang="en-US" b="true" sz="3000">
                  <a:solidFill>
                    <a:srgbClr val="CFD8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answer accuracy</a:t>
              </a:r>
              <a:r>
                <a:rPr lang="en-US" sz="3000">
                  <a:solidFill>
                    <a:srgbClr val="CFD8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is crucial; we monitor metrics like cost and latency to optimize performance, guaranteeing a reliable and efficient system throughout production.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719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CFD8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production checks and metrics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-5468013" y="-6350191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6" y="0"/>
                </a:lnTo>
                <a:lnTo>
                  <a:pt x="10936026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7191375" cy="8953500"/>
            <a:chOff x="0" y="0"/>
            <a:chExt cx="1067508" cy="13290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7508" cy="1329083"/>
            </a:xfrm>
            <a:custGeom>
              <a:avLst/>
              <a:gdLst/>
              <a:ahLst/>
              <a:cxnLst/>
              <a:rect r="r" b="b" t="t" l="l"/>
              <a:pathLst>
                <a:path h="1329083" w="1067508">
                  <a:moveTo>
                    <a:pt x="43062" y="0"/>
                  </a:moveTo>
                  <a:lnTo>
                    <a:pt x="1024446" y="0"/>
                  </a:lnTo>
                  <a:cubicBezTo>
                    <a:pt x="1035867" y="0"/>
                    <a:pt x="1046820" y="4537"/>
                    <a:pt x="1054895" y="12613"/>
                  </a:cubicBezTo>
                  <a:cubicBezTo>
                    <a:pt x="1062971" y="20688"/>
                    <a:pt x="1067508" y="31641"/>
                    <a:pt x="1067508" y="43062"/>
                  </a:cubicBezTo>
                  <a:lnTo>
                    <a:pt x="1067508" y="1286021"/>
                  </a:lnTo>
                  <a:cubicBezTo>
                    <a:pt x="1067508" y="1309803"/>
                    <a:pt x="1048228" y="1329083"/>
                    <a:pt x="1024446" y="1329083"/>
                  </a:cubicBezTo>
                  <a:lnTo>
                    <a:pt x="43062" y="1329083"/>
                  </a:lnTo>
                  <a:cubicBezTo>
                    <a:pt x="19280" y="1329083"/>
                    <a:pt x="0" y="1309803"/>
                    <a:pt x="0" y="1286021"/>
                  </a:cubicBezTo>
                  <a:lnTo>
                    <a:pt x="0" y="43062"/>
                  </a:lnTo>
                  <a:cubicBezTo>
                    <a:pt x="0" y="19280"/>
                    <a:pt x="19280" y="0"/>
                    <a:pt x="4306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296400" y="3886200"/>
            <a:ext cx="6886575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CFD8DC"/>
                </a:solidFill>
                <a:latin typeface="HK Grotesk"/>
                <a:ea typeface="HK Grotesk"/>
                <a:cs typeface="HK Grotesk"/>
                <a:sym typeface="HK Grotesk"/>
              </a:rPr>
              <a:t>The </a:t>
            </a:r>
            <a:r>
              <a:rPr lang="en-US" b="true" sz="3000">
                <a:solidFill>
                  <a:srgbClr val="CFD8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final system</a:t>
            </a:r>
            <a:r>
              <a:rPr lang="en-US" sz="3000">
                <a:solidFill>
                  <a:srgbClr val="CFD8DC"/>
                </a:solidFill>
                <a:latin typeface="HK Grotesk"/>
                <a:ea typeface="HK Grotesk"/>
                <a:cs typeface="HK Grotesk"/>
                <a:sym typeface="HK Grotesk"/>
              </a:rPr>
              <a:t> integrates RAG with LangFlow and Python for scalable AI solutions, enabling seamless expansion and continuous improvements to meet evolving production demands.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簡報 - Production RAG with LangFlow &amp; Python</dc:description>
  <dc:identifier>DAG8f1_lS-o</dc:identifier>
  <dcterms:modified xsi:type="dcterms:W3CDTF">2011-08-01T06:04:30Z</dcterms:modified>
  <cp:revision>1</cp:revision>
  <dc:title>簡報 - Production RAG with LangFlow &amp; Python</dc:title>
</cp:coreProperties>
</file>