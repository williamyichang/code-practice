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58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FMA 助理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9F"/>
                </a:solidFill>
              </a:rPr>
              <a:t>客訴片異常解析 × 歷史經驗查詢 × 分析方向推薦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13232" y="1764792"/>
            <a:ext cx="72237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以 AI 重新設計「接收客訴片資訊 → 接收實體客訴片 → 盤點 → 分析 → 上傳解析報告 → 退庫」流程，讓工程師更快取得歷史統計、相似案例與建議分析路徑。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1691640" cy="310896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9F"/>
                </a:solidFill>
              </a:rPr>
              <a:t>Workflow Pain Point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2816352"/>
            <a:ext cx="1298448" cy="310896"/>
          </a:xfrm>
          <a:prstGeom prst="rect">
            <a:avLst/>
          </a:prstGeom>
          <a:solidFill>
            <a:srgbClr val="DDF4ED"/>
          </a:solidFill>
          <a:ln>
            <a:solidFill>
              <a:srgbClr val="DDF4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9E76"/>
                </a:solidFill>
              </a:rPr>
              <a:t>AI Canvas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05072" y="2816352"/>
            <a:ext cx="1609344" cy="310896"/>
          </a:xfrm>
          <a:prstGeom prst="rect">
            <a:avLst/>
          </a:prstGeom>
          <a:solidFill>
            <a:srgbClr val="FFF3D0"/>
          </a:solidFill>
          <a:ln>
            <a:solidFill>
              <a:srgbClr val="FFF3D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6200"/>
                </a:solidFill>
              </a:rPr>
              <a:t>Benefit Evaluation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0" y="2816352"/>
            <a:ext cx="1719072" cy="310896"/>
          </a:xfrm>
          <a:prstGeom prst="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BA6"/>
                </a:solidFill>
              </a:rPr>
              <a:t>AI+ To-Be Design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785616"/>
            <a:ext cx="1389888" cy="658368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接收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客訴片資訊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203704" y="4114800"/>
            <a:ext cx="7315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340864" y="3785616"/>
            <a:ext cx="1389888" cy="658368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接收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實體客訴片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794760" y="4114800"/>
            <a:ext cx="7315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31920" y="3785616"/>
            <a:ext cx="1389888" cy="658368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盤點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客訴片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385816" y="4114800"/>
            <a:ext cx="7315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522976" y="3785616"/>
            <a:ext cx="1389888" cy="658368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分析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客訴片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976872" y="4114800"/>
            <a:ext cx="7315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14032" y="3785616"/>
            <a:ext cx="1389888" cy="658368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上傳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解析報告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567928" y="4114800"/>
            <a:ext cx="7315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705088" y="3785616"/>
            <a:ext cx="1389888" cy="658368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3A5F"/>
                </a:solidFill>
              </a:rPr>
              <a:t>退庫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49808" y="4892040"/>
            <a:ext cx="7635240" cy="502920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目標：用 FMA 助理取代重複查詢、縮短資料尋找時間、沉澱分析經驗，並維持工程判斷與追溯性。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10168128" y="868680"/>
            <a:ext cx="1325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FMA 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77856" y="1600200"/>
            <a:ext cx="1097280" cy="2240280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</a:rPr>
              <a:t>檢索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</a:rPr>
              <a:t>統計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</a:rPr>
              <a:t>比對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</a:rPr>
              <a:t>建議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</a:rPr>
              <a:t>報告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113264" y="4160520"/>
            <a:ext cx="14630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Human-in-the-loop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工程師確認後輸出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1–3 / 找出痛點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PCF｜目前工作流的瓶頸定位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06070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PCF 定義：Process（流程斷點）／Constraint（資料與制度限制）／Feedback（知識回饋與沉澱）。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接收資訊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1911096"/>
            <a:ext cx="128016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240280" y="1645920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接收實體片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38728" y="1911096"/>
            <a:ext cx="128016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30752" y="1645920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盤點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911096"/>
            <a:ext cx="128016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21224" y="1645920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分析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9672" y="1911096"/>
            <a:ext cx="128016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711696" y="1645920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上傳報告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10144" y="1911096"/>
            <a:ext cx="128016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202168" y="1645920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退庫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743200"/>
            <a:ext cx="3246120" cy="384048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</a:rPr>
              <a:t>P｜Process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" y="3273552"/>
            <a:ext cx="318211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客訴資訊、實體片與盤點紀錄需人工串接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查詢歷史資料常跨系統、跨檔案、跨人員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分析前置時間高於實際判讀時間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407408" y="2743200"/>
            <a:ext cx="3246120" cy="384048"/>
          </a:xfrm>
          <a:prstGeom prst="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A6"/>
                </a:solidFill>
              </a:rPr>
              <a:t>C｜Constraint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53128" y="3273552"/>
            <a:ext cx="318211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片號、Lot、Module / Panel ID 命名不一致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Defect code 與客戶描述未標準化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報告格式與資料欄位不易二次分析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065008" y="2743200"/>
            <a:ext cx="3246120" cy="384048"/>
          </a:xfrm>
          <a:prstGeom prst="rect">
            <a:avLst/>
          </a:prstGeom>
          <a:solidFill>
            <a:srgbClr val="DDF4ED"/>
          </a:solidFill>
          <a:ln>
            <a:solidFill>
              <a:srgbClr val="DDF4ED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9E76"/>
                </a:solidFill>
              </a:rPr>
              <a:t>F｜Feedback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10728" y="3273552"/>
            <a:ext cx="318211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相似案例與處置經驗分散在舊報告與個人記憶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統計趨勢難即時回饋給分析方向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退庫後知識未自動回灌流程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49808" y="5321808"/>
            <a:ext cx="10241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核心痛點：不是單一步驟效率低，而是「資料不可即時搜尋、經驗不可結構化複用、分析方向不可快速收斂」。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1–3 / 找出痛點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痛點總結｜FMA 助理應優先處理的三類摩擦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2461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9F"/>
                </a:solidFill>
              </a:rPr>
              <a:t>資料查找摩擦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2F6F9F"/>
                </a:solidFill>
              </a:rPr>
              <a:t>高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2F6F9F"/>
                </a:solidFill>
              </a:rPr>
              <a:t>歷史報告、客訴資訊、檢測紀錄分散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32461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5B4BA6"/>
                </a:solidFill>
              </a:rPr>
              <a:t>分析方向摩擦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5B4BA6"/>
                </a:solidFill>
              </a:rPr>
              <a:t>中高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5B4BA6"/>
                </a:solidFill>
              </a:rPr>
              <a:t>需靠工程師經驗判斷先看哪裡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8183880" y="1234440"/>
            <a:ext cx="32461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9E76"/>
                </a:solidFill>
              </a:rPr>
              <a:t>知識回饋摩擦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2F9E76"/>
                </a:solidFill>
              </a:rPr>
              <a:t>高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2F9E76"/>
                </a:solidFill>
              </a:rPr>
              <a:t>每次分析後未自動沉澱成可檢索資產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</a:rPr>
              <a:t>痛點如何映射到 FMA 助理功能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2F6F9F"/>
                </a:solidFill>
              </a:rPr>
              <a:t>痛點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4389120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2F6F9F"/>
                </a:solidFill>
              </a:rPr>
              <a:t>FMA 助理介入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7818120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2F6F9F"/>
                </a:solidFill>
              </a:rPr>
              <a:t>預期改善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914400" y="3630168"/>
            <a:ext cx="102412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03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人工翻找歷史報告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4389120" y="3703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語意搜尋 + 條件式統計查詢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7818120" y="3703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縮短查詢時間，提升回覆速度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14400" y="4014216"/>
            <a:ext cx="102412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873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客戶描述與內部 defect code 不一致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389120" y="40873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缺陷 taxonomy 對齊 + 關鍵字標準化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7818120" y="40873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提升資料可比性與後續分析品質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14400" y="4398264"/>
            <a:ext cx="102412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71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工程師經驗無法被新手快速取得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4389120" y="4471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相似案例推薦 + 分析路徑提示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7818120" y="4471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降低依賴個人記憶，提升一致性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14400" y="4782312"/>
            <a:ext cx="102412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855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報告上傳後不易被再利用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4389120" y="4855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自動抽取欄位 + 知識回灌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7818120" y="4855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讓每份報告成為下一次分析資料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777240" y="5687568"/>
            <a:ext cx="10149840" cy="384048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設計原則：FMA 助理不取代最終工程判斷，而是先把資料找齊、把相似案例找出、把可能分析方向排序。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4–6 / 定義規格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Canvas｜Input：FMA 助理需要吃進什麼資料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325880"/>
            <a:ext cx="5010912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客訴片資訊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764792"/>
            <a:ext cx="501091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Customer / Case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客戶異常描述、照片、發生條件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產品型號、尺寸、出貨日期、批號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36792" y="1325880"/>
            <a:ext cx="5010912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9E76"/>
                </a:solidFill>
              </a:rPr>
              <a:t>實體片盤點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764792"/>
            <a:ext cx="501091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Panel / Glass / Module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收件、庫位、盤點狀態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退庫紀錄與責任單位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3383280"/>
            <a:ext cx="5010912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檢測與製程資料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822192"/>
            <a:ext cx="501091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AOI / AVI / EL / E-test 結果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Array / Cell / Module genealogy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Defect map、影像、關鍵量測值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36792" y="3383280"/>
            <a:ext cx="5010912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9E76"/>
                </a:solidFill>
              </a:rPr>
              <a:t>歷史經驗庫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3822192"/>
            <a:ext cx="501091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歷史解析報告與結論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相似客訴、FA 分析紀錄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處置方式、root cause、改善方案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資料鍵值設計重點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07792" y="5449824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F2937"/>
                </a:solidFill>
              </a:rPr>
              <a:t>用 Case ID、Panel ID、Lot ID、Defect Code、Process Stage 作為跨系統關聯主鍵；無法完全對齊時，保留可信度分數與人工確認欄位。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4–6 / 定義規格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Canvas｜Process：從資料對齊到分析方向推薦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6968" y="1408176"/>
            <a:ext cx="384048" cy="256032"/>
          </a:xfrm>
          <a:prstGeom prst="rect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23317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資料對齊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914400" y="186537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Case / Panel / Lot / Defect code 關聯，建立單一案件視圖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590288" y="1408176"/>
            <a:ext cx="384048" cy="256032"/>
          </a:xfrm>
          <a:prstGeom prst="rect">
            <a:avLst/>
          </a:prstGeom>
          <a:solidFill>
            <a:srgbClr val="2F9E76"/>
          </a:solidFill>
          <a:ln>
            <a:solidFill>
              <a:srgbClr val="2F9E7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417320"/>
            <a:ext cx="23317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缺陷標準化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4617720" y="186537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客戶描述對齊內部 taxonomy：Mura、Line、亮暗點、偏色、Bonding 等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293608" y="1408176"/>
            <a:ext cx="384048" cy="256032"/>
          </a:xfrm>
          <a:prstGeom prst="rect">
            <a:avLst/>
          </a:prstGeom>
          <a:solidFill>
            <a:srgbClr val="5B4BA6"/>
          </a:solidFill>
          <a:ln>
            <a:solidFill>
              <a:srgbClr val="5B4BA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1417320"/>
            <a:ext cx="23317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相似案例檢索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321040" y="186537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依產品、缺陷、製程段、影像特徵與報告語意召回案例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86968" y="3401568"/>
            <a:ext cx="384048" cy="256032"/>
          </a:xfrm>
          <a:prstGeom prst="rect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410712"/>
            <a:ext cx="23317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統計與趨勢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914400" y="38587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查詢歷史發生率、批次集中度、機種/製程段分布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90288" y="3401568"/>
            <a:ext cx="384048" cy="256032"/>
          </a:xfrm>
          <a:prstGeom prst="rect">
            <a:avLst/>
          </a:prstGeom>
          <a:solidFill>
            <a:srgbClr val="2F9E76"/>
          </a:solidFill>
          <a:ln>
            <a:solidFill>
              <a:srgbClr val="2F9E7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410712"/>
            <a:ext cx="23317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分析方向排序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4617720" y="38587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輸出可能 root cause、建議檢查項、需要補資料清單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8293608" y="3401568"/>
            <a:ext cx="384048" cy="256032"/>
          </a:xfrm>
          <a:prstGeom prst="rect">
            <a:avLst/>
          </a:prstGeom>
          <a:solidFill>
            <a:srgbClr val="5B4BA6"/>
          </a:solidFill>
          <a:ln>
            <a:solidFill>
              <a:srgbClr val="5B4BA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3410712"/>
            <a:ext cx="23317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報告草稿生成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8321040" y="38587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產出結構化摘要、證據鏈、風險提示與待人工確認欄位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10241280" cy="347472"/>
          </a:xfrm>
          <a:prstGeom prst="rect">
            <a:avLst/>
          </a:prstGeom>
          <a:solidFill>
            <a:srgbClr val="DDF4ED"/>
          </a:solidFill>
          <a:ln>
            <a:solidFill>
              <a:srgbClr val="DDF4ED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關鍵：讓 AI 先處理「資料整理、案例召回、方向排序」，工程師聚焦在驗證與結論。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4–6 / 定義規格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Canvas｜Output &amp; Risk：可用輸出與風險控制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4892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主要輸出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4892040" cy="372160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歷史統計查詢：依產品 / 客戶 / defect / stage 查詢發生率與趨勢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相似案例推薦：列出 top-N 案例、相似度、關鍵證據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分析方向建議：可能 root cause、建議檢查項、補資料項目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報告草稿：案件摘要、資料來源、圖表、結論待確認欄位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知識回灌：將確認後結論寫入經驗庫，形成下一輪可檢索資產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6263640" y="1207008"/>
            <a:ext cx="4892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風險與控制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45920"/>
            <a:ext cx="4892040" cy="372160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錯誤關聯風險：片號 / 批號匹配需可信度與人工確認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幻覺風險：回答必須引用報告、檢測紀錄或統計資料來源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權限風險：依單位、客戶、產品線控管查詢範圍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結論風險：AI 不直接下最終 FA conclusion，只提供方向與證據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資料品質風險：缺漏欄位進入 data quality queue，不直接納入推論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777240" y="5623560"/>
            <a:ext cx="10241280" cy="384048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輸出形式建議：Chat 查詢 + Case Summary Panel + 一鍵生成報告草稿 + 結論回灌表單。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7–8 / 效益評估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 1｜Automatable × Impactful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用「可自動化程度」與「業務影響度」評估優先順序。右上角為 FMA 助理第一階段導入重點。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133088" y="1627632"/>
            <a:ext cx="0" cy="3749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575304"/>
            <a:ext cx="619963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53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Impactful 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80760" y="5486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Automatable 高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0" y="2066544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9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6F9F"/>
                </a:solidFill>
              </a:rPr>
              <a:t>歷史統計查詢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486400" y="2871216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9E7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9E76"/>
                </a:solidFill>
              </a:rPr>
              <a:t>相似案例推薦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617720" y="336499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4B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B4BA6"/>
                </a:solidFill>
              </a:rPr>
              <a:t>報告草稿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971800" y="288036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46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8C46A"/>
                </a:solidFill>
              </a:rPr>
              <a:t>盤點關聯提醒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331720" y="205740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7171"/>
                </a:solidFill>
              </a:rPr>
              <a:t>最終失效結論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035808" y="470916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退庫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818120" y="1572768"/>
            <a:ext cx="3337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第一階段建議導入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2011680"/>
            <a:ext cx="3337560" cy="331012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• 歷史統計查詢：即時回答「同機種/同客戶/同缺陷」趨勢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• 相似案例推薦：提供過往結論與證據鏈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• 分析方向排序：列出建議檢查項與優先級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• 報告草稿：由工程師確認後上傳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7–8 / 效益評估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 2｜Data Readiness × Evaluability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評估重點：FMA 助理是否有足夠資料、可被量測、且能逐步改善。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074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9E76"/>
                </a:solidFill>
              </a:rPr>
              <a:t>Data Readiness｜資料成熟度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1488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客訴資訊結構化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761488" y="2176272"/>
            <a:ext cx="2240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2176272"/>
            <a:ext cx="1613002" cy="109728"/>
          </a:xfrm>
          <a:prstGeom prst="rect">
            <a:avLst/>
          </a:prstGeom>
          <a:solidFill>
            <a:srgbClr val="2F9E76"/>
          </a:solidFill>
          <a:ln w="12700">
            <a:solidFill>
              <a:srgbClr val="2F9E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21488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72%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24128" y="26974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片號 / 批號關聯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761488" y="2724912"/>
            <a:ext cx="2240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724912"/>
            <a:ext cx="1433779" cy="109728"/>
          </a:xfrm>
          <a:prstGeom prst="rect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269748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64%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024128" y="3246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歷史報告可檢索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761488" y="3273552"/>
            <a:ext cx="2240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3273552"/>
            <a:ext cx="1299362" cy="109728"/>
          </a:xfrm>
          <a:prstGeom prst="rect">
            <a:avLst/>
          </a:prstGeom>
          <a:solidFill>
            <a:srgbClr val="5B4BA6"/>
          </a:solidFill>
          <a:ln w="12700">
            <a:solidFill>
              <a:srgbClr val="5B4B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324612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58%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024128" y="37947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檢測資料可整合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761488" y="3822192"/>
            <a:ext cx="2240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1488" y="3822192"/>
            <a:ext cx="1164946" cy="109728"/>
          </a:xfrm>
          <a:prstGeom prst="rect">
            <a:avLst/>
          </a:prstGeom>
          <a:solidFill>
            <a:srgbClr val="E8C46A"/>
          </a:solidFill>
          <a:ln w="12700">
            <a:solidFill>
              <a:srgbClr val="E8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7947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52%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024128" y="43434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結論欄位標準化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761488" y="4370832"/>
            <a:ext cx="2240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61488" y="4370832"/>
            <a:ext cx="1030529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43434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46%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024128" y="5010912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建議先做：欄位字典、主鍵對齊、報告 OCR/解析、defect taxonomy 對照表。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1417320"/>
            <a:ext cx="4892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Evaluability｜可評估性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1856232"/>
            <a:ext cx="4892040" cy="340156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查詢時間：平均從人工搜尋降至即時查詢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Top-N 命中率：相似案例是否包含工程師採用案例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報告草稿採用率：草稿內容被保留的比例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資料回灌率：完成案件是否形成結構化知識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F2937"/>
                </a:solidFill>
              </a:rPr>
              <a:t>• 使用者滿意度：工程師對分析方向的可用性評分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6355080" y="5605272"/>
            <a:ext cx="4892040" cy="329184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E3A5F"/>
                </a:solidFill>
              </a:rPr>
              <a:t>評估方法：建立 baseline，按週追蹤 query log、採用率、查詢時間與人工修正原因。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9–11 / 流程設計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AI+｜FMA 助理嵌入後的新流程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從六個人工節點，改為「資料建檔 → AI 分析 → 工程確認 → 報告上傳 → 知識回灌」的閉環。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收件建檔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資訊+實體片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231136" y="2185416"/>
            <a:ext cx="2743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22576" y="1828800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自動盤點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關聯與缺漏提醒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895344" y="2185416"/>
            <a:ext cx="2743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986784" y="1828800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FMA 助理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查詢/推薦/統計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559552" y="2185416"/>
            <a:ext cx="2743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650992" y="1828800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工程確認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補測與判斷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223760" y="2185416"/>
            <a:ext cx="2743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0" y="1828800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報告上傳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結論回灌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887968" y="2185416"/>
            <a:ext cx="27432" cy="0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979408" y="1828800"/>
            <a:ext cx="1508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F6F9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退庫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狀態閉環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286000" y="3246120"/>
            <a:ext cx="7635240" cy="658368"/>
          </a:xfrm>
          <a:prstGeom prst="rect">
            <a:avLst/>
          </a:prstGeom>
          <a:solidFill>
            <a:srgbClr val="EEF7FD"/>
          </a:solidFill>
          <a:ln>
            <a:solidFill>
              <a:srgbClr val="B7D8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E3A5F"/>
                </a:solidFill>
              </a:rPr>
              <a:t>FMA 助理橫跨流程中段：將歷史資料查詢、相似經驗比對、統計趨勢、分析方向建議整合成一個工作入口。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1005840" y="51389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Before：人找資料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5138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9E76"/>
                </a:solidFill>
              </a:rPr>
              <a:t>After：資料主動提示人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18688" y="5321808"/>
            <a:ext cx="4297680" cy="0"/>
          </a:xfrm>
          <a:prstGeom prst="line">
            <a:avLst/>
          </a:prstGeom>
          <a:noFill/>
          <a:ln w="21590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9–11 / 流程設計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流程再造｜As-Is / To-Be 比較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As-Is：現行流程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1234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E76"/>
                </a:solidFill>
              </a:rPr>
              <a:t>To-Be：FMA 助理流程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754880" cy="347472"/>
          </a:xfrm>
          <a:prstGeom prst="rect">
            <a:avLst/>
          </a:prstGeom>
          <a:solidFill>
            <a:srgbClr val="FEECEC"/>
          </a:solidFill>
          <a:ln>
            <a:solidFill>
              <a:srgbClr val="FEEC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1. 接收客訴片資訊：手動建檔與查資料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4754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2. 接收實體客訴片：等待人工確認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77240" y="2916936"/>
            <a:ext cx="4754880" cy="347472"/>
          </a:xfrm>
          <a:prstGeom prst="rect">
            <a:avLst/>
          </a:prstGeom>
          <a:solidFill>
            <a:srgbClr val="FEECEC"/>
          </a:solidFill>
          <a:ln>
            <a:solidFill>
              <a:srgbClr val="FEEC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3. 盤點客訴片：手動比對 ID / 庫位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777240" y="3483864"/>
            <a:ext cx="4754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4. 分析客訴片：人工找舊案例與統計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777240" y="4050792"/>
            <a:ext cx="4754880" cy="347472"/>
          </a:xfrm>
          <a:prstGeom prst="rect">
            <a:avLst/>
          </a:prstGeom>
          <a:solidFill>
            <a:srgbClr val="FEECEC"/>
          </a:solidFill>
          <a:ln>
            <a:solidFill>
              <a:srgbClr val="FEEC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5. 上傳解析報告：格式不一致，難再利用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4754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6. 退庫：案件知識未形成閉環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4754880" cy="347472"/>
          </a:xfrm>
          <a:prstGeom prst="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1. 收件即建立 Case View，關聯客戶與產品資料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263640" y="2350008"/>
            <a:ext cx="4754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2. 實體片掃碼/建檔，缺漏資訊即時提醒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6263640" y="2916936"/>
            <a:ext cx="4754880" cy="347472"/>
          </a:xfrm>
          <a:prstGeom prst="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3. 盤點與異常狀態自動提示，減少重複確認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263640" y="3483864"/>
            <a:ext cx="4754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4. AI 先找相似案例、統計趨勢與建議方向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263640" y="4050792"/>
            <a:ext cx="4754880" cy="347472"/>
          </a:xfrm>
          <a:prstGeom prst="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5. 報告草稿結構化輸出，工程師確認後上傳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263640" y="4617720"/>
            <a:ext cx="4754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</a:rPr>
              <a:t>6. 結論與處置回灌經驗庫，支援下一次查詢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760720" y="1691640"/>
            <a:ext cx="0" cy="370332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42432"/>
            <a:ext cx="10241280" cy="384048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簡化邏輯：不是刪除必要分析，而是把「找資料、比對資料、整理報告」前移給 AI，讓工程確認更快發生。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9–11 / 流程設計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流程設計｜角色、資料與系統串接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13258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9F"/>
                </a:solidFill>
              </a:rPr>
              <a:t>使用者層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31720" y="1188720"/>
            <a:ext cx="8503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客服 / FAE / FMA 工程師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以自然語言查詢、確認 AI 建議、提交報告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13258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9E76"/>
                </a:solidFill>
              </a:rPr>
              <a:t>FMA 助理層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31720" y="2697480"/>
            <a:ext cx="8503920" cy="822960"/>
          </a:xfrm>
          <a:prstGeom prst="rect">
            <a:avLst/>
          </a:prstGeom>
          <a:solidFill>
            <a:srgbClr val="EEF7FD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Query Understanding｜Case View｜Similarity Search｜Statistics｜Recommendation｜Report Draft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77240" y="4279392"/>
            <a:ext cx="13258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A6"/>
                </a:solidFill>
              </a:rPr>
              <a:t>資料服務層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4206240"/>
            <a:ext cx="8503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客訴系統 / QMS｜MES / Genealogy｜AOI/AVI/EL/E-test｜報告庫｜庫存系統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583680" y="1901952"/>
            <a:ext cx="0" cy="713232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3401568"/>
            <a:ext cx="0" cy="713232"/>
          </a:xfrm>
          <a:prstGeom prst="line">
            <a:avLst/>
          </a:prstGeom>
          <a:noFill/>
          <a:ln w="13970">
            <a:solidFill>
              <a:srgbClr val="2F6F9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55321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架構原則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5513832"/>
            <a:ext cx="8778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系統不需一次性重做；先建立查詢與知識服務層，透過 API / batch / data mart 將既有資料接到 FMA 助理。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12–13 / 技術端交付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 1｜需求與功能規格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</a:rPr>
              <a:t>場景描述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09344"/>
            <a:ext cx="3383280" cy="408736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使用者：FMA 工程師、FAE、客服品質單位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觸發：收到客訴片資訊或實體客訴片入庫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目的：快速取得歷史統計、相似案例與分析方向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決策：工程師確認 AI 建議後產出解析報告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434840" y="1170432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9E76"/>
                </a:solidFill>
              </a:rPr>
              <a:t>功能模組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609344"/>
            <a:ext cx="3383280" cy="408736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Case 建檔與片號關聯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歷史統計查詢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相似案例推薦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缺陷 taxonomy 對齊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分析方向與補資料建議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解析報告草稿生成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結論回灌與知識版本管理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92440" y="1170432"/>
            <a:ext cx="3200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B4BA6"/>
                </a:solidFill>
              </a:rPr>
              <a:t>輸入 / 輸出規格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92440" y="1609344"/>
            <a:ext cx="3200400" cy="408736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9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Input：Case ID、Panel ID、客戶描述、照片、檢測紀錄、報告文本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Output：統計摘要、相似案例、建議分析方向、報告草稿、引用資料來源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Log：查詢語句、命中案例、人工採用/否決原因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77240" y="5870448"/>
            <a:ext cx="9966960" cy="329184"/>
          </a:xfrm>
          <a:prstGeom prst="rect">
            <a:avLst/>
          </a:prstGeom>
          <a:solidFill>
            <a:srgbClr val="FFF3D0"/>
          </a:solidFill>
          <a:ln>
            <a:solidFill>
              <a:srgbClr val="FFF3D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MVP 邊界：第一版先做「查詢 + 推薦 + 草稿」，最終結論仍由工程師簽核。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FMA Assistant｜客訴片異常解析與知識化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5080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F6F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12–13 / 技術端交付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 2｜技術架構與開發切分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19104" y="365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2057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9F"/>
                </a:solidFill>
              </a:rPr>
              <a:t>前端入口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1161288"/>
            <a:ext cx="7863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Chat UI / Case View / Report Draft Editor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2057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9E76"/>
                </a:solidFill>
              </a:rPr>
              <a:t>Agent Orchestrator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1874520"/>
            <a:ext cx="7863840" cy="329184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意圖辨識、工具調用、上下文管理、權限檢查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68680" y="2569464"/>
            <a:ext cx="2057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A6"/>
                </a:solidFill>
              </a:rPr>
              <a:t>AI 能力層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54680" y="2587752"/>
            <a:ext cx="7863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RAG 檢索、相似案例 ranking、統計查詢、報告生成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68680" y="3282696"/>
            <a:ext cx="2057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46A"/>
                </a:solidFill>
              </a:rPr>
              <a:t>資料層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3300984"/>
            <a:ext cx="7863840" cy="329184"/>
          </a:xfrm>
          <a:prstGeom prst="rect">
            <a:avLst/>
          </a:prstGeom>
          <a:solidFill>
            <a:srgbClr val="EEF7FD"/>
          </a:solidFill>
          <a:ln>
            <a:solidFill>
              <a:srgbClr val="EEF7F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客訴資料、片號 genealogy、檢測資料、報告庫、知識庫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68680" y="3995928"/>
            <a:ext cx="2057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治理監控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4014216"/>
            <a:ext cx="7863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引用來源、品質評估、權限、操作 log、模型回饋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開發交付切分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349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9F"/>
                </a:solidFill>
              </a:rPr>
              <a:t>Phase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650992"/>
            <a:ext cx="2331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資料盤點與欄位字典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主鍵設計、報告解析樣本集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3611880" y="5349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9F"/>
                </a:solidFill>
              </a:rPr>
              <a:t>Phase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5650992"/>
            <a:ext cx="2331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MVP 查詢與相似案例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RAG + 統計 API + 權限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6355080" y="5349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9F"/>
                </a:solidFill>
              </a:rPr>
              <a:t>Phase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5650992"/>
            <a:ext cx="2331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分析方向與報告草稿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採用率評估與知識回灌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9098280" y="5349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9F"/>
                </a:solidFill>
              </a:rPr>
              <a:t>Phase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98280" y="5650992"/>
            <a:ext cx="2331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流程整合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入庫/退庫、簽核、監控儀表板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658368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Next Step｜確認資料來源、MVP 範圍與評估指標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FMA助理：客訴片異常解析與流程再造</dc:title>
  <dc:subject>FMA助理：客訴片異常解析與流程再造</dc:subject>
  <dc:creator>OpenAI</dc:creator>
  <cp:lastModifiedBy>OpenAI</cp:lastModifiedBy>
  <cp:revision>1</cp:revision>
  <dcterms:created xsi:type="dcterms:W3CDTF">2026-04-24T11:34:20Z</dcterms:created>
  <dcterms:modified xsi:type="dcterms:W3CDTF">2026-04-24T11:34:20Z</dcterms:modified>
</cp:coreProperties>
</file>