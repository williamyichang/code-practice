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print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 / COVER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85800" y="73152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ENGINEERING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749808" y="2029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從「模型會回答」到「系統能可靠完成工作」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49808" y="2542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762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2592324"/>
            <a:ext cx="186537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 頁 · 可編輯 Native PPT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2926080" y="2542032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CFFAFE"/>
          </a:solidFill>
          <a:ln w="7620">
            <a:solidFill>
              <a:srgbClr val="0891B2">
                <a:alpha val="8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9232" y="2592324"/>
            <a:ext cx="20025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Blueprint / Overlay Diagram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749808" y="32918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" y="367588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能力 = Model × Harness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960120" y="4142232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模型提供推理；Harness 決定可見資訊、可執行工具、停止條件、驗證與復原。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66560" y="987552"/>
            <a:ext cx="0" cy="4498848"/>
          </a:xfrm>
          <a:prstGeom prst="line">
            <a:avLst/>
          </a:prstGeom>
          <a:noFill/>
          <a:ln w="15240">
            <a:solidFill>
              <a:srgbClr val="BFD1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98480" y="987552"/>
            <a:ext cx="0" cy="4498848"/>
          </a:xfrm>
          <a:prstGeom prst="line">
            <a:avLst/>
          </a:prstGeom>
          <a:noFill/>
          <a:ln w="15240">
            <a:solidFill>
              <a:srgbClr val="BFD1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987552"/>
            <a:ext cx="3931920" cy="0"/>
          </a:xfrm>
          <a:prstGeom prst="line">
            <a:avLst/>
          </a:prstGeom>
          <a:noFill/>
          <a:ln w="15240">
            <a:solidFill>
              <a:srgbClr val="BFD1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5486400"/>
            <a:ext cx="3931920" cy="0"/>
          </a:xfrm>
          <a:prstGeom prst="line">
            <a:avLst/>
          </a:prstGeom>
          <a:noFill/>
          <a:ln w="15240">
            <a:solidFill>
              <a:srgbClr val="BFD1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92440" y="1627632"/>
            <a:ext cx="75895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555480" y="1828800"/>
            <a:ext cx="0" cy="704088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869680" y="2770632"/>
            <a:ext cx="-713232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092440" y="2971800"/>
            <a:ext cx="0" cy="71323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8796528" y="3913632"/>
            <a:ext cx="-640080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555480" y="4114800"/>
            <a:ext cx="0" cy="77724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406640" y="14173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79792" y="1481328"/>
            <a:ext cx="9052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869680" y="14173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42832" y="1481328"/>
            <a:ext cx="9052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406640" y="25603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79792" y="2624328"/>
            <a:ext cx="9052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869680" y="25603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42832" y="2624328"/>
            <a:ext cx="9052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37033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79792" y="3767328"/>
            <a:ext cx="9052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869680" y="37033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42832" y="3767328"/>
            <a:ext cx="9052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Trace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995160" y="48646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控制層不是裝飾，而是把不穩定模型轉成穩定工作者的工程系統。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01 / CORE THESIS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EXECUTIVE TAKEAWAY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先給結論：Harness 是 Agent 時代的核心工程能力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9808" y="1417320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49808" y="141732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專業知識外部化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14400" y="1874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把規則、資料、品質標準變成模型能讀、能執行、能驗證的資產。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251960" y="1417320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251960" y="1417320"/>
            <a:ext cx="6400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16552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受限自主性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4416552" y="1874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低風險自主；高風險停下來請人決策，避免不可逆錯誤。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754112" y="1417320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754112" y="141732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18704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失敗可累積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918704" y="1874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每次失敗都回寫成文件、測試、腳本或風控規則。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1143000" y="3977640"/>
            <a:ext cx="9893808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08760" y="44074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真正的競爭焦點：不是「模型能不能做」，而是「系統能不能控制它怎麼做」。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1508760" y="480060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是入口；Harness 是完整控制迴路。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02 / DIACHRONIC ANALYSIS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TIMELINE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縱向演進：從工具呼叫到可部署控制系統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05840" y="2971800"/>
            <a:ext cx="100584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54480" y="278892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1560" y="1828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2022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941832" y="2240280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3272" y="2359152"/>
            <a:ext cx="14447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ReAct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868680" y="341985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Reasoning + Acting：思考、工具、觀察、修正計畫。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3566160" y="278892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63240" y="1828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2023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2953512" y="2240280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CFFAFE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44952" y="2359152"/>
            <a:ext cx="14447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Toolformer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2880360" y="341985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模型開始學會何時用工具、怎麼用工具。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5577840" y="27889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74920" y="1828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2024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4965192" y="2240280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56632" y="2359152"/>
            <a:ext cx="14447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SWE-agent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4892040" y="341985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Agent-Computer Interface：環境介面決定表現。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7589520" y="278892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86600" y="1828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6976872" y="2240280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68312" y="2359152"/>
            <a:ext cx="14447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ADK / MCP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6903720" y="341985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工具、狀態、評估、權限與部署走向平台化。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9601200" y="278892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098280" y="1828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8988552" y="2240280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79992" y="2359152"/>
            <a:ext cx="14447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Eng.</a:t>
            </a:r>
            <a:endParaRPr lang="en-US" sz="880" dirty="0"/>
          </a:p>
        </p:txBody>
      </p:sp>
      <p:sp>
        <p:nvSpPr>
          <p:cNvPr id="75" name="Text 73"/>
          <p:cNvSpPr/>
          <p:nvPr/>
        </p:nvSpPr>
        <p:spPr>
          <a:xfrm>
            <a:off x="8915400" y="341985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重點轉向可讀、可驗證、可控制的工程系統。</a:t>
            </a:r>
            <a:endParaRPr lang="en-US" sz="920" dirty="0"/>
          </a:p>
        </p:txBody>
      </p:sp>
      <p:sp>
        <p:nvSpPr>
          <p:cNvPr id="76" name="Text 74"/>
          <p:cNvSpPr/>
          <p:nvPr/>
        </p:nvSpPr>
        <p:spPr>
          <a:xfrm>
            <a:off x="1188720" y="504748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演進邏輯：模型能力上升後，瓶頸從「會不會回答」轉到「環境、工具、驗證與風控是否成熟」。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03 / DEFINITION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SYSTEM BOUNDARY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 Harness：模型外層的控制與驗證系統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80760" y="2011680"/>
            <a:ext cx="0" cy="2971800"/>
          </a:xfrm>
          <a:prstGeom prst="line">
            <a:avLst/>
          </a:prstGeom>
          <a:noFill/>
          <a:ln w="13970">
            <a:solidFill>
              <a:srgbClr val="BFD1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17520" y="3429000"/>
            <a:ext cx="6126480" cy="0"/>
          </a:xfrm>
          <a:prstGeom prst="line">
            <a:avLst/>
          </a:prstGeom>
          <a:noFill/>
          <a:ln w="13970">
            <a:solidFill>
              <a:srgbClr val="BFD1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83480" y="28803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56632" y="2944368"/>
            <a:ext cx="2048256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推理／生成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011680" y="16459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84832" y="1709928"/>
            <a:ext cx="1682496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看得到什麼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955280" y="16459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28432" y="1709928"/>
            <a:ext cx="1682496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能做什麼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011680" y="4434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84832" y="4498848"/>
            <a:ext cx="1682496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Stop / Approve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何時停下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955280" y="4434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28432" y="4498848"/>
            <a:ext cx="1682496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Validate / Recover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如何驗證與復原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840480" y="2029968"/>
            <a:ext cx="1143000" cy="1033272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955280" y="2029968"/>
            <a:ext cx="-777240" cy="1033272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840480" y="4818888"/>
            <a:ext cx="1143000" cy="-111556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955280" y="4818888"/>
            <a:ext cx="-777240" cy="-1115568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22960" y="5349240"/>
            <a:ext cx="10561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2960" y="5349240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87552" y="54864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核心公式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87552" y="5806440"/>
            <a:ext cx="10241280" cy="45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能力 = Model × Harness；模型只是能力來源之一，控制層決定可靠性上限。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04 / PROBLEM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FAILURE MODES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問題不是模型不會想，而是「能跑」不等於「可靠」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7240" y="1417320"/>
            <a:ext cx="4846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" y="1417320"/>
            <a:ext cx="64008" cy="3886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1832" y="155448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 Harness：使用者自己承擔不確定性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41832" y="1874520"/>
            <a:ext cx="4526280" cy="3337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資料可能錯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目標可能誤解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工具可能亂用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長任務可能失憶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輸出看似合理卻不能驗證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583680" y="1417320"/>
            <a:ext cx="4846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1417320"/>
            <a:ext cx="64008" cy="3886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48272" y="155448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 Harness：系統先限制、測量、驗證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748272" y="1874520"/>
            <a:ext cx="4526280" cy="3337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資料來源與日期檢查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工具權限與任務契約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 / Lint / Browser check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Trace、評分、失敗回寫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高風險動作先批准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715000" y="3127248"/>
            <a:ext cx="7315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715000" y="3328416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762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88152" y="3378708"/>
            <a:ext cx="6766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控制層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1188720" y="571500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不會消除不確定性；它把不確定性隔離在可接受範圍。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05 / TEACHING MODEL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7-LAYER STACK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成熟 Harness 的七個層次：每一層都回答一個可靠性問題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60120" y="1353312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8992" y="1463040"/>
            <a:ext cx="19933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任務契約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3520440" y="1353312"/>
            <a:ext cx="7543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03320" y="1453896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完成定義、輸出格式與停止條件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960120" y="1975104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CFFAFE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2084832"/>
            <a:ext cx="19933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系統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3520440" y="1975104"/>
            <a:ext cx="7543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2075688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該讀哪些文件、資料與規則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960120" y="2596896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8992" y="2706624"/>
            <a:ext cx="19933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工具介面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3520440" y="2596896"/>
            <a:ext cx="7543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2697480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能讀什麼、查什麼、修改什麼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960120" y="3218688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8992" y="3328416"/>
            <a:ext cx="19933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狀態與記憶</a:t>
            </a:r>
            <a:endParaRPr lang="en-US" sz="970" dirty="0"/>
          </a:p>
        </p:txBody>
      </p:sp>
      <p:sp>
        <p:nvSpPr>
          <p:cNvPr id="64" name="Shape 62"/>
          <p:cNvSpPr/>
          <p:nvPr/>
        </p:nvSpPr>
        <p:spPr>
          <a:xfrm>
            <a:off x="3520440" y="3218688"/>
            <a:ext cx="7543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03320" y="3319272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上一步做了什麼、證據在哪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960120" y="3840480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8992" y="3950208"/>
            <a:ext cx="19933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權限與風控</a:t>
            </a:r>
            <a:endParaRPr lang="en-US" sz="970" dirty="0"/>
          </a:p>
        </p:txBody>
      </p:sp>
      <p:sp>
        <p:nvSpPr>
          <p:cNvPr id="68" name="Shape 66"/>
          <p:cNvSpPr/>
          <p:nvPr/>
        </p:nvSpPr>
        <p:spPr>
          <a:xfrm>
            <a:off x="3520440" y="3840480"/>
            <a:ext cx="7543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03320" y="3941064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哪些自動、哪些要批准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960120" y="4462272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8992" y="4572000"/>
            <a:ext cx="19933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驗證與評估</a:t>
            </a:r>
            <a:endParaRPr lang="en-US" sz="970" dirty="0"/>
          </a:p>
        </p:txBody>
      </p:sp>
      <p:sp>
        <p:nvSpPr>
          <p:cNvPr id="72" name="Shape 70"/>
          <p:cNvSpPr/>
          <p:nvPr/>
        </p:nvSpPr>
        <p:spPr>
          <a:xfrm>
            <a:off x="3520440" y="4462272"/>
            <a:ext cx="7543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03320" y="4562856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如何知道結果真的正確</a:t>
            </a:r>
            <a:endParaRPr lang="en-US" sz="1020" dirty="0"/>
          </a:p>
        </p:txBody>
      </p:sp>
      <p:sp>
        <p:nvSpPr>
          <p:cNvPr id="74" name="Shape 72"/>
          <p:cNvSpPr/>
          <p:nvPr/>
        </p:nvSpPr>
        <p:spPr>
          <a:xfrm>
            <a:off x="960120" y="5084064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78992" y="5193792"/>
            <a:ext cx="19933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可觀測性</a:t>
            </a:r>
            <a:endParaRPr lang="en-US" sz="970" dirty="0"/>
          </a:p>
        </p:txBody>
      </p:sp>
      <p:sp>
        <p:nvSpPr>
          <p:cNvPr id="76" name="Shape 74"/>
          <p:cNvSpPr/>
          <p:nvPr/>
        </p:nvSpPr>
        <p:spPr>
          <a:xfrm>
            <a:off x="3520440" y="5084064"/>
            <a:ext cx="7543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03320" y="5184648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哪一步失敗、成本多少、為何失敗</a:t>
            </a:r>
            <a:endParaRPr lang="en-US" sz="1020" dirty="0"/>
          </a:p>
        </p:txBody>
      </p:sp>
      <p:sp>
        <p:nvSpPr>
          <p:cNvPr id="78" name="Shape 76"/>
          <p:cNvSpPr/>
          <p:nvPr/>
        </p:nvSpPr>
        <p:spPr>
          <a:xfrm>
            <a:off x="960120" y="5806440"/>
            <a:ext cx="1010412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78992" y="5916168"/>
            <a:ext cx="9875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模型只回答其中一層；可靠工作需要七層一起閉環。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06 / CONTROL LOOP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FEEDBACK LOOP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的控制迴路：從目標到 Trace，再回寫成系統規則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78040" y="1600200"/>
            <a:ext cx="731520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915400" y="2670048"/>
            <a:ext cx="-27432" cy="11704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818120" y="4407408"/>
            <a:ext cx="-73152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166360" y="5166360"/>
            <a:ext cx="-731520" cy="-7589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474720" y="3886200"/>
            <a:ext cx="-91440" cy="-1234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343400" y="2057400"/>
            <a:ext cx="868680" cy="-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212080" y="1298448"/>
            <a:ext cx="1965960" cy="576072"/>
          </a:xfrm>
          <a:prstGeom prst="roundRect">
            <a:avLst>
              <a:gd name="adj" fmla="val 12698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1362456"/>
            <a:ext cx="181965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使用者目標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909560" y="2057400"/>
            <a:ext cx="1965960" cy="576072"/>
          </a:xfrm>
          <a:prstGeom prst="roundRect">
            <a:avLst>
              <a:gd name="adj" fmla="val 12698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82712" y="2121408"/>
            <a:ext cx="181965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任務契約 / Schema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818120" y="3886200"/>
            <a:ext cx="1965960" cy="576072"/>
          </a:xfrm>
          <a:prstGeom prst="roundRect">
            <a:avLst>
              <a:gd name="adj" fmla="val 12698"/>
            </a:avLst>
          </a:prstGeom>
          <a:solidFill>
            <a:srgbClr val="FEF3C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91272" y="3950208"/>
            <a:ext cx="181965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受控 Context + 工具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166360" y="4892040"/>
            <a:ext cx="1965960" cy="576072"/>
          </a:xfrm>
          <a:prstGeom prst="roundRect">
            <a:avLst>
              <a:gd name="adj" fmla="val 12698"/>
            </a:avLst>
          </a:prstGeom>
          <a:solidFill>
            <a:srgbClr val="EDE9FE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9512" y="4956048"/>
            <a:ext cx="181965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模型推理與行動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468880" y="3886200"/>
            <a:ext cx="1965960" cy="576072"/>
          </a:xfrm>
          <a:prstGeom prst="roundRect">
            <a:avLst>
              <a:gd name="adj" fmla="val 12698"/>
            </a:avLst>
          </a:prstGeom>
          <a:solidFill>
            <a:srgbClr val="D1FAE5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42032" y="3950208"/>
            <a:ext cx="181965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 / 評估 / 批准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377440" y="2057400"/>
            <a:ext cx="1965960" cy="576072"/>
          </a:xfrm>
          <a:prstGeom prst="roundRect">
            <a:avLst>
              <a:gd name="adj" fmla="val 12698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50592" y="2121408"/>
            <a:ext cx="181965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Trace / 錯誤紀錄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193792" y="2971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66944" y="3035808"/>
            <a:ext cx="1682496" cy="7406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閉環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914400" y="581558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重點：模型提出假設；Harness 提供證據、限制行動、驗證結果，並累積失敗經驗。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07 / MISCONCEPTIONS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MYTHS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三個常見誤解：不要把 Harness 縮小成 Prompt 或多 Agent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7240" y="141732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762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" y="1467612"/>
            <a:ext cx="8595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誤解 1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777240" y="18288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77240" y="1828800"/>
            <a:ext cx="64008" cy="3017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" y="1965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= system prompt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41832" y="22860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System prompt 只是入口；真正的 Harness 包含工具 schema、測試、CI、權限、trace 與回歸評估。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4526280" y="141732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9432" y="1467612"/>
            <a:ext cx="8595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誤解 2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4526280" y="18288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526280" y="1828800"/>
            <a:ext cx="6400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90872" y="1965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 Agent = 成熟 Harness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4690872" y="22860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 Agent 只是編排策略；若沒有清楚責任、狀態同步與評估，反而更難除錯。</a:t>
            </a:r>
            <a:endParaRPr lang="en-US" sz="1120" dirty="0"/>
          </a:p>
        </p:txBody>
      </p:sp>
      <p:sp>
        <p:nvSpPr>
          <p:cNvPr id="62" name="Shape 60"/>
          <p:cNvSpPr/>
          <p:nvPr/>
        </p:nvSpPr>
        <p:spPr>
          <a:xfrm>
            <a:off x="8275320" y="141732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762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1467612"/>
            <a:ext cx="8595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誤解 3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8275320" y="18288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275320" y="1828800"/>
            <a:ext cx="64008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39912" y="1965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= 不用人管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8439912" y="22860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剛好相反：Harness 讓人類只在高風險、高判斷成本的地方介入。</a:t>
            </a:r>
            <a:endParaRPr lang="en-US" sz="1120" dirty="0"/>
          </a:p>
        </p:txBody>
      </p:sp>
      <p:sp>
        <p:nvSpPr>
          <p:cNvPr id="68" name="Text 66"/>
          <p:cNvSpPr/>
          <p:nvPr/>
        </p:nvSpPr>
        <p:spPr>
          <a:xfrm>
            <a:off x="960120" y="54864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成熟的演進順序：單 Agent + 好工具 → 驗證器 / 風控 / Trace → 再拆專責 Agent。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08 / CROSS-SECTION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MARKET MAP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橫向地圖：不同玩家其實在不同層工作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325880" y="5257800"/>
            <a:ext cx="9509760" cy="0"/>
          </a:xfrm>
          <a:prstGeom prst="line">
            <a:avLst/>
          </a:prstGeom>
          <a:noFill/>
          <a:ln w="1397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5257800"/>
            <a:ext cx="0" cy="-3749040"/>
          </a:xfrm>
          <a:prstGeom prst="line">
            <a:avLst/>
          </a:prstGeom>
          <a:noFill/>
          <a:ln w="13970">
            <a:solidFill>
              <a:srgbClr val="0F17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5504688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低層工具 / 協定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778240" y="5504688"/>
            <a:ext cx="2103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高層產品 / 執行環境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 rot="16200000">
            <a:off x="502920" y="466344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專用任務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 rot="16200000">
            <a:off x="502920" y="20116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通用平台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920240" y="443484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CFFAFE"/>
          </a:solidFill>
          <a:ln w="1143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75104" y="4553712"/>
            <a:ext cx="80467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MCP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108960" y="3931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D1FAE5"/>
          </a:solidFill>
          <a:ln w="1143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63824" y="4050792"/>
            <a:ext cx="1060704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Skills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389120" y="457200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143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43984" y="4690872"/>
            <a:ext cx="103327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SWE-agent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212080" y="397764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143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66944" y="4096512"/>
            <a:ext cx="94183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OpenHands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035040" y="242316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9904" y="2542032"/>
            <a:ext cx="153619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OpenAI Agents SDK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572000" y="201168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EDE9FE"/>
          </a:solidFill>
          <a:ln w="1143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26864" y="2130552"/>
            <a:ext cx="112471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LangGraph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223760" y="18288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EDE9FE"/>
          </a:solidFill>
          <a:ln w="1143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78624" y="1947672"/>
            <a:ext cx="162763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Google ADK / AutoGen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915400" y="315468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70264" y="3273552"/>
            <a:ext cx="94183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Codex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595360" y="416052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D1FAE5"/>
          </a:solidFill>
          <a:ln w="1143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50224" y="4279392"/>
            <a:ext cx="1399032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600200" y="1115568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讀法：不要先問「哪個框架最好」；先判斷你的任務需要的是 coding workspace、runtime、multi-agent orchestration、還是工具協定。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09 / PRODUCT PROFILES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主要工具定位：強項不同，限制也不同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3232" y="1417320"/>
            <a:ext cx="1965960" cy="713232"/>
          </a:xfrm>
          <a:prstGeom prst="rect">
            <a:avLst/>
          </a:prstGeom>
          <a:solidFill>
            <a:srgbClr val="0F172A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" y="1563624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類型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79192" y="1417320"/>
            <a:ext cx="2148840" cy="713232"/>
          </a:xfrm>
          <a:prstGeom prst="rect">
            <a:avLst/>
          </a:prstGeom>
          <a:solidFill>
            <a:srgbClr val="0F172A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70632" y="1563624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代表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28032" y="1417320"/>
            <a:ext cx="3520440" cy="713232"/>
          </a:xfrm>
          <a:prstGeom prst="rect">
            <a:avLst/>
          </a:prstGeom>
          <a:solidFill>
            <a:srgbClr val="0F172A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1563624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強項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348472" y="1417320"/>
            <a:ext cx="3246120" cy="713232"/>
          </a:xfrm>
          <a:prstGeom prst="rect">
            <a:avLst/>
          </a:prstGeom>
          <a:solidFill>
            <a:srgbClr val="0F172A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39912" y="1563624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主要限制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13232" y="2130552"/>
            <a:ext cx="1965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" y="2276856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Coding Harness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2679192" y="2130552"/>
            <a:ext cx="2148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70632" y="2276856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Codex / Claude Code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4828032" y="2130552"/>
            <a:ext cx="35204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19472" y="2276856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 讀寫、改檔、跑測試、分層指令與技能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8348472" y="2130552"/>
            <a:ext cx="32461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39912" y="2276856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仍依賴高品質 repo、測試與規則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713232" y="2843784"/>
            <a:ext cx="196596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4672" y="299008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Runtime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2679192" y="2843784"/>
            <a:ext cx="214884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70632" y="2990088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LangGraph / OpenAI Agents SDK</a:t>
            </a:r>
            <a:endParaRPr lang="en-US" sz="860" dirty="0"/>
          </a:p>
        </p:txBody>
      </p:sp>
      <p:sp>
        <p:nvSpPr>
          <p:cNvPr id="70" name="Shape 68"/>
          <p:cNvSpPr/>
          <p:nvPr/>
        </p:nvSpPr>
        <p:spPr>
          <a:xfrm>
            <a:off x="4828032" y="2843784"/>
            <a:ext cx="352044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19472" y="2990088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狀態、工具、審批、trace、部署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8348472" y="2843784"/>
            <a:ext cx="324612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39912" y="2990088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需要自己設計資料契約與業務規則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713232" y="3557016"/>
            <a:ext cx="1965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4672" y="3703320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Multi-Agent</a:t>
            </a:r>
            <a:endParaRPr lang="en-US" sz="860" dirty="0"/>
          </a:p>
        </p:txBody>
      </p:sp>
      <p:sp>
        <p:nvSpPr>
          <p:cNvPr id="76" name="Shape 74"/>
          <p:cNvSpPr/>
          <p:nvPr/>
        </p:nvSpPr>
        <p:spPr>
          <a:xfrm>
            <a:off x="2679192" y="3557016"/>
            <a:ext cx="2148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70632" y="3703320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Google ADK / AutoGen</a:t>
            </a:r>
            <a:endParaRPr lang="en-US" sz="860" dirty="0"/>
          </a:p>
        </p:txBody>
      </p:sp>
      <p:sp>
        <p:nvSpPr>
          <p:cNvPr id="78" name="Shape 76"/>
          <p:cNvSpPr/>
          <p:nvPr/>
        </p:nvSpPr>
        <p:spPr>
          <a:xfrm>
            <a:off x="4828032" y="3557016"/>
            <a:ext cx="35204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19472" y="3703320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角色隔離、任務分派、複雜工作流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8348472" y="3557016"/>
            <a:ext cx="32461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39912" y="3703320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容易過度設計、難除錯</a:t>
            </a:r>
            <a:endParaRPr lang="en-US" sz="860" dirty="0"/>
          </a:p>
        </p:txBody>
      </p:sp>
      <p:sp>
        <p:nvSpPr>
          <p:cNvPr id="82" name="Shape 80"/>
          <p:cNvSpPr/>
          <p:nvPr/>
        </p:nvSpPr>
        <p:spPr>
          <a:xfrm>
            <a:off x="713232" y="4270248"/>
            <a:ext cx="196596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4672" y="4416552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協定 / Skill</a:t>
            </a:r>
            <a:endParaRPr lang="en-US" sz="860" dirty="0"/>
          </a:p>
        </p:txBody>
      </p:sp>
      <p:sp>
        <p:nvSpPr>
          <p:cNvPr id="84" name="Shape 82"/>
          <p:cNvSpPr/>
          <p:nvPr/>
        </p:nvSpPr>
        <p:spPr>
          <a:xfrm>
            <a:off x="2679192" y="4270248"/>
            <a:ext cx="214884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70632" y="441655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MCP / Agent Skills</a:t>
            </a:r>
            <a:endParaRPr lang="en-US" sz="860" dirty="0"/>
          </a:p>
        </p:txBody>
      </p:sp>
      <p:sp>
        <p:nvSpPr>
          <p:cNvPr id="86" name="Shape 84"/>
          <p:cNvSpPr/>
          <p:nvPr/>
        </p:nvSpPr>
        <p:spPr>
          <a:xfrm>
            <a:off x="4828032" y="4270248"/>
            <a:ext cx="352044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919472" y="441655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可攜、標準化、降低整合成本</a:t>
            </a:r>
            <a:endParaRPr lang="en-US" sz="860" dirty="0"/>
          </a:p>
        </p:txBody>
      </p:sp>
      <p:sp>
        <p:nvSpPr>
          <p:cNvPr id="88" name="Shape 86"/>
          <p:cNvSpPr/>
          <p:nvPr/>
        </p:nvSpPr>
        <p:spPr>
          <a:xfrm>
            <a:off x="8348472" y="4270248"/>
            <a:ext cx="3246120" cy="713232"/>
          </a:xfrm>
          <a:prstGeom prst="rect">
            <a:avLst/>
          </a:prstGeom>
          <a:solidFill>
            <a:srgbClr val="F8FAFC"/>
          </a:solidFill>
          <a:ln w="7620">
            <a:solidFill>
              <a:srgbClr val="D7E0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439912" y="4416552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不直接保證結果品質</a:t>
            </a:r>
            <a:endParaRPr lang="en-US" sz="860" dirty="0"/>
          </a:p>
        </p:txBody>
      </p:sp>
      <p:sp>
        <p:nvSpPr>
          <p:cNvPr id="90" name="Shape 88"/>
          <p:cNvSpPr/>
          <p:nvPr/>
        </p:nvSpPr>
        <p:spPr>
          <a:xfrm>
            <a:off x="1097280" y="5449824"/>
            <a:ext cx="98755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7280" y="5449824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61872" y="5586984"/>
            <a:ext cx="9555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選型原則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1261872" y="5907024"/>
            <a:ext cx="9555480" cy="-18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先明確資料、權限、驗證與交付物，再決定採用產品型 Harness、Runtime 或協定層。</a:t>
            </a:r>
            <a:endParaRPr lang="en-US" sz="920" dirty="0"/>
          </a:p>
        </p:txBody>
      </p:sp>
      <p:sp>
        <p:nvSpPr>
          <p:cNvPr id="94" name="Text 92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10 / USER EXPERIENCE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TRUST MODEL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使用者體驗的本質改變：從相信答案，到相信證據鏈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68680" y="150876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680" y="1508760"/>
            <a:ext cx="64008" cy="3200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3272" y="16459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舊模式：模型給答案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033272" y="196596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模型產生文字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使用者自己判斷是否可信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錯誤通常在人工 review 才發現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086600" y="150876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6600" y="1508760"/>
            <a:ext cx="64008" cy="3200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51192" y="16459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新模式：系統交付證據鏈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7251192" y="196596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 + 資料來源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計算方式 + 工具紀錄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驗證結果 + 風險提示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257800" y="2889504"/>
            <a:ext cx="155448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257800" y="3127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762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30952" y="3177540"/>
            <a:ext cx="13624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 Ledger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5257800" y="18288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CFFAFE"/>
          </a:solidFill>
          <a:ln w="7620">
            <a:solidFill>
              <a:srgbClr val="0891B2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30952" y="1879092"/>
            <a:ext cx="10881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資料日期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5440680" y="224028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13832" y="2290572"/>
            <a:ext cx="10881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5440680" y="413308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762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13832" y="4183380"/>
            <a:ext cx="10881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Trace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5257800" y="3712464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762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30952" y="3762756"/>
            <a:ext cx="10881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風險旗標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1005840" y="5504688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信任不是靠語氣建立，而是靠可追溯、可驗證、可重播的證據結構。</a:t>
            </a:r>
            <a:endParaRPr lang="en-US" sz="1550" dirty="0"/>
          </a:p>
        </p:txBody>
      </p:sp>
      <p:sp>
        <p:nvSpPr>
          <p:cNvPr id="70" name="Text 68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11 / FUTURE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 DIRECTIONS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未來五個方向：Prompt 退居幕後，Context + Control 成為主戰場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138928" y="2834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2898648"/>
            <a:ext cx="1773936" cy="7406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中心化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14400" y="150876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" y="157276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+ Control Engineering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7863840" y="150876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36992" y="157276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模型中心 → Harness 中心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914400" y="452628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" y="459028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 Agent → 受限自主性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7863840" y="452628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36992" y="459028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 Agent 炫技 → 少 Agent 強評估</a:t>
            </a:r>
            <a:endParaRPr lang="en-US" sz="1030" dirty="0"/>
          </a:p>
        </p:txBody>
      </p:sp>
      <p:sp>
        <p:nvSpPr>
          <p:cNvPr id="60" name="Shape 58"/>
          <p:cNvSpPr/>
          <p:nvPr/>
        </p:nvSpPr>
        <p:spPr>
          <a:xfrm>
            <a:off x="3794760" y="510235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EDE9FE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67912" y="5166360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自我優化，但人類守住目標函數</a:t>
            </a:r>
            <a:endParaRPr lang="en-US" sz="1030" dirty="0"/>
          </a:p>
        </p:txBody>
      </p:sp>
      <p:sp>
        <p:nvSpPr>
          <p:cNvPr id="62" name="Text 60"/>
          <p:cNvSpPr/>
          <p:nvPr/>
        </p:nvSpPr>
        <p:spPr>
          <a:xfrm>
            <a:off x="914400" y="5925312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未來護城河：資料品質、domain rules、驗證器、失敗案例集、工具權限設計與品質審計系統。</a:t>
            </a:r>
            <a:endParaRPr lang="en-US" sz="1070" dirty="0"/>
          </a:p>
        </p:txBody>
      </p:sp>
      <p:sp>
        <p:nvSpPr>
          <p:cNvPr id="63" name="Text 61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12 / GOVERNANCE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PERMISSION LADDER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受限自主性：成熟 Agent 像有權限等級的專業助理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97280" y="1508760"/>
            <a:ext cx="9966960" cy="841248"/>
          </a:xfrm>
          <a:prstGeom prst="roundRect">
            <a:avLst>
              <a:gd name="adj" fmla="val 869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17320" y="174650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可自主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971800" y="1645920"/>
            <a:ext cx="0" cy="566928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172821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讀資料、摘要、跑計算、產生草稿、執行測試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97280" y="2743200"/>
            <a:ext cx="996696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17320" y="298094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需批准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971800" y="2880360"/>
            <a:ext cx="0" cy="56692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46120" y="296265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寫入資料庫、寄信、發布內容、修改權限、執行交易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97280" y="3977640"/>
            <a:ext cx="996696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17320" y="421538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禁止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971800" y="4114800"/>
            <a:ext cx="0" cy="566928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46120" y="41970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繞過安全警告、接受第三方頁面指令、洩漏敏感資料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280160" y="5394960"/>
            <a:ext cx="9555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80160" y="5394960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44752" y="553212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設計原則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444752" y="5852160"/>
            <a:ext cx="9235440" cy="18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Agent 在錯誤成本低的地方加速，在錯誤成本高的地方停下來。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13 / APPLICATION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INVESTMENT SITE HARNESS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你的投資分析網站：最適合先做 Custom Harness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7240" y="22860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" y="2350008"/>
            <a:ext cx="1179576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自然語言問題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103120" y="2606040"/>
            <a:ext cx="21031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423160" y="22860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96312" y="2350008"/>
            <a:ext cx="1179576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Query Schema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749040" y="2606040"/>
            <a:ext cx="21031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069080" y="22860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42232" y="2350008"/>
            <a:ext cx="1179576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受控資料工具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394960" y="2606040"/>
            <a:ext cx="3931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897880" y="22860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71032" y="2350008"/>
            <a:ext cx="1179576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Analysis Agent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23760" y="2606040"/>
            <a:ext cx="30175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635240" y="22860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08392" y="2350008"/>
            <a:ext cx="1179576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/ Evidence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961120" y="2606040"/>
            <a:ext cx="57607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646920" y="22860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20072" y="2350008"/>
            <a:ext cx="1179576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Structured 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Dashboard UI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29000" y="3337560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02152" y="3387852"/>
            <a:ext cx="6035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財報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4389120" y="3337560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62272" y="3387852"/>
            <a:ext cx="6035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月營收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5349240" y="3337560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22392" y="3387852"/>
            <a:ext cx="6035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股價</a:t>
            </a:r>
            <a:endParaRPr lang="en-US" sz="840" dirty="0"/>
          </a:p>
        </p:txBody>
      </p:sp>
      <p:sp>
        <p:nvSpPr>
          <p:cNvPr id="73" name="Shape 71"/>
          <p:cNvSpPr/>
          <p:nvPr/>
        </p:nvSpPr>
        <p:spPr>
          <a:xfrm>
            <a:off x="3429000" y="3749040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02152" y="3799332"/>
            <a:ext cx="6035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估值</a:t>
            </a:r>
            <a:endParaRPr lang="en-US" sz="840" dirty="0"/>
          </a:p>
        </p:txBody>
      </p:sp>
      <p:sp>
        <p:nvSpPr>
          <p:cNvPr id="75" name="Shape 73"/>
          <p:cNvSpPr/>
          <p:nvPr/>
        </p:nvSpPr>
        <p:spPr>
          <a:xfrm>
            <a:off x="4389120" y="3749040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62272" y="3799332"/>
            <a:ext cx="6035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法說會</a:t>
            </a:r>
            <a:endParaRPr lang="en-US" sz="840" dirty="0"/>
          </a:p>
        </p:txBody>
      </p:sp>
      <p:sp>
        <p:nvSpPr>
          <p:cNvPr id="77" name="Shape 75"/>
          <p:cNvSpPr/>
          <p:nvPr/>
        </p:nvSpPr>
        <p:spPr>
          <a:xfrm>
            <a:off x="5349240" y="3749040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22392" y="3799332"/>
            <a:ext cx="6035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PDF 圖表</a:t>
            </a:r>
            <a:endParaRPr lang="en-US" sz="840" dirty="0"/>
          </a:p>
        </p:txBody>
      </p:sp>
      <p:sp>
        <p:nvSpPr>
          <p:cNvPr id="79" name="Shape 77"/>
          <p:cNvSpPr/>
          <p:nvPr/>
        </p:nvSpPr>
        <p:spPr>
          <a:xfrm>
            <a:off x="868680" y="132588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68680" y="1325880"/>
            <a:ext cx="640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33272" y="146304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重點不是先做多 Agent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033272" y="1783080"/>
            <a:ext cx="4343400" cy="-45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先穩定資料工具、Evidence Ledger、Risk Validator 與 UI 契約。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989320" y="1325880"/>
            <a:ext cx="5166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89320" y="1325880"/>
            <a:ext cx="64008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53912" y="14630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投資研究必備證據欄位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153912" y="1783080"/>
            <a:ext cx="4846320" cy="-45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數字來源、資料日期、計算公式、單位、是否 mock、是否推論。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777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48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3810">
            <a:solidFill>
              <a:srgbClr val="E8EEF7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1168"/>
            <a:ext cx="11679631" cy="6455664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SECTION 14 / IMPLEMENTATION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21040" y="644652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editable PPT · Blueprint system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58368" y="438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IMPLEMENTATION BLUEPRINT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85800"/>
            <a:ext cx="108356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實作藍圖：把知識、流程、驗證與風控版本化</a:t>
            </a:r>
            <a:endParaRPr lang="en-US" sz="2500" dirty="0"/>
          </a:p>
        </p:txBody>
      </p:sp>
      <p:sp>
        <p:nvSpPr>
          <p:cNvPr id="48" name="Shape 46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11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7240" y="132588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16002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建議檔案結構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78992" y="2057400"/>
            <a:ext cx="4343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1078992" y="2532888"/>
            <a:ext cx="4343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architecture · api-contract · risk-policy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1078992" y="3008376"/>
            <a:ext cx="4343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 analyze-stock · extract-charts · report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1078992" y="3483864"/>
            <a:ext cx="4343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 smoke_api · validate_data · ui_judge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1078992" y="3959352"/>
            <a:ext cx="4343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query_schema · freshness · calculations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6080760" y="141732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762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53912" y="1467612"/>
            <a:ext cx="8595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0–30 天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7269480" y="13258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69480" y="132588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34072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資料契約 + Evidence Ledger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434072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建立資料欄位、日期、單位、公式與 mock 標記。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6080760" y="274320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762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53912" y="2793492"/>
            <a:ext cx="8595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31–60 天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7269480" y="26517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69480" y="2651760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34072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Validator + Smoke Tests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434072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不可捏造數字、不可把估計說成事實、API/UI 檢查。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6080760" y="40690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762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53912" y="4119372"/>
            <a:ext cx="8595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61–90 天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7269480" y="39776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397764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34072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UI Judge + Skills 化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434072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把可重複工作封裝成 skill，讓失敗回寫為規則。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868680" y="5742432"/>
            <a:ext cx="104241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1560" y="5870448"/>
            <a:ext cx="10058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終局價值：犯錯時不造成不可逆傷害；犯錯後知道錯在哪；下一次因系統改善而少犯一次。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40080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資料來源：Pasted markdown(2).md；製作規格：Pasted text(12).txt / ppt-native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教學與未來方向</dc:title>
  <dc:subject>Harness Engineering native editable deck</dc:subject>
  <dc:creator>OpenAI</dc:creator>
  <cp:lastModifiedBy>OpenAI</cp:lastModifiedBy>
  <cp:revision>1</cp:revision>
  <dcterms:created xsi:type="dcterms:W3CDTF">2026-06-21T07:51:19Z</dcterms:created>
  <dcterms:modified xsi:type="dcterms:W3CDTF">2026-06-21T07:51:19Z</dcterms:modified>
</cp:coreProperties>
</file>