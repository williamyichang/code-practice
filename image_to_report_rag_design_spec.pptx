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 (original system design)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 (requirements from user)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 (problem framing)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 (original architecture)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 (engineering decomposition)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 (bbox strategy is implementation choice)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 (feature design rationale)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HDBSCAN labels: outliers are assigned label -1: https://scikit-learn.org/stable/modules/generated/sklearn.cluster.HDBSCAN.html
- HDBSCAN docs (outliers): https://hdbscan.readthedocs.io/en/latest/api.html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Qdrant payload indexing concepts: https://qdrant.tech/documentation/concepts/indexing/
- Qdrant HNSW parameters (m, hnsw_ef, ef_construct): https://qdrant.tech/course/essentials/day-2/what-is-hnsw/
- HNSW hyperparameters tradeoffs (M/efSearch/efConstruction): https://opensearch.org/blog/a-practical-guide-to-selecting-hnsw-hyperparameters/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 (search pipeline design)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 (scoring formula is recommended starting point)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Qdrant collections normalize vectors for cosine as dot-product over normalized vectors: https://qdrant.tech/documentation/concepts/collections/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 (API spec is original)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HNSW parameter tradeoffs (latency vs recall): https://opensearch.org/blog/a-practical-guide-to-selecting-hnsw-hyperparameters/
- Qdrant HNSW parameters: https://qdrant.tech/course/essentials/day-2/what-is-hnsw/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HDBSCAN outliers/noise label -1: https://hdbscan.readthedocs.io/en/latest/api.html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None (evaluation plan)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B"/>
          </a:solidFill>
          <a:ln w="12700">
            <a:solidFill>
              <a:srgbClr val="0B1F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1188720"/>
            <a:ext cx="11185855" cy="292608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691640"/>
            <a:ext cx="101800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以圖搜報告的 RAG 系統設計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05840" y="2487168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Auto-cluster（自動歸納類別）| PPT（&gt;10k）| Daily Incremental Ingestion | 100 concurrent | 1–10s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3063240"/>
            <a:ext cx="5852160" cy="594360"/>
          </a:xfrm>
          <a:prstGeom prst="round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31821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輸入：分析照片 + 文字描述 → 輸出：Top N 報告 + 頁碼 + bbox + 相似原因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297680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Spec v1 | 2025-12-17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1/16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目標與約束（SLO / Constraints）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以工程可落地為優先：快、準、可擴展、可持續演進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64328" cy="448056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目標（What success looks like）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4815688" cy="117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以「分析照片 + 描述」找出最相關的 PPT 報告（deck-level Top N）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回傳：命中頁碼（slide_no）+ 框選 bbox + 可驗證的相似原因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相似定義：同一分析模板 / 同一類指標（畫面可不同）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多使用者同時查詢：~100 concurrent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4448" y="1417320"/>
            <a:ext cx="5364328" cy="448056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3048" y="1581912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約束（Engineering constraints）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98768" y="1783080"/>
            <a:ext cx="4815688" cy="117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資料規模：&gt;10,000 份 PPT（每日新增，需增量索引）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延遲目標：1–10 秒（p95 建議 ≤ 5 秒）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無權限控管（ACL=none），但保留擴充點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 region-level 索引為主（支援 bbox），slide-level 作兜底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2/16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問題定義（Inputs / Outputs / Similarity）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將「以圖搜報告」拆成可實作的檢索與歸納任務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14173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輸入（Query）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3736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Query Image：分析照片（截圖/圖表/儀表板/指標圖等）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Query Text：使用者描述（指標名、模板、情境關鍵詞）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971800"/>
            <a:ext cx="5364328" cy="32461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3136392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輸出（Results）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337560"/>
            <a:ext cx="48156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N 報告（deck_id / filename / ppt_uri）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每份報告的 topM 命中證據：slide_no、bbox、crop_uri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Explain：分數分解（image/text/OCR）+ 關鍵詞/標籤命中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4448" y="2971800"/>
            <a:ext cx="5364328" cy="32461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3048" y="3136392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相似定義（What “relevant” means）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98768" y="3337560"/>
            <a:ext cx="48156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同模板 / 同指標：即使畫面不同（角度、配色、資料區間）仍需命中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因此必須融合：視覺結構（layout）+ 指標語意（OCR/描述）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檢索單位以「region」為主，確保 bbox 可回傳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3/16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高階架構（High-level Architecture）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建索引 + Online 多階段檢索（Hybrid + Rerank + 聚合）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669280" cy="48463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Offline：Ingestion &amp; Indexing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029200" cy="502920"/>
          </a:xfrm>
          <a:prstGeom prst="roundRect">
            <a:avLst/>
          </a:prstGeom>
          <a:solidFill>
            <a:srgbClr val="102E58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87552" y="1938528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PPT 上傳 → 物件儲存（PPTX）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441448"/>
            <a:ext cx="5029200" cy="5029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2551176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Render：slide images（每頁 PNG）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054096"/>
            <a:ext cx="5029200" cy="502920"/>
          </a:xfrm>
          <a:prstGeom prst="roundRect">
            <a:avLst/>
          </a:prstGeom>
          <a:solidFill>
            <a:srgbClr val="102E58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3163824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Region：bbox 偵測 + crop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666744"/>
            <a:ext cx="5029200" cy="5029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3776472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OCR + Caption（離線）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4279392"/>
            <a:ext cx="5029200" cy="502920"/>
          </a:xfrm>
          <a:prstGeom prst="roundRect">
            <a:avLst/>
          </a:prstGeom>
          <a:solidFill>
            <a:srgbClr val="102E58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4389120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Embedding：image/text vectors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5029200" cy="5029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5001768"/>
            <a:ext cx="47000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6) Upsert：VectorDB + Postgres metadata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1417320"/>
            <a:ext cx="5287975" cy="48463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629400" y="1581912"/>
            <a:ext cx="48307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Online：Search &amp; Ranking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20840" y="1828800"/>
            <a:ext cx="4830775" cy="502920"/>
          </a:xfrm>
          <a:prstGeom prst="roundRect">
            <a:avLst/>
          </a:prstGeom>
          <a:solidFill>
            <a:srgbClr val="103462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85432" y="1938528"/>
            <a:ext cx="450159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A) Query：image + description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20840" y="2441448"/>
            <a:ext cx="4830775" cy="5029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2551176"/>
            <a:ext cx="450159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B) Embed：q_img_vec + q_txt_vec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20840" y="3054096"/>
            <a:ext cx="4830775" cy="502920"/>
          </a:xfrm>
          <a:prstGeom prst="roundRect">
            <a:avLst/>
          </a:prstGeom>
          <a:solidFill>
            <a:srgbClr val="103462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85432" y="3163824"/>
            <a:ext cx="450159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C) Gating：macro_cluster Top1~2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720840" y="3666744"/>
            <a:ext cx="4830775" cy="5029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3776472"/>
            <a:ext cx="450159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D) Hybrid Recall：img TopK ∪ txt TopK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720840" y="4279392"/>
            <a:ext cx="4830775" cy="502920"/>
          </a:xfrm>
          <a:prstGeom prst="roundRect">
            <a:avLst/>
          </a:prstGeom>
          <a:solidFill>
            <a:srgbClr val="103462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85432" y="4389120"/>
            <a:ext cx="450159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E) Rerank：融合分數 + 證據抽取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720840" y="4892040"/>
            <a:ext cx="4830775" cy="5029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85432" y="5001768"/>
            <a:ext cx="4501591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F) Deck 聚合：Top N 報告 + bbox/原因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943600" y="2377440"/>
            <a:ext cx="411480" cy="1737360"/>
          </a:xfrm>
          <a:prstGeom prst="roundRect">
            <a:avLst/>
          </a:prstGeom>
          <a:solidFill>
            <a:srgbClr val="1FB6A6"/>
          </a:solidFill>
          <a:ln w="12700">
            <a:solidFill>
              <a:srgbClr val="1FB6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2487168"/>
            <a:ext cx="7772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89320" y="2057400"/>
            <a:ext cx="411480" cy="0"/>
          </a:xfrm>
          <a:prstGeom prst="line">
            <a:avLst/>
          </a:prstGeom>
          <a:noFill/>
          <a:ln w="25400">
            <a:solidFill>
              <a:srgbClr val="2D6CDF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989320" y="4526280"/>
            <a:ext cx="411480" cy="0"/>
          </a:xfrm>
          <a:prstGeom prst="line">
            <a:avLst/>
          </a:prstGeom>
          <a:noFill/>
          <a:ln w="25400">
            <a:solidFill>
              <a:srgbClr val="2D6CDF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400800" y="3291840"/>
            <a:ext cx="-411480" cy="0"/>
          </a:xfrm>
          <a:prstGeom prst="line">
            <a:avLst/>
          </a:prstGeom>
          <a:noFill/>
          <a:ln w="25400">
            <a:solidFill>
              <a:srgbClr val="2D6CDF"/>
            </a:solidFill>
            <a:prstDash val="solid"/>
            <a:tailEnd type="triangle"/>
          </a:ln>
        </p:spPr>
      </p:sp>
      <p:sp>
        <p:nvSpPr>
          <p:cNvPr id="38" name="Shape 35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4/16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Offline：Ingestion Pipeline（每日新增）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增量索引：Queue 驅動 + 可水平擴展的 worker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任務切分（Workers / Services）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926275" cy="452628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1926275" cy="502920"/>
          </a:xfrm>
          <a:prstGeom prst="round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3852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87552" y="2514600"/>
            <a:ext cx="159709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PPTX → slide PNG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 MinIO（slides/）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產生 slide metadata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77835" y="1828800"/>
            <a:ext cx="1926275" cy="452628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7835" y="1828800"/>
            <a:ext cx="1926275" cy="502920"/>
          </a:xfrm>
          <a:prstGeom prst="round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7835" y="193852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42427" y="2514600"/>
            <a:ext cx="159709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優先：PPT shape bbox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兜底：CV 版面切割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crop → regions/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32710" y="1828800"/>
            <a:ext cx="1926275" cy="452628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32710" y="1828800"/>
            <a:ext cx="1926275" cy="502920"/>
          </a:xfrm>
          <a:prstGeom prst="round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32710" y="193852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97302" y="2514600"/>
            <a:ext cx="159709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OCR（離線）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Caption/tags（可延後補）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 queryable_text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87585" y="1828800"/>
            <a:ext cx="1926275" cy="452628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87585" y="1828800"/>
            <a:ext cx="1926275" cy="502920"/>
          </a:xfrm>
          <a:prstGeom prst="round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87585" y="193852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52177" y="2514600"/>
            <a:ext cx="159709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v_img（GPU）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v_txt（GPU/CPU）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寫入 Qdrant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442460" y="1828800"/>
            <a:ext cx="1926275" cy="452628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42460" y="1828800"/>
            <a:ext cx="1926275" cy="502920"/>
          </a:xfrm>
          <a:prstGeom prst="roundRect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42460" y="1938528"/>
            <a:ext cx="1926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Upsert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7052" y="2514600"/>
            <a:ext cx="159709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Postgres（decks/slides/regions）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payload（deck/slide/bbox）</a:t>
            </a:r>
            <a:endParaRPr lang="en-US" sz="1200" dirty="0"/>
          </a:p>
          <a:p>
            <a:pPr marL="152400" indent="-152400">
              <a:buSzPct val="100000"/>
              <a:buChar char="•"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去重：checksum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571500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建議：Kafka / RabbitMQ / SQS（確保每日增量可持續吞吐；失敗可重試）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Region（bbox）產生規格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輸出 bbox 是你的核心需求：必須穩定、可追溯、可擴充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64328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優先策略：PPT 版面資訊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481568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若分析圖以「內嵌圖片/shape」形式存在，直接取 shape bbox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 bbox 映射到 slide render 的像素座標系（x1,y1,x2,y2）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優點：準確、成本低、可對應回 PPT 元素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24448" y="1417320"/>
            <a:ext cx="5364328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3048" y="1581912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兜底策略：CV 版面切割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98768" y="1783080"/>
            <a:ext cx="4815688" cy="117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對 slide image 做背景/白邊處理 → 找大內容矩形區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連通域/邊緣/形態學：合併小碎片，避免切太碎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限制每頁 region 上限（例如 ≤8）以控噪與控成本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 bbox 品質不足，後續可升級：訓練 detector（chart/dashboard）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6/16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特徵生成（Multi-signal Features）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用多模態訊號對齊「同模板/同指標」：Image + OCR + Caption + User description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region 需產出並保存的欄位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545775" cy="594360"/>
          </a:xfrm>
          <a:prstGeom prst="roundRect">
            <a:avLst/>
          </a:prstGeom>
          <a:solidFill>
            <a:srgbClr val="102E58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75104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v_img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0" y="1975104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圖像向量（模板/布局/圖形結構）→ 用於 image ANN recall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2532888"/>
            <a:ext cx="10545775" cy="59436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79192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ocr_text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43200" y="2679192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文字（指標名/標題/參數/數字）→ explain 與 rerank 強特徵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236976"/>
            <a:ext cx="10545775" cy="594360"/>
          </a:xfrm>
          <a:prstGeom prst="roundRect">
            <a:avLst/>
          </a:prstGeom>
          <a:solidFill>
            <a:srgbClr val="102E58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3832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caption_text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383280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離線生成短描述 + tags（語意化補強）→ 文字 ANN recall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3941064"/>
            <a:ext cx="10545775" cy="59436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08736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queryable_text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4087368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 + ocr + caption 組合 → 生成 v_txt（文字向量）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4645152"/>
            <a:ext cx="10545775" cy="594360"/>
          </a:xfrm>
          <a:prstGeom prst="roundRect">
            <a:avLst/>
          </a:prstGeom>
          <a:solidFill>
            <a:srgbClr val="102E58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791456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4791456"/>
            <a:ext cx="84426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deck_id / slide_no / bbox / crop_uri → 支援回傳框選與追溯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5669280"/>
            <a:ext cx="10545775" cy="548640"/>
          </a:xfrm>
          <a:prstGeom prst="roundRect">
            <a:avLst/>
          </a:prstGeom>
          <a:solidFill>
            <a:srgbClr val="1FB6A6"/>
          </a:solidFill>
          <a:ln w="12700">
            <a:solidFill>
              <a:srgbClr val="1FB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5797296"/>
            <a:ext cx="101800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關鍵：線上 Query 同時產生 q_img_vec + q_txt_vec（使用者描述是主力訊號）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7/16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自動歸納類別（Clustering）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micro（模板/指標群）→ macro（6 群 gating）| 每週重建 + 每日指派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897880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 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486400" cy="131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輸入：region vectors（v_img, v_txt）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融合：v_fuse = concat(norm(v_img), norm(v_txt)) 或加權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 clustering：HDBSCAN（自動決定群數；outlier=-1）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 clustering：以 micro centroid 再聚成 6 群（KMeans/Agglomerative）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寫回：region_clusters（micro_id, macro_id）+ 更新 VectorDB payload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29400" y="1417320"/>
            <a:ext cx="5059375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0" y="1581912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穩定化策略（避免群漂移）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949440" y="1874520"/>
            <a:ext cx="460217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Weekly：全量/抽樣重建 micro/macro（品質提升）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Daily：新增資料只做 assignment → 指派到既有 micro centroid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查詢 gating：macro Top1~2（容錯）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Outlier（micro=-1）：保留在 macro 或落入全域兜底索引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8/16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VectorDB（Qdrant）索引設計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為主索引：兩個 collection（image/text）+ payload filter（macro/micro）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64328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Collections（版本化）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4815688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regions_img_v1：vector=v_img（Cosine）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regions_txt_v1：vector=v_txt（Cosine）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payload：region_id, deck_id, slide_no, bbox, crop_uri, macro_id, micro_id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後續可加：slides_img_v1 作兜底（整頁）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1417320"/>
            <a:ext cx="5364328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3048" y="1581912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Payload Index（filter 性能）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98768" y="1828800"/>
            <a:ext cx="4815688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必建 payload index：macro_cluster_id（int）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常用：deck_id（keyword）、slide_no（int）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可選：micro_cluster_id（int/long）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目的：filter cardinality 估計 + 更快的 query planning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5715000"/>
            <a:ext cx="11185855" cy="502920"/>
          </a:xfrm>
          <a:prstGeom prst="roundRect">
            <a:avLst/>
          </a:prstGeom>
          <a:solidFill>
            <a:srgbClr val="102E58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833872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HNSW 起跑值（可調）：m=32, ef_construct=256, ef_search=64~256（在 recall/latency/記憶體間取捨）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9/16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Search（端到端流程）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Gating → Hybrid Recall → Rerank → Deck Aggregation → Explain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流程（建議預設：macro Top1；低信心時升級 Top2）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45775" cy="1813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Embed：q_img_vec（圖）+ q_txt_vec（描述）+ q_fuse_vec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Gating：以 q_fuse_vec 找 macro_cluster Top1~2（縮小搜尋空間）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Recall：img TopK（regions_img_v1）∪ txt TopK（regions_txt_v1）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Union 去重：以 region_id 合併候選（≤1000）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Rerank：融合分數 + OCR/標籤證據；取 topR（例如 50）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6) Deck 聚合：max + hit_count bonus → Top N 報告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7) 回傳：deck + slide_no + bbox + explain（可驗證）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10/16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 / 聚合 / Explain（可驗證）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避免「看起來像」的誤判：分數拆解 + 證據可視化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897880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Rerank（融合分數）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0.45·S_txt + 0.40·S_img + 0.10·S_ocr + 0.05·B_cluster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5486400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S_img：image cosine similarity（模板/布局/結構）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S_txt：text cosine similarity（描述 vs queryable_text）— 對「同指標」最關鍵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S_ocr：關鍵詞匹配（BM25 或 overlap）— 用於拉近指標名/參數一致的候選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B_cluster：micro 一致或同 macro 的加分（0~0.1）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29400" y="1417320"/>
            <a:ext cx="5059375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0" y="1581912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Explain（輸出證據）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9440" y="1874520"/>
            <a:ext cx="4602175" cy="131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bbox 高亮：slide preview + 框選命中 region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分數分解：S_img / S_txt / S_ocr / bonus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關鍵詞：與 query 描述重疊的詞（指標名/參數）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caption/tags 命中短語（若啟用）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證據：macro/micro id（同模板群）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PostgreSQL：資料模型（核心表）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將「可追溯」作為第一原則：deck → slide → region → cluster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10545775" cy="2834640"/>
          </a:xfrm>
          <a:prstGeom prst="roundRect">
            <a:avLst/>
          </a:prstGeom>
          <a:solidFill>
            <a:srgbClr val="0A1326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93392"/>
            <a:ext cx="10180015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decks(deck_id, filename, checksum_sha256, ppt_uri, slide_count, created_at)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slides(slide_id, deck_id, slide_no, slide_image_uri, width, height, title_text)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regions(region_id, deck_id, slide_id, slide_no, bbox(x1,y1,x2,y2), crop_uri, ocr_text, caption_text, queryable_text)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region_clusters(region_id, micro_cluster_id, macro_cluster_id, assigned_at)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ingestion_jobs(job_id, status, deck_id, error_message, created_at, updated_at)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800600"/>
            <a:ext cx="1054577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索引單位：支援 bbox、回溯到 PPT/頁碼、支援重建向量/聚類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checksum_sha256：用於去重與重入庫安全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queryable_text：離線組合（title + OCR + caption）供 v_txt 計算與 explain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規格（可直接實作）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/ Ingest / Job status | 回傳含 bbox 與 explain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897880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5440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POST /v1/search (multipart)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5486400" cy="1508760"/>
          </a:xfrm>
          <a:prstGeom prst="roundRect">
            <a:avLst/>
          </a:prstGeom>
          <a:solidFill>
            <a:srgbClr val="0A1326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993392"/>
            <a:ext cx="5120640" cy="1179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image: file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text: string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top_n: int (default 20)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macro_top: int (default 1)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k_img: int (default 500)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k_txt: int (default 500)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5486400" cy="3063240"/>
          </a:xfrm>
          <a:prstGeom prst="roundRect">
            <a:avLst/>
          </a:prstGeom>
          <a:solidFill>
            <a:srgbClr val="0A1326"/>
          </a:solidFill>
          <a:ln w="12700">
            <a:solidFill>
              <a:srgbClr val="2A4A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685032"/>
            <a:ext cx="5120640" cy="2734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"results"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"deck_id"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"filename"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"..."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"matches"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"slide_no"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"bbox"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"y1"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"x2"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"y2"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540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"region_score"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0.81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"explain"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"macro_cluster_id"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"micro_cluster_id"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38192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"score_breakdown"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"s_img"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0.78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"s_txt"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0.84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"s_ocr"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0.55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"bonus"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0.03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"evidence"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"ocr_keywords"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"RSI"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"support"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pPr indent="0" marL="0">
              <a:buNone/>
            </a:pP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"text_overlap"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"RSI"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29400" y="1417320"/>
            <a:ext cx="5059375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1581912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Ingestion APIs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1874520"/>
            <a:ext cx="4602175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/v1/ingest/ppt：上傳 PPTX → 回 job_id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/v1/ingest/jobs/{job_id}：查狀態 queued/running/succeeded/failed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（內部）POST /v1/admin/cluster/rebuild：週期性重建 micro/macro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錯誤處理：失敗可重試；保留 error_message 與輸入 checksum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部署拓撲（100 concurrent）與 SLO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服務拆分 + 水平擴展 + 快取：控制 p95 在 1–10 秒內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64328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/ Docker 服務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815688" cy="131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api-search（2–4 replicas）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api-ingest + workers（依每日量擴）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svc-embed（GPU；可 autoscale）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/ Postgres / MinIO（獨立 Stateful）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Redis（可選）：cache + job 狀態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1417320"/>
            <a:ext cx="5364328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3048" y="1581912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 &amp; Latency Budget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98768" y="1874520"/>
            <a:ext cx="4815688" cy="1310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向量粗搜（2 次）：~100–300ms（視 ef_search/TopK）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Union + metadata lookup：~50–200ms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Rerank（TopK≤1000）：~300–1500ms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聚合 + explain 組裝：~50–200ms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若啟用線上 OCR/Caption：建議非預設（易超 10s）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14/16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交付路線圖（MVP → 強化）與風險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先端到端可用，再用 clustering/metric learning 把「同指標」命中率拉起來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364328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Roadmap（建議 3 phases）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81568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1（可用）：PPT→slide/region + OCR + embedding + Qdrant + /search 回傳 bbox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2（更準）：離線 caption + weekly micro/macro clustering + daily assignment + rerank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3（同指標更強）：以 micro_cluster 作偽標籤做 metric learning 微調向量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24448" y="1417320"/>
            <a:ext cx="5364328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53048" y="1581912"/>
            <a:ext cx="49071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&amp; Mitigations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98768" y="1874520"/>
            <a:ext cx="4815688" cy="1112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bbox 噪音：優先 shape bbox；CV 兜底加上最小面積/合併規則；必要時訓練 detector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群漂移：weekly 重建 + daily assignment；macro Top2 gating 容錯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誤讀：保留原文 + keyword 清洗；rerank 只把 OCR 作加分而非硬約束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延遲風險：預設不跑線上 caption/OCR；TopK/ef_search 可調；cache 熱門查詢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15/16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監控與評測（No external photos required）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02920" y="896112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用庫內資料做 holdout 自動評測，持續迭代權重與聚類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1185855" cy="5303520"/>
          </a:xfrm>
          <a:prstGeom prst="roundRect">
            <a:avLst/>
          </a:prstGeom>
          <a:solidFill>
            <a:srgbClr val="0F2A4D"/>
          </a:solidFill>
          <a:ln w="12700">
            <a:solidFill>
              <a:srgbClr val="2A4A74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81912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&amp; Ops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45775" cy="1173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離線評測：抽 5–10% region 作 query（holdout），量測 deck-level Top1/Top5、MRR、nDCG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線上監控：p50/p95 latency、QPS、error rate、topK sizes、cache hit rate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聚類健康度：outlier 率（micro=-1）、cluster size 分布、weekly drift 對比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品質閉環：收集失敗案例 → 調整權重 / 聚類參數 /（Phase3）微調向量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2920" y="6464808"/>
            <a:ext cx="11185855" cy="0"/>
          </a:xfrm>
          <a:prstGeom prst="line">
            <a:avLst/>
          </a:prstGeom>
          <a:noFill/>
          <a:ln w="12700">
            <a:solidFill>
              <a:srgbClr val="2A4A7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6537960"/>
            <a:ext cx="98142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Image-to-Report RAG | Auto-cluster Design Spec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774375" y="6537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—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Image-to-Report RAG（Auto-cluster）Design Spec</dc:title>
  <dc:subject>Image-to-Report RAG System Design</dc:subject>
  <dc:creator>ChatGPT</dc:creator>
  <cp:lastModifiedBy>ChatGPT</cp:lastModifiedBy>
  <cp:revision>1</cp:revision>
  <dcterms:created xsi:type="dcterms:W3CDTF">2025-12-17T12:34:22Z</dcterms:created>
  <dcterms:modified xsi:type="dcterms:W3CDTF">2025-12-17T12:34:22Z</dcterms:modified>
</cp:coreProperties>
</file>