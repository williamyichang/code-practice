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1323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HARNESS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6309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F172A"/>
                </a:solidFill>
              </a:rPr>
              <a:t>從 Prompt 到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0F172A"/>
                </a:solidFill>
              </a:rPr>
              <a:t>可運行的 Agent 系統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58368" y="250545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教材式 × 工具書式簡報｜專業但淺顯易懂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3154680"/>
            <a:ext cx="1371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436608" y="3154680"/>
            <a:ext cx="12801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715000" y="2496312"/>
            <a:ext cx="1325880" cy="111556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Prompt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單次指令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39328" y="2496312"/>
            <a:ext cx="1325880" cy="1115568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Context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任務環境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51592" y="2286000"/>
            <a:ext cx="1508760" cy="1517904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Harness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運行系統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5989320"/>
            <a:ext cx="10789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617220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</a:rPr>
              <a:t>核心主張：Agent 不是只有模型，而是「Model + Harness」。Harness 把模型放進可控制、可驗證、可迭代的工作系統。</a:t>
            </a:r>
            <a:endParaRPr lang="en-US" sz="12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這份簡報如何閱讀：先懂概念，再學方法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502920" cy="411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99032" y="1435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概念導入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99032" y="1764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先建立 Agent / Harness / Context 的直覺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2423160"/>
            <a:ext cx="3429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417320"/>
            <a:ext cx="502920" cy="4114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48072" y="1435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縱向發展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148072" y="1764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從 Prompt 到平台工程的演化故事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62272" y="2423160"/>
            <a:ext cx="3429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1417320"/>
            <a:ext cx="502920" cy="4114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97112" y="1435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橫向比較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897112" y="1764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不同工具與方法的邊界與定位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11312" y="2423160"/>
            <a:ext cx="3429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807208"/>
            <a:ext cx="502920" cy="4114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99032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生態位戰略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99032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Harness 在團隊與產品中的價值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3813048"/>
            <a:ext cx="3429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2807208"/>
            <a:ext cx="502920" cy="4114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48072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實作工具書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148072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流程、Schema、評估與人類閘門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62272" y="3813048"/>
            <a:ext cx="3429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2807208"/>
            <a:ext cx="502920" cy="41148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97112" y="2825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未來趨勢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897112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Agent 工程走向可治理與可量測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11312" y="3813048"/>
            <a:ext cx="3429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010912"/>
            <a:ext cx="10287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適合對象：沒有接觸過 DevOps / CI/CD / Platform Engineering 的初學者，也適合正在設計 Agent 流程的人作為架構檢查表。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為什麼只靠 Prompt 不夠？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98448"/>
            <a:ext cx="109728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把模型想成一位很聰明的實習生：Prompt 是你說的任務，Harness 是讓他能安全做事的辦公制度。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2542032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11D48"/>
                </a:solidFill>
              </a:rPr>
              <a:t>單次回答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386584"/>
            <a:ext cx="2542032" cy="402336"/>
          </a:xfrm>
          <a:prstGeom prst="rect">
            <a:avLst/>
          </a:prstGeom>
          <a:solidFill>
            <a:srgbClr val="F8FAFC"/>
          </a:solidFill>
          <a:ln>
            <a:solidFill>
              <a:srgbClr val="F8FAFC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475569"/>
                </a:solidFill>
              </a:rPr>
              <a:t>只處理眼前問題，很難保證下次一致。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777240" y="2862072"/>
            <a:ext cx="2542032" cy="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965960"/>
            <a:ext cx="2542032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</a:rPr>
              <a:t>缺少工具邊界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749040" y="2386584"/>
            <a:ext cx="2542032" cy="402336"/>
          </a:xfrm>
          <a:prstGeom prst="rect">
            <a:avLst/>
          </a:prstGeom>
          <a:solidFill>
            <a:srgbClr val="F8FAFC"/>
          </a:solidFill>
          <a:ln>
            <a:solidFill>
              <a:srgbClr val="F8FAFC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475569"/>
                </a:solidFill>
              </a:rPr>
              <a:t>模型不知道何時該查資料、何時該呼叫 API。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3749040" y="2862072"/>
            <a:ext cx="254203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27832"/>
            <a:ext cx="2542032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</a:rPr>
              <a:t>不可驗證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77240" y="3648456"/>
            <a:ext cx="2542032" cy="402336"/>
          </a:xfrm>
          <a:prstGeom prst="rect">
            <a:avLst/>
          </a:prstGeom>
          <a:solidFill>
            <a:srgbClr val="F8FAFC"/>
          </a:solidFill>
          <a:ln>
            <a:solidFill>
              <a:srgbClr val="F8FAFC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475569"/>
                </a:solidFill>
              </a:rPr>
              <a:t>沒有測試、日誌、評分與回歸檢查。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777240" y="4123944"/>
            <a:ext cx="254203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3227832"/>
            <a:ext cx="2542032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</a:rPr>
              <a:t>難以治理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749040" y="3648456"/>
            <a:ext cx="2542032" cy="402336"/>
          </a:xfrm>
          <a:prstGeom prst="rect">
            <a:avLst/>
          </a:prstGeom>
          <a:solidFill>
            <a:srgbClr val="F8FAFC"/>
          </a:solidFill>
          <a:ln>
            <a:solidFill>
              <a:srgbClr val="F8FAFC">
                <a:alpha val="0"/>
              </a:srgbClr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475569"/>
                </a:solidFill>
              </a:rPr>
              <a:t>出錯後很難追蹤原因，也難以設計人類審核。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3749040" y="4123944"/>
            <a:ext cx="2542032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148840"/>
            <a:ext cx="1463040" cy="731520"/>
          </a:xfrm>
          <a:prstGeom prst="rect">
            <a:avLst/>
          </a:prstGeom>
          <a:solidFill>
            <a:srgbClr val="FFE4E6"/>
          </a:solidFill>
          <a:ln w="15240">
            <a:solidFill>
              <a:srgbClr val="E11D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1D48"/>
                </a:solidFill>
              </a:rPr>
              <a:t>Prompt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11D48"/>
                </a:solidFill>
              </a:rPr>
              <a:t>= 指令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15400" y="2514600"/>
            <a:ext cx="10972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012680" y="2148840"/>
            <a:ext cx="1463040" cy="73152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模型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= 能力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744200" y="2971800"/>
            <a:ext cx="0" cy="91440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829800" y="3977640"/>
            <a:ext cx="1828800" cy="73152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結果可能好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但不穩定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5166360"/>
            <a:ext cx="4343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的作用：把「聰明」轉成「可靠」。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核心公式：Agent = Model + Harness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31720"/>
            <a:ext cx="2286000" cy="105156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Model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語言理解／推理／生成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01568" y="2487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75569"/>
                </a:solidFill>
              </a:rPr>
              <a:t>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06240" y="2331720"/>
            <a:ext cx="2743200" cy="1051560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Harness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上下文／工具／流程／評估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2487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75569"/>
                </a:solidFill>
              </a:rPr>
              <a:t>=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92440" y="2148840"/>
            <a:ext cx="3108960" cy="141732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Agent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可執行的工作系統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4251960"/>
            <a:ext cx="996696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</a:rPr>
              <a:t>Model 提供能力，但不等於產品。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</a:rPr>
              <a:t>Harness 決定模型如何被使用、如何被限制、如何被檢查。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</a:rPr>
              <a:t>真正有價值的 Agent，是能在流程中穩定完成任務的系統。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三層理解法：Prompt → Context → Harness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57400" y="1600200"/>
            <a:ext cx="8046720" cy="65836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Prompt：一句或一段任務指令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81328" y="2514600"/>
            <a:ext cx="9189720" cy="749808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Context：任務資料、限制、角色、輸入輸出格式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0332720" cy="84124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Harness：工具、記憶、RAG、工作流、評估、人類閘門、日誌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5074920"/>
            <a:ext cx="1019556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直覺：Prompt 是「說什麼」，Context 是「知道什麼」，Harness 是「怎麼可靠地做」。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架構總覽：把模型放進運行環境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2834640"/>
            <a:ext cx="1097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43400" y="2834640"/>
            <a:ext cx="1097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78040" y="2834640"/>
            <a:ext cx="1097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29800" y="2834640"/>
            <a:ext cx="10972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10972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問題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2286000"/>
            <a:ext cx="1554480" cy="1097280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Context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Builder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2286000"/>
            <a:ext cx="1737360" cy="10972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286000"/>
            <a:ext cx="1600200" cy="109728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Tools / 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API / RAG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27080" y="2331720"/>
            <a:ext cx="1051560" cy="1005840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Answer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可交付輸出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3456432"/>
            <a:ext cx="0" cy="932688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251960" y="4462272"/>
            <a:ext cx="4160520" cy="68580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Evaluation / Logs / Human Gate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評估・日誌・人類審核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596128"/>
            <a:ext cx="1069848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重點：Harness 不是單一工具，而是一層「操作系統」；它讓 Agent 能接資料、用工具、被檢查、可追蹤。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縱向發展故事：從「問答」演化到「平台」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926080"/>
            <a:ext cx="777240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977640" y="2926080"/>
            <a:ext cx="777240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126480" y="2926080"/>
            <a:ext cx="777240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75320" y="2926080"/>
            <a:ext cx="777240" cy="0"/>
          </a:xfrm>
          <a:prstGeom prst="line">
            <a:avLst/>
          </a:prstGeom>
          <a:noFill/>
          <a:ln w="1651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1856232"/>
            <a:ext cx="502920" cy="45720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Prompt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1691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單次問答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依賴提示品質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2834640" y="1856232"/>
            <a:ext cx="502920" cy="457200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Workflow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697480" y="3127248"/>
            <a:ext cx="1691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多步驟流程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任務可拆解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983480" y="1856232"/>
            <a:ext cx="502920" cy="45720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Tool Use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46320" y="3127248"/>
            <a:ext cx="1691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呼叫資料庫/API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開始做事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7132320" y="1856232"/>
            <a:ext cx="502920" cy="45720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Evaluation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95160" y="3127248"/>
            <a:ext cx="1691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測試、評分、回歸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品質可量測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9281160" y="1856232"/>
            <a:ext cx="502920" cy="457200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81160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Platform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0" y="3127248"/>
            <a:ext cx="1691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多人協作、治理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可部署可維運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1143000" y="4937760"/>
            <a:ext cx="98755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這條路線的本質：把「模型能力」逐步包裝成「工程能力」。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橫向比較：不同做法解決不同層級的問題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1965960" cy="411480"/>
          </a:xfrm>
          <a:prstGeom prst="rect">
            <a:avLst/>
          </a:prstGeom>
          <a:solidFill>
            <a:srgbClr val="0F172A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方法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24328" y="1417320"/>
            <a:ext cx="2971800" cy="411480"/>
          </a:xfrm>
          <a:prstGeom prst="rect">
            <a:avLst/>
          </a:prstGeom>
          <a:solidFill>
            <a:srgbClr val="0F172A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主要解決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596128" y="1417320"/>
            <a:ext cx="2971800" cy="411480"/>
          </a:xfrm>
          <a:prstGeom prst="rect">
            <a:avLst/>
          </a:prstGeom>
          <a:solidFill>
            <a:srgbClr val="0F172A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優點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67928" y="1417320"/>
            <a:ext cx="2971800" cy="411480"/>
          </a:xfrm>
          <a:prstGeom prst="rect">
            <a:avLst/>
          </a:prstGeom>
          <a:solidFill>
            <a:srgbClr val="0F172A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限制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1828800"/>
            <a:ext cx="196596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</a:rPr>
              <a:t>Prompt Template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2624328" y="1828800"/>
            <a:ext cx="2971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固定輸入輸出格式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5596128" y="1828800"/>
            <a:ext cx="2971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快、容易開始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567928" y="1828800"/>
            <a:ext cx="2971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缺少工具與評估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58368" y="2487168"/>
            <a:ext cx="1965960" cy="65836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</a:rPr>
              <a:t>Langflow / Visual Flow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2624328" y="2487168"/>
            <a:ext cx="2971800" cy="65836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可視化流程編排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5596128" y="2487168"/>
            <a:ext cx="2971800" cy="65836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直覺、方便教學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8567928" y="2487168"/>
            <a:ext cx="2971800" cy="65836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複雜後需工程治理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58368" y="3145536"/>
            <a:ext cx="196596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</a:rPr>
              <a:t>Agent SDK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2624328" y="3145536"/>
            <a:ext cx="2971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程式化控制 Agent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5596128" y="3145536"/>
            <a:ext cx="2971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可測試、可整合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8567928" y="3145536"/>
            <a:ext cx="29718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需要工程能力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58368" y="3803904"/>
            <a:ext cx="1965960" cy="65836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172A"/>
                </a:solidFill>
              </a:rPr>
              <a:t>Platform Engineering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2624328" y="3803904"/>
            <a:ext cx="2971800" cy="65836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部署、監控、權限與治理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5596128" y="3803904"/>
            <a:ext cx="2971800" cy="65836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可規模化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8567928" y="3803904"/>
            <a:ext cx="2971800" cy="658368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</a:rPr>
              <a:t>導入成本較高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914400" y="5806440"/>
            <a:ext cx="10241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工具選型原則：不是選「最強」，而是選「最適合目前成熟度」。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08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兩個重要契約：System Prompt 與 Query Schema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2880360" cy="10972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System Prompt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規定 Agent 如何理解與判斷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2514600"/>
            <a:ext cx="11887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166360" y="1965960"/>
            <a:ext cx="2057400" cy="1097280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Agent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語意轉譯與任務拆解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2514600"/>
            <a:ext cx="11887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549640" y="1965960"/>
            <a:ext cx="2788920" cy="109728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Query Schema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結構化輸出介面契約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18288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關鍵澄清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10424160" cy="9875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System Prompt 管理「理解行為」：Agent 應該怎麼讀問題、怎麼避免誤解。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Query Schema 管理「輸出介面」：讓資料庫與下一個 Agent 能穩定接收。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Schema 不是防止誤解的魔法；它是解讀之後產生的工程契約。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Langflow 範例：資料查詢型 Agent 流程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788920"/>
            <a:ext cx="43891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37560" y="2788920"/>
            <a:ext cx="53035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120640" y="2788920"/>
            <a:ext cx="512064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85432" y="2788920"/>
            <a:ext cx="4572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95360" y="2788920"/>
            <a:ext cx="57607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424160" y="2788920"/>
            <a:ext cx="30175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114300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0F172A"/>
                </a:solidFill>
              </a:rPr>
              <a:t>Chat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0F172A"/>
                </a:solidFill>
              </a:rPr>
              <a:t>Input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2194560" y="2331720"/>
            <a:ext cx="1143000" cy="91440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2563EB"/>
                </a:solidFill>
              </a:rPr>
              <a:t>System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2563EB"/>
                </a:solidFill>
              </a:rPr>
              <a:t>Prompt 1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3977640" y="2331720"/>
            <a:ext cx="1143000" cy="914400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0F766E"/>
                </a:solidFill>
              </a:rPr>
              <a:t>Agent 1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0F766E"/>
                </a:solidFill>
              </a:rPr>
              <a:t>Query Schema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5742432" y="2331720"/>
            <a:ext cx="1143000" cy="91440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D97706"/>
                </a:solidFill>
              </a:rPr>
              <a:t>Database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D97706"/>
                </a:solidFill>
              </a:rPr>
              <a:t>查資料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7452360" y="2331720"/>
            <a:ext cx="1143000" cy="91440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2563EB"/>
                </a:solidFill>
              </a:rPr>
              <a:t>System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2563EB"/>
                </a:solidFill>
              </a:rPr>
              <a:t>Prompt 2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9281160" y="2331720"/>
            <a:ext cx="1143000" cy="91440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7C3AED"/>
                </a:solidFill>
              </a:rPr>
              <a:t>Agent 2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7C3AED"/>
                </a:solidFill>
              </a:rPr>
              <a:t>統計整理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10835640" y="2331720"/>
            <a:ext cx="1143000" cy="914400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6A34A"/>
                </a:solidFill>
              </a:rPr>
              <a:t>Chat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16A34A"/>
                </a:solidFill>
              </a:rPr>
              <a:t>Output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10241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這不是完整故障分析 Agent，而是「資料查詢 + 統計整理」的最小可行架構。優點是清楚、可教學、容易擴充。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SDK + Codex：把 Harness 變成可開發的工程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457200" cy="38404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定義任務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9000" y="13258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輸入、輸出、限制、成功標準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22960" y="2130552"/>
            <a:ext cx="457200" cy="384048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2130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定義工具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1305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DB、檔案、API、瀏覽器、RAG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822960" y="2935224"/>
            <a:ext cx="457200" cy="384048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2935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編排流程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9352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哪個 Agent 先做、誰負責檢查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22960" y="3739896"/>
            <a:ext cx="457200" cy="38404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3739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寫測試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373989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smoke test、回歸測試、截圖評審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822960" y="4544568"/>
            <a:ext cx="457200" cy="384048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4544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部署監控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45445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日誌、權限、人類閘門、版本管理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8823960" y="1965960"/>
            <a:ext cx="2423160" cy="13258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Codex 的角色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讀 repo → 修改程式 → 跑測試 → 迭代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5715000"/>
            <a:ext cx="102412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實務判斷：Codex 適合加速工程實作；Harness 則是你設計「怎麼讓 Agent 長期可靠運作」的架構藍圖。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品質核心：Evaluation Loop 讓 Agent 可以進步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31720"/>
            <a:ext cx="123444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Task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任務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2697480"/>
            <a:ext cx="13258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749040" y="2331720"/>
            <a:ext cx="1234440" cy="73152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Run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執行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2697480"/>
            <a:ext cx="13258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446520" y="2331720"/>
            <a:ext cx="1234440" cy="73152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Judge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評分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2697480"/>
            <a:ext cx="13258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0" y="2331720"/>
            <a:ext cx="1234440" cy="731520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Fix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修正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738360" y="3200400"/>
            <a:ext cx="-4069080" cy="146304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0" y="4663440"/>
            <a:ext cx="-2926080" cy="-146304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749040" y="4526280"/>
            <a:ext cx="3931920" cy="676656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Logs / Metrics / Screenshots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日誌・指標・截圖證據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5669280"/>
            <a:ext cx="1005840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沒有評估，Agent 就像沒有成績單的員工；你不知道它是進步、退步，還是只是看起來很會說。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生態位與戰略：Harness 是 Agent 產品的護城河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1325880"/>
            <a:ext cx="1828800" cy="65836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LLM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模型能力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2331720"/>
            <a:ext cx="1828800" cy="658368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Tools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工具連接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2331720"/>
            <a:ext cx="1828800" cy="658368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Data / RAG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資料記憶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3749040"/>
            <a:ext cx="1828800" cy="65836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Workflow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流程編排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0" y="3749040"/>
            <a:ext cx="1828800" cy="658368"/>
          </a:xfrm>
          <a:prstGeom prst="rect">
            <a:avLst/>
          </a:prstGeom>
          <a:solidFill>
            <a:srgbClr val="FFE4E6"/>
          </a:solidFill>
          <a:ln w="15240">
            <a:solidFill>
              <a:srgbClr val="E11D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1D48"/>
                </a:solidFill>
              </a:rPr>
              <a:t>Governance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11D48"/>
                </a:solidFill>
              </a:rPr>
              <a:t>權限評估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880360"/>
            <a:ext cx="28346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Harness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產品化控制層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984248"/>
            <a:ext cx="0" cy="85039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03320" y="2651760"/>
            <a:ext cx="914400" cy="5029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58200" y="2651760"/>
            <a:ext cx="-960120" cy="5029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03320" y="4069080"/>
            <a:ext cx="914400" cy="-457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58200" y="4069080"/>
            <a:ext cx="-960120" cy="-457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51560" y="5532120"/>
            <a:ext cx="100584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模型會越來越容易取得；但「把模型可靠地變成業務能力」的 Harness，會成為真正差異化。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案例：投資網站的 Agentic Data Query Harness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423160"/>
            <a:ext cx="62179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11880" y="2423160"/>
            <a:ext cx="75895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77840" y="2423160"/>
            <a:ext cx="80467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589520" y="2423160"/>
            <a:ext cx="75895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55480" y="2423160"/>
            <a:ext cx="484632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" y="1938528"/>
            <a:ext cx="1078992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自然語言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「找低估股票」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14600" y="1938528"/>
            <a:ext cx="1078992" cy="96012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Agent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意圖解析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0" y="1938528"/>
            <a:ext cx="1078992" cy="960120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Query Schema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篩選條件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1938528"/>
            <a:ext cx="1078992" cy="96012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Database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財報/營收/估值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58200" y="1938528"/>
            <a:ext cx="1078992" cy="96012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Agent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統計洞察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149840" y="1938528"/>
            <a:ext cx="1078992" cy="960120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報告/圖表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決策輸出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可接入的條件範例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4400" y="4233672"/>
            <a:ext cx="50292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營收年增率、毛利率、營業利益率、自由現金流率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ROE、ROIC、負債權益比、利息保障倍數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</a:rPr>
              <a:t>EPS 年增率、PEG、法說會重點與圖表洞察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0" y="4160520"/>
            <a:ext cx="5120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工具書重點：先把「自然語言」轉成穩定 Schema，再讓資料庫與第二個 Agent 處理。這樣比讓單一 Agent 直接亂猜更可靠。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工具書：建立 Harness 的 8 步檢查表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53312"/>
            <a:ext cx="411480" cy="347472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2984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任務邊界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71600" y="1618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要解決哪一類問題？不做什麼？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432304"/>
            <a:ext cx="411480" cy="347472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輸入輸出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使用者輸入、Schema、最終交付格式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511296"/>
            <a:ext cx="411480" cy="34747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Context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71600" y="3776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需要哪些資料、限制、角色、範例？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4590288"/>
            <a:ext cx="411480" cy="3474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45354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Tools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71600" y="48554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DB、API、檔案、RAG、瀏覽器權限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1353312"/>
            <a:ext cx="411480" cy="347472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0" y="12984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Workflow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95160" y="1618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Agent 順序、分工、重試與錯誤處理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2432304"/>
            <a:ext cx="411480" cy="347472"/>
          </a:xfrm>
          <a:prstGeom prst="rect">
            <a:avLst/>
          </a:prstGeom>
          <a:solidFill>
            <a:srgbClr val="FFE4E6"/>
          </a:solidFill>
          <a:ln w="15240">
            <a:solidFill>
              <a:srgbClr val="E11D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23774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Evaluation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9516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測試集、Judge、指標、截圖驗證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3511296"/>
            <a:ext cx="411480" cy="347472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3456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Human Gate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95160" y="3776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哪些高風險步驟需要人審？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0" y="4590288"/>
            <a:ext cx="411480" cy="347472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45354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Observability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95160" y="48554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日誌、版本、成本、延遲與失敗追蹤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常見誤區：看起來像 Agent，不代表真的可靠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841248" cy="310896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誤區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把 Prompt 當產品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475569"/>
                </a:solidFill>
              </a:rPr>
              <a:t>只寫漂亮提示，沒有測試與流程。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417320"/>
            <a:ext cx="841248" cy="310896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誤區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6280" y="18379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讓單一 Agent 做全部事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6280" y="22219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475569"/>
                </a:solidFill>
              </a:rPr>
              <a:t>理解、查詢、計算、寫報告混在一起。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4526280" y="274320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417320"/>
            <a:ext cx="841248" cy="310896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誤區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0" y="18379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沒有 Schema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0" y="22219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475569"/>
                </a:solidFill>
              </a:rPr>
              <a:t>上下游介面不穩，錯誤難追。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017520"/>
            <a:ext cx="841248" cy="310896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誤區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4381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沒有日誌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38221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475569"/>
                </a:solidFill>
              </a:rPr>
              <a:t>出問題時不知道是資料、工具還是模型錯。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017520"/>
            <a:ext cx="841248" cy="310896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誤區 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6280" y="34381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沒有評估集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26280" y="38221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475569"/>
                </a:solidFill>
              </a:rPr>
              <a:t>每次改 prompt 都像憑感覺調參。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4526280" y="434340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017520"/>
            <a:ext cx="841248" cy="310896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誤區 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34381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沒有高風險閘門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0" y="38221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475569"/>
                </a:solidFill>
              </a:rPr>
              <a:t>可能自動執行錯誤操作。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8229600" y="434340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806440"/>
            <a:ext cx="10058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判斷標準：能不能被重複執行、被測試、被追蹤、被安全停止？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未來趨勢：Agent 工程會走向可治理、可量測、可組裝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280160" cy="530352"/>
          </a:xfrm>
          <a:prstGeom prst="rect">
            <a:avLst/>
          </a:prstGeom>
          <a:solidFill>
            <a:srgbClr val="FFE4E6"/>
          </a:solidFill>
          <a:ln w="15240">
            <a:solidFill>
              <a:srgbClr val="E11D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1D48"/>
                </a:solidFill>
              </a:rPr>
              <a:t>可治理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23160" y="16002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475569"/>
                </a:solidFill>
              </a:rPr>
              <a:t>權限、審核、人類閘門會成為標配。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6263640" y="1554480"/>
            <a:ext cx="1280160" cy="53035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可量測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0" y="16002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475569"/>
                </a:solidFill>
              </a:rPr>
              <a:t>Judge、測試集、回歸分數將像 CI 一樣重要。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1280160" cy="530352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可組裝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23160" y="32004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475569"/>
                </a:solidFill>
              </a:rPr>
              <a:t>Agent 會像微服務：小而專職，透過契約串接。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263640" y="3154680"/>
            <a:ext cx="1280160" cy="53035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可觀測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0" y="32004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475569"/>
                </a:solidFill>
              </a:rPr>
              <a:t>日誌、成本、延遲、失敗路徑會被持續監控。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914400" y="5166360"/>
            <a:ext cx="10287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長期判斷：AI 應用的競爭，會從「誰的模型更強」延伸到「誰的 Harness 更可靠」。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HARNESS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結語與思考問題：把概念落到自己的專案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71600"/>
            <a:ext cx="384048" cy="347472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00200" y="13624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我的 Agent 任務邊界是否清楚？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384048" cy="347472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20482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我是否已把自然語言轉成穩定的 Schema？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384048" cy="34747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27340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每個 Agent 是否只有一個主要責任？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05840" y="3429000"/>
            <a:ext cx="384048" cy="34747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34198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我如何知道輸出品質正在變好？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384048" cy="347472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41056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哪些工具操作需要人類最後確認？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223760" y="4617720"/>
            <a:ext cx="3931920" cy="96012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一句話總結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Harness 是把 AI 從「會回答」推進到「能穩定做事」的工程系統。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6428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教材式工具書｜Prompt → Context → Harness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Engineering：從 Prompt 到可運行 Agent 系統</dc:title>
  <dc:subject>Harness Engineering 教材式工具書簡報</dc:subject>
  <dc:creator>OpenAI</dc:creator>
  <cp:lastModifiedBy>OpenAI</cp:lastModifiedBy>
  <cp:revision>1</cp:revision>
  <dcterms:created xsi:type="dcterms:W3CDTF">2026-06-07T10:31:43Z</dcterms:created>
  <dcterms:modified xsi:type="dcterms:W3CDTF">2026-06-07T10:31:43Z</dcterms:modified>
</cp:coreProperties>
</file>