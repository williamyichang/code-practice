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ilda Display" charset="1" panose="02000000000000000000"/>
      <p:regular r:id="rId16"/>
    </p:embeddedFont>
    <p:embeddedFont>
      <p:font typeface="HK Grotesk Light" charset="1" panose="00000400000000000000"/>
      <p:regular r:id="rId17"/>
    </p:embeddedFont>
    <p:embeddedFont>
      <p:font typeface="HK Grotesk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734675" y="666804"/>
            <a:ext cx="6886575" cy="4243083"/>
            <a:chOff x="0" y="0"/>
            <a:chExt cx="9182100" cy="565744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559068"/>
              <a:ext cx="91821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D0D7E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Complete RAG System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71668"/>
              <a:ext cx="9182100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</a:pPr>
              <a:r>
                <a:rPr lang="en-US" sz="4200">
                  <a:solidFill>
                    <a:srgbClr val="D0D7E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Building a RAG System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0D7E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December 25, 2025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4A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4133849"/>
            <a:chOff x="0" y="0"/>
            <a:chExt cx="11099800" cy="55117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543299"/>
              <a:ext cx="110998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D0D7E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RAG addresses critical issues like hallucination, limited data access, and outdated training, ensuring reliable AI responses.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D0D7E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Why RAG Is Needed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562100"/>
            <a:ext cx="6886575" cy="5372100"/>
            <a:chOff x="0" y="0"/>
            <a:chExt cx="1200275" cy="936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936314"/>
            </a:xfrm>
            <a:custGeom>
              <a:avLst/>
              <a:gdLst/>
              <a:ahLst/>
              <a:cxnLst/>
              <a:rect r="r" b="b" t="t" l="l"/>
              <a:pathLst>
                <a:path h="936314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891345"/>
                  </a:lnTo>
                  <a:cubicBezTo>
                    <a:pt x="1200275" y="903272"/>
                    <a:pt x="1195537" y="914710"/>
                    <a:pt x="1187104" y="923143"/>
                  </a:cubicBezTo>
                  <a:cubicBezTo>
                    <a:pt x="1178670" y="931576"/>
                    <a:pt x="1167233" y="936314"/>
                    <a:pt x="1155306" y="936314"/>
                  </a:cubicBezTo>
                  <a:lnTo>
                    <a:pt x="44968" y="936314"/>
                  </a:lnTo>
                  <a:cubicBezTo>
                    <a:pt x="33042" y="936314"/>
                    <a:pt x="21604" y="931576"/>
                    <a:pt x="13171" y="923143"/>
                  </a:cubicBezTo>
                  <a:cubicBezTo>
                    <a:pt x="4738" y="914710"/>
                    <a:pt x="0" y="903272"/>
                    <a:pt x="0" y="89134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246" t="0" r="-246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838200"/>
            <a:ext cx="6886575" cy="339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D0D7E7"/>
                </a:solidFill>
                <a:latin typeface="Gilda Display"/>
                <a:ea typeface="Gilda Display"/>
                <a:cs typeface="Gilda Display"/>
                <a:sym typeface="Gilda Display"/>
              </a:rPr>
              <a:t>Overview of RAG System Architecture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96400" y="7829550"/>
            <a:ext cx="6886575" cy="1302131"/>
            <a:chOff x="0" y="0"/>
            <a:chExt cx="9182100" cy="173617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0D7E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the flow of information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79653"/>
              <a:ext cx="9182100" cy="956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</a:pPr>
              <a:r>
                <a:rPr lang="en-US" sz="2199">
                  <a:solidFill>
                    <a:srgbClr val="D0D7E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architecture supports seamless data retrieval and generation.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4A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019424"/>
            <a:chOff x="0" y="0"/>
            <a:chExt cx="11099800" cy="40258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057399"/>
              <a:ext cx="110998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D0D7E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process involves gathering various </a:t>
              </a:r>
              <a:r>
                <a:rPr lang="en-US" b="true" sz="3000">
                  <a:solidFill>
                    <a:srgbClr val="D0D7E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document types</a:t>
              </a:r>
              <a:r>
                <a:rPr lang="en-US" sz="3000">
                  <a:solidFill>
                    <a:srgbClr val="D0D7E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ensuring data quality through parsing, cleaning, and metadata extraction.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D0D7E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Data Ingestion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4133849"/>
            <a:chOff x="0" y="0"/>
            <a:chExt cx="11099800" cy="55117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543299"/>
              <a:ext cx="110998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D0D7E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Effective document chunking </a:t>
              </a:r>
              <a:r>
                <a:rPr lang="en-US" b="true" sz="3000">
                  <a:solidFill>
                    <a:srgbClr val="D0D7E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ensures context preservation</a:t>
              </a:r>
              <a:r>
                <a:rPr lang="en-US" sz="3000">
                  <a:solidFill>
                    <a:srgbClr val="D0D7E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while managing token limits for optimal LLM performance and accuracy.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D0D7E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Chunking Strategy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4A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4133849"/>
            <a:chOff x="0" y="0"/>
            <a:chExt cx="11099800" cy="55117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543299"/>
              <a:ext cx="110998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D0D7E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Converting text to vectors enables efficient </a:t>
              </a:r>
              <a:r>
                <a:rPr lang="en-US" b="true" sz="3000">
                  <a:solidFill>
                    <a:srgbClr val="D0D7E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similarity search</a:t>
              </a:r>
              <a:r>
                <a:rPr lang="en-US" sz="3000">
                  <a:solidFill>
                    <a:srgbClr val="D0D7E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and effective filtering using relevant metadata for accurate retrieval.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D0D7E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Embedding &amp; Vector Database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562100"/>
            <a:ext cx="6886575" cy="5372100"/>
            <a:chOff x="0" y="0"/>
            <a:chExt cx="1200275" cy="936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936314"/>
            </a:xfrm>
            <a:custGeom>
              <a:avLst/>
              <a:gdLst/>
              <a:ahLst/>
              <a:cxnLst/>
              <a:rect r="r" b="b" t="t" l="l"/>
              <a:pathLst>
                <a:path h="936314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891345"/>
                  </a:lnTo>
                  <a:cubicBezTo>
                    <a:pt x="1200275" y="903272"/>
                    <a:pt x="1195537" y="914710"/>
                    <a:pt x="1187104" y="923143"/>
                  </a:cubicBezTo>
                  <a:cubicBezTo>
                    <a:pt x="1178670" y="931576"/>
                    <a:pt x="1167233" y="936314"/>
                    <a:pt x="1155306" y="936314"/>
                  </a:cubicBezTo>
                  <a:lnTo>
                    <a:pt x="44968" y="936314"/>
                  </a:lnTo>
                  <a:cubicBezTo>
                    <a:pt x="33042" y="936314"/>
                    <a:pt x="21604" y="931576"/>
                    <a:pt x="13171" y="923143"/>
                  </a:cubicBezTo>
                  <a:cubicBezTo>
                    <a:pt x="4738" y="914710"/>
                    <a:pt x="0" y="903272"/>
                    <a:pt x="0" y="89134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246" t="0" r="-246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800100"/>
            <a:ext cx="6886575" cy="3097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50"/>
              </a:lnSpc>
            </a:pPr>
            <a:r>
              <a:rPr lang="en-US" sz="7950">
                <a:solidFill>
                  <a:srgbClr val="D0D7E7"/>
                </a:solidFill>
                <a:latin typeface="Gilda Display"/>
                <a:ea typeface="Gilda Display"/>
                <a:cs typeface="Gilda Display"/>
                <a:sym typeface="Gilda Display"/>
              </a:rPr>
              <a:t>Understanding the Retriever Design Process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96400" y="7829550"/>
            <a:ext cx="6886575" cy="940181"/>
            <a:chOff x="0" y="0"/>
            <a:chExt cx="9182100" cy="125357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0D7E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Selecting Relevant Context Efficiently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79653"/>
              <a:ext cx="9182100" cy="473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</a:pPr>
              <a:r>
                <a:rPr lang="en-US" sz="2199">
                  <a:solidFill>
                    <a:srgbClr val="D0D7E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retriever design ensures high-quality results.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4A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4133849"/>
            <a:chOff x="0" y="0"/>
            <a:chExt cx="11099800" cy="55117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543299"/>
              <a:ext cx="110998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D0D7E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 structured prompt combines system instructions, retrieved context, and user questions to enhance LLM response accuracy.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D0D7E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Prompt Template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562100"/>
            <a:ext cx="6886575" cy="5372100"/>
            <a:chOff x="0" y="0"/>
            <a:chExt cx="1200275" cy="936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936314"/>
            </a:xfrm>
            <a:custGeom>
              <a:avLst/>
              <a:gdLst/>
              <a:ahLst/>
              <a:cxnLst/>
              <a:rect r="r" b="b" t="t" l="l"/>
              <a:pathLst>
                <a:path h="936314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891345"/>
                  </a:lnTo>
                  <a:cubicBezTo>
                    <a:pt x="1200275" y="903272"/>
                    <a:pt x="1195537" y="914710"/>
                    <a:pt x="1187104" y="923143"/>
                  </a:cubicBezTo>
                  <a:cubicBezTo>
                    <a:pt x="1178670" y="931576"/>
                    <a:pt x="1167233" y="936314"/>
                    <a:pt x="1155306" y="936314"/>
                  </a:cubicBezTo>
                  <a:lnTo>
                    <a:pt x="44968" y="936314"/>
                  </a:lnTo>
                  <a:cubicBezTo>
                    <a:pt x="33042" y="936314"/>
                    <a:pt x="21604" y="931576"/>
                    <a:pt x="13171" y="923143"/>
                  </a:cubicBezTo>
                  <a:cubicBezTo>
                    <a:pt x="4738" y="914710"/>
                    <a:pt x="0" y="903272"/>
                    <a:pt x="0" y="89134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246" t="0" r="-246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838200"/>
            <a:ext cx="6886575" cy="450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D0D7E7"/>
                </a:solidFill>
                <a:latin typeface="Gilda Display"/>
                <a:ea typeface="Gilda Display"/>
                <a:cs typeface="Gilda Display"/>
                <a:sym typeface="Gilda Display"/>
              </a:rPr>
              <a:t>Generation and Evaluation of RAG Outputs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96400" y="7829550"/>
            <a:ext cx="6886575" cy="1397381"/>
            <a:chOff x="0" y="0"/>
            <a:chExt cx="9182100" cy="186317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0D7E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Assessing Performance and Optimization Strategies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389253"/>
              <a:ext cx="9182100" cy="473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</a:pPr>
              <a:r>
                <a:rPr lang="en-US" sz="2199">
                  <a:solidFill>
                    <a:srgbClr val="D0D7E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Evaluating accuracy and cost-effectiveness is crucial.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4A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4629149"/>
            <a:chOff x="0" y="0"/>
            <a:chExt cx="11099800" cy="61721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543299"/>
              <a:ext cx="11099800" cy="2628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D0D7E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RAG system is designed for </a:t>
              </a:r>
              <a:r>
                <a:rPr lang="en-US" b="true" sz="3000">
                  <a:solidFill>
                    <a:srgbClr val="D0D7E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private knowledge AI</a:t>
              </a:r>
              <a:r>
                <a:rPr lang="en-US" sz="3000">
                  <a:solidFill>
                    <a:srgbClr val="D0D7E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and multi-modal capabilities, ensuring scalability and adaptability for future needs.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D0D7E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Future Roadmap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簡報 - Complete RAG System</dc:description>
  <dc:identifier>DAG8fwxDWZM</dc:identifier>
  <dcterms:modified xsi:type="dcterms:W3CDTF">2011-08-01T06:04:30Z</dcterms:modified>
  <cp:revision>1</cp:revision>
  <dc:title>簡報 - Complete RAG System</dc:title>
</cp:coreProperties>
</file>