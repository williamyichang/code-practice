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55964d1de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c55964d1de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IEA, World Energy Outlook 2025 Executive Summary: electricity demand growth from electric mobility, data centres and electrified heating; https://www.iea.org/reports/world-energy-outlook-2025/executive-summary</a:t>
            </a:r>
            <a:br>
              <a:rPr lang="zh-TW"/>
            </a:br>
            <a:r>
              <a:rPr lang="zh-TW"/>
              <a:t>- IEA, Global Critical Minerals Outlook 2025 Executive Summary: grid investments in China were the single largest contributor to copper demand growth over the past two years; https://www.iea.org/reports/global-critical-minerals-outlook-2025/executive-summary</a:t>
            </a:r>
            <a:br>
              <a:rPr lang="zh-TW"/>
            </a:br>
            <a:r>
              <a:rPr lang="zh-TW"/>
              <a:t>- International Copper Association, On Copper Demand: renewable systems use up to 12x more copper than fossil systems; EVs use 2-3x more copper than ICE vehicles; https://internationalcopper.org/fr/resource/on-copper-demand/</a:t>
            </a:r>
            <a:br>
              <a:rPr lang="zh-TW"/>
            </a:br>
            <a:r>
              <a:rPr lang="zh-TW"/>
              <a:t>- MarketWatch HG.1 and Reuters copper forecast articles for current copper price and 2026 consensus; https://www.marketwatch.com/investing/future/hg.1 ; https://www.reuters.com/world/asia-pacific/copper-forecasts-jump-above-11000-first-time-analysts-wary-demand-worries-2026-01-29/</a:t>
            </a:r>
            <a:br>
              <a:rPr lang="zh-TW"/>
            </a:br>
            <a:r>
              <a:rPr lang="zh-TW"/>
              <a:t>- Yahoo/中央社 monthly revenue release for 2025 full-year revenue 1,378,741千元; https://tw.stock.yahoo.com/news/%E5%85%AC%E5%91%8A-%E8%A1%9B%E5%8F%B8%E7%89%B9-2025%E5%B9%B412%E6%9C%88%E5%90%88%E4%BD%B5%E7%87%9F%E6%94%B61-31%E5%84%84%E5%85%83-%E5%B9%B4%E5%A2%9E16-062259619.html</a:t>
            </a:r>
            <a:endParaRPr/>
          </a:p>
        </p:txBody>
      </p:sp>
      <p:sp>
        <p:nvSpPr>
          <p:cNvPr id="54" name="Google Shape;54;g3c55964d1de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5964d1de_2_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c55964d1de_2_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衛司特官網：產品線、產業應用、合作客戶 90+；https://www.recotech.com.tw/zh-tw/ ; https://www.recotech.com.tw/zh-tw/products/recocell</a:t>
            </a:r>
            <a:br>
              <a:rPr lang="zh-TW"/>
            </a:br>
            <a:r>
              <a:rPr lang="zh-TW"/>
              <a:t>- MoneyDJ 2026-02-26: BOO 運行工廠於 2025Q3 約 62 個，2025Q4/2026Q1 新增 6~7 個營業點；https://www.moneydj.com/kmdj/news/newsviewer.aspx?a=421ad29e-8f37-44d6-af59-c85cb2e306f9</a:t>
            </a:r>
            <a:br>
              <a:rPr lang="zh-TW"/>
            </a:br>
            <a:r>
              <a:rPr lang="zh-TW"/>
              <a:t>- UAnalyze 2025-04-14: 台資 PCB 產業鏈市佔超過三成、營收約 75% 來自 PCB、營收來源分為再生服務與設備耗材；https://uanalyze.com.tw/articles/4867614628</a:t>
            </a:r>
            <a:br>
              <a:rPr lang="zh-TW"/>
            </a:br>
            <a:r>
              <a:rPr lang="zh-TW"/>
              <a:t>- MoneyDJ 2026-02-24: 城鋒科技於 2026/1 完成交割併表，切入鉛酸電池處理；https://www.moneydj.com/kmdj/news/newsviewer.aspx?a=ba6e0a0a-a928-4935-9f73-a53f3226af6e</a:t>
            </a:r>
            <a:endParaRPr/>
          </a:p>
        </p:txBody>
      </p:sp>
      <p:sp>
        <p:nvSpPr>
          <p:cNvPr id="100" name="Google Shape;100;g3c55964d1de_2_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55964d1de_2_1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c55964d1de_2_1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MoneyDJ/TTv 2026-02-26 article: BOO Q3 approx. 62 sites, Q4/Q1 add 6~7 new sites; BOO Q3 flat because panel utilization lower, Q4 warming; equipment and consumables nearly tripled YoY in first three quarters; https://www.moneydj.com/kmdj/news/newsviewer.aspx?a=421ad29e-8f37-44d6-af59-c85cb2e306f9 ; https://www.ttv.com.tw/finance/view/022026261023AE78EC93FEF74B4A97CA2031973528400E09/587</a:t>
            </a:r>
            <a:br>
              <a:rPr lang="zh-TW"/>
            </a:br>
            <a:r>
              <a:rPr lang="zh-TW"/>
              <a:t>- MoneyDJ 2026-02-23: anode orders visible at least to April, semiconductor electrolytic equipment shipments to grow significantly vs 2025; https://www.moneydj.com/kmdj/news/newsviewer.aspx?a=4b1a2810-4c1b-4bda-8d98-115ab3fd5f53</a:t>
            </a:r>
            <a:br>
              <a:rPr lang="zh-TW"/>
            </a:br>
            <a:r>
              <a:rPr lang="zh-TW"/>
              <a:t>- UAnalyze 2025-04-14: etching waste solution online reuse system has achieved reuse on production line; Japanese manufacturers interested in adoption; https://uanalyze.com.tw/articles/4867614628</a:t>
            </a:r>
            <a:endParaRPr/>
          </a:p>
        </p:txBody>
      </p:sp>
      <p:sp>
        <p:nvSpPr>
          <p:cNvPr id="154" name="Google Shape;154;g3c55964d1de_2_1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55964d1de_2_16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c55964d1de_2_16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Recotech official site and RecoCell product page for BOO service description and in-factory operating model; https://www.recotech.com.tw/zh-tw/ ; https://www.recotech.com.tw/zh-tw/products/recocell</a:t>
            </a:r>
            <a:br>
              <a:rPr lang="zh-TW"/>
            </a:br>
            <a:r>
              <a:rPr lang="zh-TW"/>
              <a:t>- MoneyDJ 2026-02-26: 2025Q3 BOO sites around 62; 6~7 new sites投入 Q4/Q1; https://www.moneydj.com/kmdj/news/newsviewer.aspx?a=421ad29e-8f37-44d6-af59-c85cb2e306f9</a:t>
            </a:r>
            <a:br>
              <a:rPr lang="zh-TW"/>
            </a:br>
            <a:r>
              <a:rPr lang="zh-TW"/>
              <a:t>- UAnalyze 2025-04-14: BOO model explanation and its role in recurring service revenue; https://uanalyze.com.tw/articles/4867614628</a:t>
            </a:r>
            <a:endParaRPr/>
          </a:p>
        </p:txBody>
      </p:sp>
      <p:sp>
        <p:nvSpPr>
          <p:cNvPr id="223" name="Google Shape;223;g3c55964d1de_2_16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55964d1de_2_2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c55964d1de_2_2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MoneyDJ 2026-02-23: insoluble anode orders visible at least to April and company optimistic on server-board expansion; semiconductor electrolytic equipment shipments expected to grow significantly; https://www.moneydj.com/kmdj/news/newsviewer.aspx?a=4b1a2810-4c1b-4bda-8d98-115ab3fd5f53</a:t>
            </a:r>
            <a:br>
              <a:rPr lang="zh-TW"/>
            </a:br>
            <a:r>
              <a:rPr lang="zh-TW"/>
              <a:t>- Yahoo/MoneyDJ 2026-01-12 article on AI/PCB demand increasing high-quality anode mesh and copper wastewater treatment needs; https://tw.stock.yahoo.com/news/%E8%A1%9B%E5%8F%B8%E7%89%B9ai-%E9%9D%A2%E6%9D%BF%E9%9B%99%E5%BC%95%E6%93%8E-%E5%B8%83%E5%B1%80%E5%BB%A0%E4%B8%AD%E5%BB%A0%E6%8B%9A%E6%BB%B2%E9%80%8F%E7%8E%87-030800748.html</a:t>
            </a:r>
            <a:endParaRPr/>
          </a:p>
        </p:txBody>
      </p:sp>
      <p:sp>
        <p:nvSpPr>
          <p:cNvPr id="263" name="Google Shape;263;g3c55964d1de_2_20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55964d1de_2_2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c55964d1de_2_2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Yahoo/中央社 monthly revenue release for 2025 full-year revenue 1,378,741千元 vs 2024 980,178千元; https://tw.stock.yahoo.com/news/%E5%85%AC%E5%91%8A-%E8%A1%9B%E5%8F%B8%E7%89%B9-2025%E5%B9%B412%E6%9C%88%E5%90%88%E4%BD%B5%E7%87%9F%E6%94%B61-31%E5%84%84%E5%85%83-%E5%B9%B4%E5%A2%9E16-062259619.html</a:t>
            </a:r>
            <a:br>
              <a:rPr lang="zh-TW"/>
            </a:br>
            <a:r>
              <a:rPr lang="zh-TW"/>
              <a:t>- StatementDog income statement: 2024Q4/2025Q1-Q3 revenue, profit figures; https://statementdog.com/analysis/6894/income-statement</a:t>
            </a:r>
            <a:br>
              <a:rPr lang="zh-TW"/>
            </a:br>
            <a:r>
              <a:rPr lang="zh-TW"/>
              <a:t>- StatementDog EPS page: 2024Q4 EPS 1.92, 2025Q1 2.61, Q2 2.31, Q3 3.23, trailing four-quarter EPS 10.07; https://statementdog.com/analysis/6894/eps</a:t>
            </a:r>
            <a:br>
              <a:rPr lang="zh-TW"/>
            </a:br>
            <a:r>
              <a:rPr lang="zh-TW"/>
              <a:t>- StatementDog profit margin page: 2025Q3 gross margin 41.64%; https://statementdog.com/analysis/6894/profit-margin</a:t>
            </a:r>
            <a:br>
              <a:rPr lang="zh-TW"/>
            </a:br>
            <a:r>
              <a:rPr lang="zh-TW"/>
              <a:t>- Yahoo monthly revenue announcements for Jan and Feb 2026 revenues 130,809 and 146,811千元; https://tw.stock.yahoo.com/news/%E5%85%AC%E5%91%8A-%E8%A1%9B%E5%8F%B8%E7%89%B9-2026%E5%B9%B41%E6%9C%88%E5%90%88%E4%BD%B5%E7%87%9F%E6%94%B61-31%E5%84%84%E5%85%83-%E5%B9%B4%E5%A2%9E51-060319886.html ; https://tw.stock.yahoo.com/news/%E5%85%AC%E5%91%8A-%E8%A1%9B%E5%8F%B8%E7%89%B9-2026%E5%B9%B42%E6%9C%88%E5%90%88%E4%BD%B5%E7%87%9F%E6%94%B61-47%E5%84%84%E5%85%83-%E5%B9%B4%E5%A2%9E55-083317191.html</a:t>
            </a:r>
            <a:br>
              <a:rPr lang="zh-TW"/>
            </a:br>
            <a:r>
              <a:rPr lang="zh-TW"/>
              <a:t>- Yahoo announcement: 2025 annual financial report board meeting date on 2026-03-10; https://tw.stock.yahoo.com/news/%E5%85%AC%E5%91%8A-%E8%A1%9B%E5%8F%B8%E7%89%B9%E6%B0%91%E5%9C%8B114%E5%B9%B4%E5%BA%A6%E5%90%88%E4%BD%B5%E8%B2%A1%E5%8B%99%E5%A0%B1%E5%91%8A%E4%B9%8B%E8%91%A3%E4%BA%8B%E6%9C%83%E5%8F%AC%E9%96%8B%E6%97%A5%E6%9C%9F%E7%82%BA115%E5%B9%B403%E6%9C%8810%E6%97%A5-080943520.html</a:t>
            </a:r>
            <a:endParaRPr/>
          </a:p>
        </p:txBody>
      </p:sp>
      <p:sp>
        <p:nvSpPr>
          <p:cNvPr id="304" name="Google Shape;304;g3c55964d1de_2_2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55964d1de_2_2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c55964d1de_2_2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UAnalyze 2025-04-14: unique supplier to TSMC for copper sulfate wastewater electrolytic equipment; 30%+ share in Taiwan PCB chain; https://uanalyze.com.tw/articles/4867614628</a:t>
            </a:r>
            <a:br>
              <a:rPr lang="zh-TW"/>
            </a:br>
            <a:r>
              <a:rPr lang="zh-TW"/>
              <a:t>- Recotech official site for product breadth and BOO service positioning; https://www.recotech.com.tw/zh-tw/ ; https://www.recotech.com.tw/zh-tw/products/recocell</a:t>
            </a:r>
            <a:br>
              <a:rPr lang="zh-TW"/>
            </a:br>
            <a:r>
              <a:rPr lang="zh-TW"/>
              <a:t>- Competitive positioning chart is an analyst synthesis based on business-model comparison, not a company-disclosed fact.</a:t>
            </a:r>
            <a:endParaRPr/>
          </a:p>
        </p:txBody>
      </p:sp>
      <p:sp>
        <p:nvSpPr>
          <p:cNvPr id="344" name="Google Shape;344;g3c55964d1de_2_28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55964d1de_2_3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c55964d1de_2_3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UAnalyze 2025-04-14 for TSMC unique supplier, 30%+ PCB chain share, and order visibility themes; https://uanalyze.com.tw/articles/4867614628</a:t>
            </a:r>
            <a:br>
              <a:rPr lang="zh-TW"/>
            </a:br>
            <a:r>
              <a:rPr lang="zh-TW"/>
              <a:t>- MoneyDJ 2026-02-26 for 2026 earnings outlook and BOO new sites; https://www.moneydj.com/kmdj/news/newsviewer.aspx?a=421ad29e-8f37-44d6-af59-c85cb2e306f9</a:t>
            </a:r>
            <a:br>
              <a:rPr lang="zh-TW"/>
            </a:br>
            <a:r>
              <a:rPr lang="zh-TW"/>
              <a:t>- MoneyDJ 2026-02-23 for insoluble anode order visibility and semiconductor electrolytic equipment growth; https://www.moneydj.com/kmdj/news/newsviewer.aspx?a=4b1a2810-4c1b-4bda-8d98-115ab3fd5f53</a:t>
            </a:r>
            <a:br>
              <a:rPr lang="zh-TW"/>
            </a:br>
            <a:r>
              <a:rPr lang="zh-TW"/>
              <a:t>- CMoney 2025-02-05 note of First Securities positive rating (historical / outdated); and public market cautionary commentary on valuation is an analyst synthesis. https://cmnews.com.tw/article/cmoneyaicurator-f49ba370-e3ae-11ef-86fd-88a716cb903f</a:t>
            </a:r>
            <a:endParaRPr/>
          </a:p>
        </p:txBody>
      </p:sp>
      <p:sp>
        <p:nvSpPr>
          <p:cNvPr id="384" name="Google Shape;384;g3c55964d1de_2_3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55964d1de_2_3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c55964d1de_2_3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[Sources]</a:t>
            </a:r>
            <a:br>
              <a:rPr lang="zh-TW"/>
            </a:br>
            <a:r>
              <a:rPr lang="zh-TW"/>
              <a:t>- StatementDog EPS page for trailing four-quarter EPS 10.07; https://statementdog.com/analysis/6894/eps</a:t>
            </a:r>
            <a:br>
              <a:rPr lang="zh-TW"/>
            </a:br>
            <a:r>
              <a:rPr lang="zh-TW"/>
              <a:t>- StatementDog e-report page showed stock price around 291.5 on 2026-03-06 capture; https://statementdog.com/analysis/6894/e-report</a:t>
            </a:r>
            <a:br>
              <a:rPr lang="zh-TW"/>
            </a:br>
            <a:r>
              <a:rPr lang="zh-TW"/>
              <a:t>- Investment stance is an analyst judgment synthesizing prior cited revenue, margin, order-visibility, BOO expansion, and valuation information.</a:t>
            </a:r>
            <a:endParaRPr/>
          </a:p>
        </p:txBody>
      </p:sp>
      <p:sp>
        <p:nvSpPr>
          <p:cNvPr id="416" name="Google Shape;416;g3c55964d1de_2_3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衛司特(6894)深度投資速覽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1｜整體狀況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480060" y="603504"/>
            <a:ext cx="54864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銅需求正在被「全面電氣化」重塑，衛司特站在廢液回收 × 半導體/PCB × ESG 三條趨勢交會點。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93776" y="1110996"/>
            <a:ext cx="538353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Microsoft JhengHei"/>
              <a:buNone/>
            </a:pPr>
            <a:r>
              <a:rPr b="0" i="0" lang="zh-TW" sz="12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投資重點不是單季數字，而是：公司能否把設備出貨，持續轉成 BOO 長約、維護耗材與再生金屬的長尾現金流。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6172200" y="720090"/>
            <a:ext cx="2263140" cy="3017520"/>
          </a:xfrm>
          <a:prstGeom prst="roundRect">
            <a:avLst>
              <a:gd fmla="val 1818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343650" y="877824"/>
            <a:ext cx="17830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全球銅需求五大主軸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6343650" y="1220724"/>
            <a:ext cx="1920240" cy="39776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446520" y="1330452"/>
            <a:ext cx="21945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6755130" y="1316736"/>
            <a:ext cx="13373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電網升級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343650" y="1714500"/>
            <a:ext cx="1920240" cy="39776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446520" y="1824228"/>
            <a:ext cx="21945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6755130" y="1810512"/>
            <a:ext cx="13373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電動車與充電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343650" y="2208276"/>
            <a:ext cx="1920240" cy="39776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446520" y="2318004"/>
            <a:ext cx="21945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6755130" y="2304288"/>
            <a:ext cx="13373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再生能源與儲能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6343650" y="2702052"/>
            <a:ext cx="1920240" cy="39776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6446520" y="2811780"/>
            <a:ext cx="21945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6755130" y="2798064"/>
            <a:ext cx="13373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資料中心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343650" y="3195828"/>
            <a:ext cx="1920240" cy="397764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446520" y="3305556"/>
            <a:ext cx="21945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7C3AE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6755130" y="3291840"/>
            <a:ext cx="13373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建築 / 家電 / 工業設備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07492" y="1645920"/>
            <a:ext cx="2194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三個最重要的整體觀察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34924" y="1920240"/>
            <a:ext cx="75438" cy="7543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658368" y="1865376"/>
            <a:ext cx="440283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icrosoft JhengHei"/>
              <a:buNone/>
            </a:pPr>
            <a:r>
              <a:rPr b="0" i="0" lang="zh-TW" sz="12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電網投資是近兩年全球銅需求成長的最大單一驅動。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34924" y="2283714"/>
            <a:ext cx="75438" cy="7543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658368" y="2228850"/>
            <a:ext cx="440283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icrosoft JhengHei"/>
              <a:buNone/>
            </a:pPr>
            <a:r>
              <a:rPr b="0" i="0" lang="zh-TW" sz="12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伺服器、PCB 與半導體擴產，正在把銅需求從綠能再推向高階製造。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534924" y="2647188"/>
            <a:ext cx="75438" cy="7543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658368" y="2592324"/>
            <a:ext cx="440283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Microsoft JhengHei"/>
              <a:buNone/>
            </a:pPr>
            <a:r>
              <a:rPr b="0" i="0" lang="zh-TW" sz="12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衛司特的價值不只在設備，而在 BOO 模式能否把一次性收入變成可持續收入。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514350" y="3120390"/>
            <a:ext cx="1508760" cy="7200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624078" y="3209544"/>
            <a:ext cx="13167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US$5.76/lb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624078" y="3490722"/>
            <a:ext cx="13167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COMEX 前月銅價（約）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2125980" y="3120390"/>
            <a:ext cx="1508760" cy="7200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2235708" y="3209544"/>
            <a:ext cx="13167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US$11,975/t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2235708" y="3490722"/>
            <a:ext cx="13167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 年 LME 現金銅均價預估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737610" y="3120390"/>
            <a:ext cx="1645920" cy="7200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3847338" y="3209544"/>
            <a:ext cx="145389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13.79 億元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3847338" y="3490722"/>
            <a:ext cx="145389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衛司特 2025 全年營收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534924" y="4080510"/>
            <a:ext cx="4855464" cy="61722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699516" y="4169664"/>
            <a:ext cx="435483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一句話判斷｜衛司特不是單純景氣股，而是「設備 + 耗材 + 駐廠服務 + 金屬回收」的複合型解決方案商；真正要驗證的是這套模式能否持續放大。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衛司特的各項業務發展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2｜業務架構與近期進展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304800" y="434150"/>
            <a:ext cx="87159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icrosoft JhengHei"/>
              <a:buNone/>
            </a:pPr>
            <a:r>
              <a:rPr b="1" i="0" lang="zh-TW" sz="17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公司不是單一產品廠，而是把「設備 → 耗材 → 駐廠服務 → 再生金屬」串成完整商業閉環。</a:t>
            </a:r>
            <a:endParaRPr b="0" i="0" sz="1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562356" y="1097280"/>
            <a:ext cx="2229000" cy="562500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85800" y="1179576"/>
            <a:ext cx="19888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RecoCell / 電解回收設備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85800" y="1378458"/>
            <a:ext cx="19888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對應 PCB、半導體、面板含銅廢液處理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62356" y="1851660"/>
            <a:ext cx="2229000" cy="562500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85800" y="1933956"/>
            <a:ext cx="19888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陽極鈦網與耗材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85800" y="2132838"/>
            <a:ext cx="19888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高階 PCB / 電鍍製程的高頻消耗品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62356" y="2606040"/>
            <a:ext cx="2228850" cy="562356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685800" y="2688336"/>
            <a:ext cx="19888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BOO 駐廠營運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85800" y="2887218"/>
            <a:ext cx="19888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公司出資建置、派員操作、保有設備所有權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62356" y="3360420"/>
            <a:ext cx="2228850" cy="562356"/>
          </a:xfrm>
          <a:prstGeom prst="roundRect">
            <a:avLst>
              <a:gd fmla="val 6098" name="adj"/>
            </a:avLst>
          </a:prstGeom>
          <a:solidFill>
            <a:srgbClr val="FFFFFF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85800" y="3442716"/>
            <a:ext cx="19888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新技術 / 新領域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85800" y="3641598"/>
            <a:ext cx="19888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蝕刻廢液線上回用、鋰電/鉛酸電池回收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729990" y="1070610"/>
            <a:ext cx="1714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2025→2026 發展節奏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119" name="Google Shape;119;p15"/>
          <p:cNvCxnSpPr/>
          <p:nvPr/>
        </p:nvCxnSpPr>
        <p:spPr>
          <a:xfrm>
            <a:off x="3680460" y="1488158"/>
            <a:ext cx="3634800" cy="0"/>
          </a:xfrm>
          <a:prstGeom prst="straightConnector1">
            <a:avLst/>
          </a:prstGeom>
          <a:noFill/>
          <a:ln cap="flat" cmpd="sng" w="254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5"/>
          <p:cNvSpPr/>
          <p:nvPr/>
        </p:nvSpPr>
        <p:spPr>
          <a:xfrm>
            <a:off x="3851910" y="1406652"/>
            <a:ext cx="150900" cy="1509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481120" y="1667249"/>
            <a:ext cx="713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Q1-Q3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481131" y="1889469"/>
            <a:ext cx="877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設備與耗材放量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前三季營收 10.17 億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640580" y="1406652"/>
            <a:ext cx="150900" cy="1509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537710" y="1667256"/>
            <a:ext cx="4458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Q3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448556" y="1824990"/>
            <a:ext cx="651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BOO 運行工廠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約 62 個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442966" y="1406652"/>
            <a:ext cx="150900" cy="1509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340096" y="1667256"/>
            <a:ext cx="4458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Q4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250942" y="1824990"/>
            <a:ext cx="651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全年營收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13.79 億創高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286500" y="1406652"/>
            <a:ext cx="150900" cy="1509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183630" y="1667256"/>
            <a:ext cx="4458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 Q1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94476" y="1824990"/>
            <a:ext cx="651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新增 6~7 點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BOO 新點位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7143750" y="1406652"/>
            <a:ext cx="150900" cy="150900"/>
          </a:xfrm>
          <a:prstGeom prst="ellipse">
            <a:avLst/>
          </a:prstGeom>
          <a:solidFill>
            <a:srgbClr val="FFF7ED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040880" y="1667256"/>
            <a:ext cx="4458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951726" y="1824990"/>
            <a:ext cx="651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城鋒併表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切入鉛酸電池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3653790" y="2510790"/>
            <a:ext cx="1302900" cy="685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915918" y="2599944"/>
            <a:ext cx="1110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90+ 家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3915918" y="2881122"/>
            <a:ext cx="111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合作客戶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5093970" y="2510790"/>
            <a:ext cx="1302900" cy="685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356098" y="2599944"/>
            <a:ext cx="1110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30%+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356098" y="2881122"/>
            <a:ext cx="111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台資 PCB 鏈市佔（UAnalyze）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6534150" y="2510790"/>
            <a:ext cx="1302900" cy="685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6796278" y="2599944"/>
            <a:ext cx="11109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75%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6796278" y="2881122"/>
            <a:ext cx="11109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營收來自 PCB 產業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3806190" y="3422904"/>
            <a:ext cx="3874800" cy="10629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3963924" y="3560064"/>
            <a:ext cx="1645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目前業務結構的投資意義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3977640" y="3752088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101084" y="3697224"/>
            <a:ext cx="3374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短期爆發力來自設備與耗材；長期看 BOO 滲透率。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977640" y="4067556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4101084" y="4012692"/>
            <a:ext cx="3374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公司正由設備案升級為可持續回收服務平台；新技術是第二成長曲線。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前三大發展業務的狀況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3｜目前進度 × 商業意義 × 追蹤重點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493776" y="809244"/>
            <a:ext cx="2125980" cy="3922776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493776" y="809244"/>
            <a:ext cx="2125980" cy="3429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589788" y="898398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1｜再生金屬 / BOO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03504" y="1303020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現況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03504" y="1522476"/>
            <a:ext cx="54864" cy="548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699516" y="146761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2025Q3 BOO 運行約 62 點，Q4~Q1 再新增 6~7 點。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603504" y="1769364"/>
            <a:ext cx="54864" cy="548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699516" y="1714500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Q3 受面板客戶稼動率偏低影響，季增不明顯，但 Q4 有回溫跡象。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03504" y="2016252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商業意義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603504" y="2235708"/>
            <a:ext cx="54864" cy="548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699516" y="2180844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可形成更穩定的 recurring-like 收入底盤。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03504" y="2482596"/>
            <a:ext cx="54864" cy="548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699516" y="242773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客戶切換成本高，越多點位，護城河越厚。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03504" y="2729484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需追蹤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603504" y="2948940"/>
            <a:ext cx="54864" cy="548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699516" y="2894076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每季新增點位數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03504" y="3195828"/>
            <a:ext cx="54864" cy="548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699516" y="3140964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單點產值與毛利率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03504" y="3442716"/>
            <a:ext cx="54864" cy="54864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699516" y="338785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面板 vs PCB/半導體占比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3051810" y="809244"/>
            <a:ext cx="2125980" cy="3922776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3051810" y="809244"/>
            <a:ext cx="2125980" cy="3429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147822" y="898398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2｜設備與耗材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161538" y="1303020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現況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161538" y="1522476"/>
            <a:ext cx="54864" cy="548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3257550" y="146761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年前三季該區塊銷售額年增接近 3 倍。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3161538" y="1769364"/>
            <a:ext cx="54864" cy="548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3257550" y="1714500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 年不溶性陽極在手訂單能見度至少看到 4 月；半導體電解設備出貨今年也會比 2025 顯著成長。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3161538" y="2016252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商業意義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3161538" y="2235708"/>
            <a:ext cx="54864" cy="548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3257550" y="2180844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是 2025 年營收高成長最主要加速器。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161538" y="2482596"/>
            <a:ext cx="54864" cy="548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3257550" y="242773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但設備型收入波動較高，不能完全等同高品質經常性收入。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3161538" y="2729484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需追蹤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3161538" y="2948940"/>
            <a:ext cx="54864" cy="548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3257550" y="2894076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設備出貨遞延風險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3161538" y="3195828"/>
            <a:ext cx="54864" cy="548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"/>
          <p:cNvSpPr/>
          <p:nvPr/>
        </p:nvSpPr>
        <p:spPr>
          <a:xfrm>
            <a:off x="3257550" y="3140964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耗材占比是否提升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3161538" y="3442716"/>
            <a:ext cx="54864" cy="54864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3257550" y="338785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高毛利半導體案認列時點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5609844" y="809244"/>
            <a:ext cx="2125980" cy="3922776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5609844" y="809244"/>
            <a:ext cx="2125980" cy="342900"/>
          </a:xfrm>
          <a:prstGeom prst="rect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5705856" y="898398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3｜蝕刻液回用 / 新技術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5719572" y="1303020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現況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5719572" y="1522476"/>
            <a:ext cx="54864" cy="54864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5815584" y="146761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蝕刻廢液線上回用系統已成功讓蝕刻液回用於產線。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5719572" y="1769364"/>
            <a:ext cx="54864" cy="54864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5815584" y="1714500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已有日系廠商表態有意導入，其他業者仍在評估。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719572" y="2016252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商業意義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719572" y="2235708"/>
            <a:ext cx="54864" cy="54864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5815584" y="2180844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若成功商轉，將從「回收」升級為「回用」，價值鏈更上游。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719572" y="2482596"/>
            <a:ext cx="54864" cy="54864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5815584" y="242773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東南亞產業鏈成熟度不足，反而給衛司特標竿機會。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5719572" y="2729484"/>
            <a:ext cx="480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需追蹤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5719572" y="2948940"/>
            <a:ext cx="54864" cy="54864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5815584" y="2894076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首批商轉客戶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5719572" y="3195828"/>
            <a:ext cx="54864" cy="54864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5815584" y="3140964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量產導入周期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5719572" y="3442716"/>
            <a:ext cx="54864" cy="54864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5815584" y="3387852"/>
            <a:ext cx="178308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毛利率與可複製性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最有潛力的業務及其發展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4｜最看好的核心：BOO 再生金屬服務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371478" y="504336"/>
            <a:ext cx="8405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icrosoft JhengHei"/>
              <a:buNone/>
            </a:pPr>
            <a:r>
              <a:rPr b="1" i="0" lang="zh-TW" sz="17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我認為最有潛力的不是單一設備，而是 BOO（Build-Operate-Own）模式。</a:t>
            </a:r>
            <a:endParaRPr b="0" i="0" sz="1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401700" y="1023325"/>
            <a:ext cx="782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icrosoft JhengHei"/>
              <a:buNone/>
            </a:pPr>
            <a:r>
              <a:rPr b="0" i="0" lang="zh-TW" sz="11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原因：它同時放大客戶黏著度、持續性收入與金屬回收價值，最符合「從設備商走向平台型解決方案商」的升級路徑。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506730" y="1524000"/>
            <a:ext cx="246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BOO 的價值不是一次設備收入，而是把客戶鎖進長期服務與金屬回收循環。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422910" y="2205990"/>
            <a:ext cx="699600" cy="3978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457200" y="2329434"/>
            <a:ext cx="630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 建置設備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1280160" y="2205990"/>
            <a:ext cx="699600" cy="3978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1314450" y="2329434"/>
            <a:ext cx="630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 駐廠操作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2137410" y="2205990"/>
            <a:ext cx="699600" cy="3978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2171700" y="2329434"/>
            <a:ext cx="630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 回收金屬/服務費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1280160" y="2891790"/>
            <a:ext cx="699600" cy="3978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1314450" y="3015234"/>
            <a:ext cx="630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Microsoft JhengHei"/>
              <a:buNone/>
            </a:pPr>
            <a:r>
              <a:rPr b="1" i="0" lang="zh-TW" sz="800" u="none" cap="none" strike="noStrike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4. 帶動維護與耗材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1136142" y="2322576"/>
            <a:ext cx="123300" cy="1233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1993392" y="2322576"/>
            <a:ext cx="123300" cy="1233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 rot="5400000">
            <a:off x="1575198" y="2665476"/>
            <a:ext cx="123300" cy="123300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3200165" y="1593191"/>
            <a:ext cx="3531900" cy="140580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3352800" y="1737209"/>
            <a:ext cx="1920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點位擴張 = 未來收入底盤擴張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3352800" y="2093825"/>
            <a:ext cx="411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2025Q3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3832860" y="2107541"/>
            <a:ext cx="1645800" cy="1509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5533644" y="2052677"/>
            <a:ext cx="411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62 點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3352800" y="2436725"/>
            <a:ext cx="5145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Q4~Q1新增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3942588" y="2450441"/>
            <a:ext cx="219600" cy="150900"/>
          </a:xfrm>
          <a:prstGeom prst="rect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4216908" y="2395577"/>
            <a:ext cx="548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+6~7 點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3352800" y="2690471"/>
            <a:ext cx="3120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投資意義：新點位不是一次性營收，而是把未來 2~4 季的 recurring-like 收入底盤墊高。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3209572" y="3136241"/>
            <a:ext cx="3531900" cy="1645800"/>
          </a:xfrm>
          <a:prstGeom prst="roundRect">
            <a:avLst>
              <a:gd fmla="val 2083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3381022" y="3328265"/>
            <a:ext cx="192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 BOO 的估值含金量最高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3394738" y="3602585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3518182" y="3547721"/>
            <a:ext cx="2997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客戶切換成本高：設備在廠內、流程與製程深度綁定。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3394738" y="3918053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3518182" y="3863189"/>
            <a:ext cx="2997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可同時吃到服務費、金屬回收價值、後續耗材與維護。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3394738" y="4233521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7"/>
          <p:cNvSpPr/>
          <p:nvPr/>
        </p:nvSpPr>
        <p:spPr>
          <a:xfrm>
            <a:off x="3518182" y="4178657"/>
            <a:ext cx="29970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新建廠與海外擴產時，容易跟著既有客戶一起複製。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25986" y="4924044"/>
            <a:ext cx="82983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目前市場上最急缺的業務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5｜不溶性陽極 / 高階電解設備為當前最緊俏環節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493774" y="555663"/>
            <a:ext cx="701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Microsoft JhengHei"/>
              <a:buNone/>
            </a:pPr>
            <a:r>
              <a:rPr b="0" i="0" lang="zh-TW" sz="14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若只看「現在最急、最缺、最直接反映在接單能見度」的業務，我會選：</a:t>
            </a:r>
            <a:endParaRPr b="0" i="0" sz="14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493776" y="954024"/>
            <a:ext cx="5006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2000"/>
              <a:buFont typeface="Microsoft JhengHei"/>
              <a:buNone/>
            </a:pPr>
            <a:r>
              <a:rPr b="1" i="0" lang="zh-TW" sz="20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高階 PCB / 半導體用不溶性陽極與電解設備</a:t>
            </a:r>
            <a:endParaRPr b="0" i="0" sz="2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582930" y="1371600"/>
            <a:ext cx="1371600" cy="445770"/>
          </a:xfrm>
          <a:prstGeom prst="roundRect">
            <a:avLst>
              <a:gd fmla="val 7692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672084" y="1508760"/>
            <a:ext cx="12001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伺服器 / 高階 PCB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2043684" y="1467612"/>
            <a:ext cx="308610" cy="192024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2434590" y="1371600"/>
            <a:ext cx="1371600" cy="445770"/>
          </a:xfrm>
          <a:prstGeom prst="roundRect">
            <a:avLst>
              <a:gd fmla="val 7692" name="adj"/>
            </a:avLst>
          </a:prstGeom>
          <a:solidFill>
            <a:srgbClr val="ECFDF5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2551176" y="1508760"/>
            <a:ext cx="11315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鍍銅 / 電解製程擴充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3895344" y="1467612"/>
            <a:ext cx="308610" cy="192024"/>
          </a:xfrm>
          <a:prstGeom prst="chevron">
            <a:avLst>
              <a:gd fmla="val 50000" name="adj"/>
            </a:avLst>
          </a:prstGeom>
          <a:solidFill>
            <a:srgbClr val="94A3B8"/>
          </a:solidFill>
          <a:ln cap="flat" cmpd="sng" w="12700">
            <a:solidFill>
              <a:srgbClr val="94A3B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4286250" y="1371600"/>
            <a:ext cx="1543050" cy="445770"/>
          </a:xfrm>
          <a:prstGeom prst="roundRect">
            <a:avLst>
              <a:gd fmla="val 7692" name="adj"/>
            </a:avLst>
          </a:prstGeom>
          <a:solidFill>
            <a:srgbClr val="FFF7ED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4402836" y="1508760"/>
            <a:ext cx="13030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陽極鈦網 / 電解設備需求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6275070" y="1337310"/>
            <a:ext cx="1371600" cy="72009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6384798" y="1426464"/>
            <a:ext cx="117957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看到 4 月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6384798" y="1707642"/>
            <a:ext cx="117957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不溶性陽極在手訂單能見度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576072" y="2091690"/>
            <a:ext cx="2880360" cy="2091690"/>
          </a:xfrm>
          <a:prstGeom prst="roundRect">
            <a:avLst>
              <a:gd fmla="val 196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720090" y="2263140"/>
            <a:ext cx="10287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為什麼現在特別缺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726948" y="2510028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850392" y="2455164"/>
            <a:ext cx="234543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server 板與高階 PCB 對高品質鍍銅與填孔電鍍要求更高。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5" name="Google Shape;285;p18"/>
          <p:cNvSpPr/>
          <p:nvPr/>
        </p:nvSpPr>
        <p:spPr>
          <a:xfrm>
            <a:off x="726948" y="2846070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850392" y="2791206"/>
            <a:ext cx="234543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半導體與 PCB 擴產帶動新設備、改線與耗材更換需求同步上升。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726948" y="3182112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850392" y="3127248"/>
            <a:ext cx="234543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這類產品既是性能件，也是品質穩定件，客戶不會隨便換。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726948" y="3518154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850392" y="3463290"/>
            <a:ext cx="234543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衛司特明確表示已感受到伺服器板擴充的樂觀狀態。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3621024" y="2091690"/>
            <a:ext cx="3120390" cy="2091690"/>
          </a:xfrm>
          <a:prstGeom prst="roundRect">
            <a:avLst>
              <a:gd fmla="val 196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3785616" y="2263140"/>
            <a:ext cx="16459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這項業務對衛司特的意義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3799332" y="2523744"/>
            <a:ext cx="75438" cy="7543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3922776" y="2468880"/>
            <a:ext cx="258546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短期：直接反映在營收與單季獲利彈性。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3799332" y="2859786"/>
            <a:ext cx="75438" cy="7543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"/>
          <p:cNvSpPr/>
          <p:nvPr/>
        </p:nvSpPr>
        <p:spPr>
          <a:xfrm>
            <a:off x="3922776" y="2804922"/>
            <a:ext cx="258546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中期：設備賣出後，會帶來維護與耗材延伸需求。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3799332" y="3195828"/>
            <a:ext cx="75438" cy="75438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3922776" y="3140964"/>
            <a:ext cx="258546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長期：若能轉成 BOO 案，價值會從一次性訂單升級成高黏著長約。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6940296" y="2297430"/>
            <a:ext cx="1577340" cy="10629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icrosoft JhengHei"/>
              <a:buNone/>
            </a:pPr>
            <a:r>
              <a:rPr b="1" i="0" lang="zh-TW" sz="13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判斷重點：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icrosoft JhengHei"/>
              <a:buNone/>
            </a:pPr>
            <a:r>
              <a:rPr b="1" i="0" lang="zh-TW" sz="13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「急缺」≠ 最終最值錢。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icrosoft JhengHei"/>
              <a:buNone/>
            </a:pPr>
            <a:r>
              <a:rPr b="1" i="0" lang="zh-TW" sz="13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最急缺的是陽極/設備，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Microsoft JhengHei"/>
              <a:buNone/>
            </a:pPr>
            <a:r>
              <a:rPr b="1" i="0" lang="zh-TW" sz="13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最值錢的仍是 BOO。</a:t>
            </a:r>
            <a:endParaRPr b="0" i="0" sz="13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9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近一年的各項重點財務指標及分析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6｜以已公告數據為基礎；全年查核 EPS / 現金流待 3/10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548640" y="651510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年度營收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10" name="Google Shape;3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356" y="822960"/>
            <a:ext cx="205740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9"/>
          <p:cNvSpPr/>
          <p:nvPr/>
        </p:nvSpPr>
        <p:spPr>
          <a:xfrm>
            <a:off x="630936" y="2386584"/>
            <a:ext cx="19888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全年營收年增 +40.66%，已明確跨過 10 億門檻。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2811780" y="651510"/>
            <a:ext cx="10287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季度營收走勢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13" name="Google Shape;3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8064" y="822960"/>
            <a:ext cx="243459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9"/>
          <p:cNvSpPr/>
          <p:nvPr/>
        </p:nvSpPr>
        <p:spPr>
          <a:xfrm>
            <a:off x="2880360" y="2386584"/>
            <a:ext cx="16459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*25Q4 由全年營收減前三季推算。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5609844" y="980694"/>
            <a:ext cx="822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獲利品質重點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5609844" y="1255014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5733288" y="1200150"/>
            <a:ext cx="141960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2025Q1-Q3 EPS = 8.15 元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5609844" y="1570482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5733288" y="1515618"/>
            <a:ext cx="141960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Q3 單季 EPS = 3.23 元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5609844" y="1885950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9"/>
          <p:cNvSpPr/>
          <p:nvPr/>
        </p:nvSpPr>
        <p:spPr>
          <a:xfrm>
            <a:off x="5733288" y="1831086"/>
            <a:ext cx="141960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Q3 毛利率 = 41.64%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5609844" y="2201418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5733288" y="2146554"/>
            <a:ext cx="141960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近四季 EPS = 10.07 元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5609844" y="2516886"/>
            <a:ext cx="75438" cy="75438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"/>
          <p:cNvSpPr/>
          <p:nvPr/>
        </p:nvSpPr>
        <p:spPr>
          <a:xfrm>
            <a:off x="5733288" y="2462022"/>
            <a:ext cx="141960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全年正式 EPS 待公告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562356" y="2846070"/>
            <a:ext cx="1508760" cy="699516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672084" y="2935224"/>
            <a:ext cx="13167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+40.66%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672084" y="3216402"/>
            <a:ext cx="13167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全年營收 YoY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2194560" y="2846070"/>
            <a:ext cx="1508760" cy="699516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2304288" y="2935224"/>
            <a:ext cx="13167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8.15 元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2304288" y="3216402"/>
            <a:ext cx="13167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2025Q1-Q3 EPS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3826764" y="2846070"/>
            <a:ext cx="1508760" cy="699516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/>
          <p:nvPr/>
        </p:nvSpPr>
        <p:spPr>
          <a:xfrm>
            <a:off x="3936492" y="2935224"/>
            <a:ext cx="13167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41.64%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936492" y="3216402"/>
            <a:ext cx="13167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2025Q3 毛利率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5458968" y="2846070"/>
            <a:ext cx="1508760" cy="699516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5568696" y="2935224"/>
            <a:ext cx="1316736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+53.6%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5568696" y="3216402"/>
            <a:ext cx="1316736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2026 Jan-Feb 營收年增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562356" y="3806190"/>
            <a:ext cx="6858000" cy="809244"/>
          </a:xfrm>
          <a:prstGeom prst="roundRect">
            <a:avLst>
              <a:gd fmla="val 423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720090" y="3943350"/>
            <a:ext cx="65151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財務判讀｜2025 最關鍵的變化是營收規模放大、毛利率站穩 4 字頭、單季 EPS 進入高區；但全年正式現金流與 Q4 獲利尚未公告，因此對「獲利是否完全可轉為現金」仍需保留。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為何衛司特可以脫穎而出？有無競爭者？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7｜護城河在技術 + 模式，不是單點產品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150525" y="630925"/>
            <a:ext cx="877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Microsoft JhengHei"/>
              <a:buNone/>
            </a:pPr>
            <a:r>
              <a:rPr b="1" i="0" lang="zh-TW" sz="16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結論先講：衛司特的直接可比同業其實不多。它不是傳統水處理 EPC，也不是單純金屬回收商，更不是只賣鍍銅耗材。</a:t>
            </a:r>
            <a:endParaRPr b="0" i="0" sz="1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788134" y="1250527"/>
            <a:ext cx="2914800" cy="3360300"/>
          </a:xfrm>
          <a:prstGeom prst="roundRect">
            <a:avLst>
              <a:gd fmla="val 1412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945868" y="1421977"/>
            <a:ext cx="1577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四個能脫穎而出的理由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939010" y="1696297"/>
            <a:ext cx="2592300" cy="5487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1021306" y="1792309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技術深度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1679674" y="1751161"/>
            <a:ext cx="1508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同時掌握電解設備製造與回收處理能力。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939010" y="2354665"/>
            <a:ext cx="2592300" cy="5487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1021306" y="2450677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模式黏著度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679674" y="2409529"/>
            <a:ext cx="1508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BOO 讓設備與人員直接進入客戶工廠。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939010" y="3013033"/>
            <a:ext cx="2592300" cy="5487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1021306" y="3109045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客戶層級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679674" y="3067897"/>
            <a:ext cx="1508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可打進半導體、PCB、面板的高標準客戶。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939010" y="3671401"/>
            <a:ext cx="2592300" cy="5487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1021306" y="3767413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平台延展性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1679674" y="3726265"/>
            <a:ext cx="1508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可從含銅廢液延伸到蝕刻液回用、電池回收。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952726" y="4322911"/>
            <a:ext cx="2592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UAnalyze 指出，衛司特是台積電硫酸銅廢水電解設備的唯一供應商；這種「打進高規格客戶製程」的能力，比單純價格競爭更重要。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3894808" y="1250527"/>
            <a:ext cx="3497700" cy="3360300"/>
          </a:xfrm>
          <a:prstGeom prst="roundRect">
            <a:avLst>
              <a:gd fmla="val 1224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4052542" y="1421977"/>
            <a:ext cx="2263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競爭版圖：更像「分段競爭」而非單一對手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367" name="Google Shape;367;p20"/>
          <p:cNvCxnSpPr/>
          <p:nvPr/>
        </p:nvCxnSpPr>
        <p:spPr>
          <a:xfrm>
            <a:off x="4340578" y="3993727"/>
            <a:ext cx="24690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0"/>
          <p:cNvCxnSpPr/>
          <p:nvPr/>
        </p:nvCxnSpPr>
        <p:spPr>
          <a:xfrm rot="10800000">
            <a:off x="4340578" y="2005027"/>
            <a:ext cx="0" cy="19887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20"/>
          <p:cNvSpPr/>
          <p:nvPr/>
        </p:nvSpPr>
        <p:spPr>
          <a:xfrm>
            <a:off x="6192238" y="4048591"/>
            <a:ext cx="617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技術深度 →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0" name="Google Shape;370;p20"/>
          <p:cNvSpPr/>
          <p:nvPr/>
        </p:nvSpPr>
        <p:spPr>
          <a:xfrm rot="-5400000">
            <a:off x="3915382" y="1833337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模式黏著度 ↑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6089368" y="2210647"/>
            <a:ext cx="377100" cy="377100"/>
          </a:xfrm>
          <a:prstGeom prst="ellipse">
            <a:avLst/>
          </a:prstGeom>
          <a:solidFill>
            <a:srgbClr val="B86A2A">
              <a:alpha val="74901"/>
            </a:srgbClr>
          </a:solidFill>
          <a:ln cap="flat" cmpd="sng" w="12700">
            <a:solidFill>
              <a:srgbClr val="B86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5849338" y="2601553"/>
            <a:ext cx="822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衛司特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4786348" y="3067897"/>
            <a:ext cx="260700" cy="260700"/>
          </a:xfrm>
          <a:prstGeom prst="ellipse">
            <a:avLst/>
          </a:prstGeom>
          <a:solidFill>
            <a:srgbClr val="0F766E">
              <a:alpha val="74901"/>
            </a:srgbClr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"/>
          <p:cNvSpPr/>
          <p:nvPr/>
        </p:nvSpPr>
        <p:spPr>
          <a:xfrm>
            <a:off x="4546318" y="3342217"/>
            <a:ext cx="822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傳統水處理 / EPC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5232118" y="3479377"/>
            <a:ext cx="260700" cy="260700"/>
          </a:xfrm>
          <a:prstGeom prst="ellipse">
            <a:avLst/>
          </a:prstGeom>
          <a:solidFill>
            <a:srgbClr val="2563EB">
              <a:alpha val="74901"/>
            </a:srgbClr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4992088" y="3753697"/>
            <a:ext cx="822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金屬回收商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6055078" y="3307927"/>
            <a:ext cx="260700" cy="260700"/>
          </a:xfrm>
          <a:prstGeom prst="ellipse">
            <a:avLst/>
          </a:prstGeom>
          <a:solidFill>
            <a:srgbClr val="7C3AED">
              <a:alpha val="7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5815048" y="3582247"/>
            <a:ext cx="8229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鍍銅耗材供應商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4038826" y="4309195"/>
            <a:ext cx="31548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投資判讀：衛司特的核心優勢在於「跨設備、耗材、回收與駐廠營運的整合能力」；因此競爭不是只有比價格，而是比誰更能嵌入客戶製程。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1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市場各家分析師 / 公開評論怎麼看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8｜以公開市場評論為主，非完整 sell-side 覆蓋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493776" y="617220"/>
            <a:ext cx="555498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icrosoft JhengHei"/>
              <a:buNone/>
            </a:pPr>
            <a:r>
              <a:rPr b="1" i="0" lang="zh-TW" sz="17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整體輿情基調偏多，但共識不是「便宜」而是「成長能否繼續被驗證」。</a:t>
            </a:r>
            <a:endParaRPr b="0" i="0" sz="1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0" name="Google Shape;390;p21"/>
          <p:cNvSpPr/>
          <p:nvPr/>
        </p:nvSpPr>
        <p:spPr>
          <a:xfrm>
            <a:off x="562356" y="1131570"/>
            <a:ext cx="3806190" cy="133731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562356" y="1131570"/>
            <a:ext cx="3806190" cy="246888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>
            <a:off x="658368" y="1193292"/>
            <a:ext cx="18516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UAnalyze｜產業定位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672084" y="1501902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視衛司特為台積電硫酸銅廢水電解設備的唯一供應商，並指出其台資 PCB 鏈市佔超過三成。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672084" y="2023110"/>
            <a:ext cx="34290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投資翻譯：重點在技術門檻與客戶層級，而非一般環保股估值方式。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60570" y="1131570"/>
            <a:ext cx="3806190" cy="133731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4560570" y="1131570"/>
            <a:ext cx="3806190" cy="246888"/>
          </a:xfrm>
          <a:prstGeom prst="rect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4656582" y="1193292"/>
            <a:ext cx="18516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MoneyDJ｜2026 展望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4670298" y="1501902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看好 BOO 新點位投入、設備交付與維護耗材累積，2026 營運有望再刷新紀錄。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4670298" y="2023110"/>
            <a:ext cx="34290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投資翻譯：市場正在交易「設備放量 + BOO 底盤擴張」雙引擎。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562356" y="2784348"/>
            <a:ext cx="3806190" cy="133731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1"/>
          <p:cNvSpPr/>
          <p:nvPr/>
        </p:nvSpPr>
        <p:spPr>
          <a:xfrm>
            <a:off x="562356" y="2784348"/>
            <a:ext cx="3806190" cy="24688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58368" y="2846070"/>
            <a:ext cx="18516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MoneyDJ｜短期接單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72084" y="315468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不溶性陽極訂單能見度至少到 4 月；半導體電解設備 2026 年出貨將顯著成長。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672084" y="3675888"/>
            <a:ext cx="34290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投資翻譯：短期最熱的不是概念，而是高階 PCB / 半導體實際拉貨。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4560570" y="2784348"/>
            <a:ext cx="3806190" cy="133731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635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4560570" y="2784348"/>
            <a:ext cx="3806190" cy="24688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4656582" y="2846070"/>
            <a:ext cx="18516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市場保留意見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4670298" y="3154680"/>
            <a:ext cx="342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Microsoft JhengHei"/>
              <a:buNone/>
            </a:pPr>
            <a:r>
              <a:rPr b="0" i="0" lang="zh-TW" sz="10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評價已不便宜，仍需觀察設備出貨時點、銅價與匯率順風是否可持續。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4670298" y="3675888"/>
            <a:ext cx="34290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投資翻譯：真正風險不是沒有成長，而是高估值下任何失速都會被放大。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562356" y="4286250"/>
            <a:ext cx="7804404" cy="32918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720090" y="4375404"/>
            <a:ext cx="74066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公開評論共識：偏多，但焦點已從「有沒有成長」轉向「高成長是否可持續、估值是否已反映太多」。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2026/03/07；2025 全年正式查核財報待 2026/03/10 董事會後更新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/>
          <p:nvPr/>
        </p:nvSpPr>
        <p:spPr>
          <a:xfrm>
            <a:off x="0" y="0"/>
            <a:ext cx="9143771" cy="377190"/>
          </a:xfrm>
          <a:prstGeom prst="rect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377190" y="96012"/>
            <a:ext cx="50749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icrosoft JhengHei"/>
              <a:buNone/>
            </a:pPr>
            <a:r>
              <a:rPr b="1" i="0" lang="zh-TW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總結投資方向</a:t>
            </a:r>
            <a:endParaRPr b="0" i="0" sz="1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5726430" y="123444"/>
            <a:ext cx="298323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700"/>
              <a:buFont typeface="Microsoft JhengHei"/>
              <a:buNone/>
            </a:pPr>
            <a:r>
              <a:rPr b="0" i="0" lang="zh-TW" sz="700" u="none" cap="none" strike="noStrike">
                <a:solidFill>
                  <a:srgbClr val="E2E8F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Page 9｜結論：值得長期追蹤，但不宜把順風全部資本化</a:t>
            </a:r>
            <a:endParaRPr b="0" i="0" sz="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493775" y="630925"/>
            <a:ext cx="8396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Microsoft JhengHei"/>
              <a:buNone/>
            </a:pPr>
            <a:r>
              <a:rPr b="1" i="0" lang="zh-TW" sz="17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投資結論：偏多看待，但更適合「追蹤 + 等驗證 + 逢回布局」，而不是在高估值下無差別追價。</a:t>
            </a:r>
            <a:endParaRPr b="0" i="0" sz="17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534134" y="1241119"/>
            <a:ext cx="2503200" cy="3360300"/>
          </a:xfrm>
          <a:prstGeom prst="roundRect">
            <a:avLst>
              <a:gd fmla="val 1644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691868" y="1412569"/>
            <a:ext cx="1371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三條核心投資論點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698726" y="1707463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822170" y="1652599"/>
            <a:ext cx="1968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Microsoft JhengHei"/>
              <a:buNone/>
            </a:pPr>
            <a:r>
              <a:rPr b="0" i="0" lang="zh-TW" sz="11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2025 已證明公司能把營收規模跨上新台階。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698726" y="2050363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822170" y="1995499"/>
            <a:ext cx="1968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Microsoft JhengHei"/>
              <a:buNone/>
            </a:pPr>
            <a:r>
              <a:rPr b="0" i="0" lang="zh-TW" sz="11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最值錢的資產不是單筆設備，而是 BOO 模式與高階客戶黏著度。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698726" y="2393263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822170" y="2338399"/>
            <a:ext cx="1968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Microsoft JhengHei"/>
              <a:buNone/>
            </a:pPr>
            <a:r>
              <a:rPr b="0" i="0" lang="zh-TW" sz="11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若設備放量成功轉成耗材、維護與 BOO 收入，估值中樞可上移。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98726" y="3229939"/>
            <a:ext cx="5487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觀察重點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890750" y="3408247"/>
            <a:ext cx="75300" cy="75300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1014194" y="3353383"/>
            <a:ext cx="162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3/10 正式年報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890750" y="3723715"/>
            <a:ext cx="75300" cy="75300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2"/>
          <p:cNvSpPr/>
          <p:nvPr/>
        </p:nvSpPr>
        <p:spPr>
          <a:xfrm>
            <a:off x="1014194" y="3668851"/>
            <a:ext cx="162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BOO 轉收入速度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890750" y="4039183"/>
            <a:ext cx="75300" cy="75300"/>
          </a:xfrm>
          <a:prstGeom prst="ellipse">
            <a:avLst/>
          </a:prstGeom>
          <a:solidFill>
            <a:srgbClr val="B86A2A"/>
          </a:solidFill>
          <a:ln cap="flat" cmpd="sng" w="12700">
            <a:solidFill>
              <a:srgbClr val="B86A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2"/>
          <p:cNvSpPr/>
          <p:nvPr/>
        </p:nvSpPr>
        <p:spPr>
          <a:xfrm>
            <a:off x="1014194" y="3984319"/>
            <a:ext cx="1625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Q4/Q1 毛利率與現金流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3208754" y="1241119"/>
            <a:ext cx="2777400" cy="336030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387062" y="1412569"/>
            <a:ext cx="150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未來 2~4 季三種情境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3387062" y="1686889"/>
            <a:ext cx="2434500" cy="6516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3510506" y="1803475"/>
            <a:ext cx="377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16A34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多頭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3963134" y="1755469"/>
            <a:ext cx="168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BOO 點位快速放量、Q4/2026Q1 毛利維持高檔、城鋒整合順利。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3387062" y="2475559"/>
            <a:ext cx="2434500" cy="6516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3510506" y="2592145"/>
            <a:ext cx="377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中性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4" name="Google Shape;444;p22"/>
          <p:cNvSpPr/>
          <p:nvPr/>
        </p:nvSpPr>
        <p:spPr>
          <a:xfrm>
            <a:off x="3963134" y="2544139"/>
            <a:ext cx="168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營收續增但設備高基期後放緩，毛利率正常化，估值橫向整理。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3387062" y="3264229"/>
            <a:ext cx="2434500" cy="6516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12700">
            <a:solidFill>
              <a:srgbClr val="B9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>
            <a:off x="3510506" y="3380815"/>
            <a:ext cx="377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Microsoft JhengHei"/>
              <a:buNone/>
            </a:pPr>
            <a:r>
              <a:rPr b="1" i="0" lang="zh-TW" sz="1000" u="none" cap="none" strike="noStrike">
                <a:solidFill>
                  <a:srgbClr val="B91C1C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空頭</a:t>
            </a:r>
            <a:endParaRPr b="0" i="0" sz="10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3963134" y="3332809"/>
            <a:ext cx="16803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Microsoft JhengHei"/>
              <a:buNone/>
            </a:pPr>
            <a:r>
              <a:rPr b="0" i="0" lang="zh-TW" sz="8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設備認列遞延、客戶稼動率轉弱、順風消失，高估值下修。</a:t>
            </a:r>
            <a:endParaRPr b="0" i="0" sz="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6157694" y="1241119"/>
            <a:ext cx="2126100" cy="3360300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6336002" y="1412569"/>
            <a:ext cx="102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900"/>
              <a:buFont typeface="Microsoft JhengHei"/>
              <a:buNone/>
            </a:pPr>
            <a:r>
              <a:rPr b="1" i="0" lang="zh-TW" sz="900" u="none" cap="none" strike="noStrike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目前操作立場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6336002" y="1686889"/>
            <a:ext cx="1748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6A2A"/>
              </a:buClr>
              <a:buSzPts val="1900"/>
              <a:buFont typeface="Microsoft JhengHei"/>
              <a:buNone/>
            </a:pPr>
            <a:r>
              <a:rPr b="1" i="0" lang="zh-TW" sz="1900" u="none" cap="none" strike="noStrike">
                <a:solidFill>
                  <a:srgbClr val="B86A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偏多 / 長期追蹤</a:t>
            </a:r>
            <a:endParaRPr b="0" i="0" sz="1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6336002" y="1995499"/>
            <a:ext cx="17487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icrosoft JhengHei"/>
              <a:buNone/>
            </a:pPr>
            <a:r>
              <a:rPr b="0" i="0" lang="zh-TW" sz="1100" u="none" cap="none" strike="noStrike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但需要估值紀律</a:t>
            </a:r>
            <a:endParaRPr b="0" i="0" sz="11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6336002" y="2393263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6459446" y="2338399"/>
            <a:ext cx="152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若正式年報確認全年 EPS 與現金流品質，長期邏輯更完整。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6336002" y="2722447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6459446" y="2667583"/>
            <a:ext cx="152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若股價已提前反映 2026 高成長，宜等待回檔與數據再加碼。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6336002" y="3051631"/>
            <a:ext cx="75300" cy="75300"/>
          </a:xfrm>
          <a:prstGeom prst="ellipse">
            <a:avLst/>
          </a:prstGeom>
          <a:solidFill>
            <a:srgbClr val="0F766E"/>
          </a:solidFill>
          <a:ln cap="flat" cmpd="sng" w="12700">
            <a:solidFill>
              <a:srgbClr val="0F766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2"/>
          <p:cNvSpPr/>
          <p:nvPr/>
        </p:nvSpPr>
        <p:spPr>
          <a:xfrm>
            <a:off x="6459446" y="2996767"/>
            <a:ext cx="152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Microsoft JhengHei"/>
              <a:buNone/>
            </a:pPr>
            <a:r>
              <a:rPr b="0" i="0" lang="zh-TW" sz="900" u="none" cap="none" strike="noStrike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真正關鍵不是銅價，而是 BOO 能否持續加深。</a:t>
            </a:r>
            <a:endParaRPr b="0" i="0" sz="9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8" name="Google Shape;458;p22"/>
          <p:cNvSpPr/>
          <p:nvPr/>
        </p:nvSpPr>
        <p:spPr>
          <a:xfrm>
            <a:off x="6279628" y="3744300"/>
            <a:ext cx="18936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TTM EPS 10.07 元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若以約 291.5 元股價估算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Microsoft JhengHei"/>
              <a:buNone/>
            </a:pPr>
            <a:r>
              <a:rPr b="1" i="0" lang="zh-TW" sz="1200" u="none" cap="none" strike="noStrike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本益比約 29x</a:t>
            </a:r>
            <a:endParaRPr b="0" i="0" sz="12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397764" y="4924044"/>
            <a:ext cx="8298180" cy="116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Microsoft JhengHei"/>
              <a:buNone/>
            </a:pPr>
            <a:r>
              <a:rPr b="0" i="0" lang="zh-TW" sz="600" u="none" cap="none" strike="noStrike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資料截至 2026/03/07；本頁估值用近四季 EPS 10.07 元與約 291.5 元股價粗估，僅供框架參考。</a:t>
            </a:r>
            <a:endParaRPr b="0" i="0" sz="6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