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"/>
            <a:ext cx="12188952" cy="4572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987552"/>
            <a:ext cx="11365992" cy="18288"/>
          </a:xfrm>
          <a:prstGeom prst="rect">
            <a:avLst/>
          </a:prstGeom>
          <a:solidFill>
            <a:srgbClr val="D8E7F4"/>
          </a:solidFill>
          <a:ln w="12700">
            <a:solidFill>
              <a:srgbClr val="D8E7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57416"/>
            <a:ext cx="12188952" cy="4572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16459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E7F2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16459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E7F2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//PCF PAIN DISCOVERY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11480" y="3749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2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PCF 盤點「客戶端異常面板解析」流程痛點</a:t>
            </a:r>
            <a:endParaRPr lang="en-US" sz="2220" dirty="0"/>
          </a:p>
        </p:txBody>
      </p:sp>
      <p:sp>
        <p:nvSpPr>
          <p:cNvPr id="4" name="Text 2"/>
          <p:cNvSpPr/>
          <p:nvPr/>
        </p:nvSpPr>
        <p:spPr>
          <a:xfrm>
            <a:off x="411480" y="72237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核心問題不只是收到異常面板，而是前端資訊不完整、後端比對慢、判讀經驗難以標準化。</a:t>
            </a:r>
            <a:endParaRPr lang="en-US" sz="1010" dirty="0"/>
          </a:p>
        </p:txBody>
      </p:sp>
      <p:sp>
        <p:nvSpPr>
          <p:cNvPr id="5" name="Shape 3"/>
          <p:cNvSpPr/>
          <p:nvPr/>
        </p:nvSpPr>
        <p:spPr>
          <a:xfrm>
            <a:off x="11119104" y="164592"/>
            <a:ext cx="566928" cy="2743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19104" y="210312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2450592" y="26060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26060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76288" y="26060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089136" y="26060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1234440"/>
            <a:ext cx="2011680" cy="2971800"/>
          </a:xfrm>
          <a:prstGeom prst="roundRect">
            <a:avLst>
              <a:gd name="adj" fmla="val 1591"/>
            </a:avLst>
          </a:prstGeom>
          <a:solidFill>
            <a:srgbClr val="EAF2FF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380744"/>
            <a:ext cx="384048" cy="219456"/>
          </a:xfrm>
          <a:prstGeom prst="roundRect">
            <a:avLst>
              <a:gd name="adj" fmla="val 125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39903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17099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客訴接收 / 建案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54864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客戶提供異常面板、照片、描述、序號或批號。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660904"/>
            <a:ext cx="173736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807208"/>
            <a:ext cx="438912" cy="201168"/>
          </a:xfrm>
          <a:prstGeom prst="roundRect">
            <a:avLst>
              <a:gd name="adj" fmla="val 1363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254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痛點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0906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資訊格式不一；常缺少 defect 圖像、發生條件與時間脈絡。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2624328" y="1234440"/>
            <a:ext cx="2011680" cy="2971800"/>
          </a:xfrm>
          <a:prstGeom prst="roundRect">
            <a:avLst>
              <a:gd name="adj" fmla="val 1591"/>
            </a:avLst>
          </a:prstGeom>
          <a:solidFill>
            <a:srgbClr val="E8F7F4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61488" y="1380744"/>
            <a:ext cx="384048" cy="219456"/>
          </a:xfrm>
          <a:prstGeom prst="roundRect">
            <a:avLst>
              <a:gd name="adj" fmla="val 125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61488" y="139903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61488" y="17099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資料整併 / 關聯</a:t>
            </a:r>
            <a:endParaRPr lang="en-US" sz="1380" dirty="0"/>
          </a:p>
        </p:txBody>
      </p:sp>
      <p:sp>
        <p:nvSpPr>
          <p:cNvPr id="24" name="Text 22"/>
          <p:cNvSpPr/>
          <p:nvPr/>
        </p:nvSpPr>
        <p:spPr>
          <a:xfrm>
            <a:off x="2761488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串接出貨批次、料號、站點履歷、AOI / 點燈 / 老化資料。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61488" y="2660904"/>
            <a:ext cx="173736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61488" y="2807208"/>
            <a:ext cx="438912" cy="201168"/>
          </a:xfrm>
          <a:prstGeom prst="roundRect">
            <a:avLst>
              <a:gd name="adj" fmla="val 1363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61488" y="28254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痛點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61488" y="30906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資料跨 MES、QMS、PLM 與郵件；人工找資料等待長。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4837176" y="1234440"/>
            <a:ext cx="2011680" cy="2971800"/>
          </a:xfrm>
          <a:prstGeom prst="roundRect">
            <a:avLst>
              <a:gd name="adj" fmla="val 1591"/>
            </a:avLst>
          </a:prstGeom>
          <a:solidFill>
            <a:srgbClr val="FFF5E8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74336" y="1380744"/>
            <a:ext cx="384048" cy="219456"/>
          </a:xfrm>
          <a:prstGeom prst="roundRect">
            <a:avLst>
              <a:gd name="adj" fmla="val 125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74336" y="139903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74336" y="17099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異常解析 / 分型</a:t>
            </a:r>
            <a:endParaRPr lang="en-US" sz="1380" dirty="0"/>
          </a:p>
        </p:txBody>
      </p:sp>
      <p:sp>
        <p:nvSpPr>
          <p:cNvPr id="33" name="Text 31"/>
          <p:cNvSpPr/>
          <p:nvPr/>
        </p:nvSpPr>
        <p:spPr>
          <a:xfrm>
            <a:off x="4974336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判讀亮暗點、線缺陷、Mura、偏色、破裂等症狀。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74336" y="2660904"/>
            <a:ext cx="173736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74336" y="2807208"/>
            <a:ext cx="438912" cy="201168"/>
          </a:xfrm>
          <a:prstGeom prst="roundRect">
            <a:avLst>
              <a:gd name="adj" fmla="val 1363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74336" y="28254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痛點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74336" y="30906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高度依賴資深經驗；同一現象可能被分到不同 defect code。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7050024" y="1234440"/>
            <a:ext cx="2011680" cy="2971800"/>
          </a:xfrm>
          <a:prstGeom prst="roundRect">
            <a:avLst>
              <a:gd name="adj" fmla="val 1591"/>
            </a:avLst>
          </a:prstGeom>
          <a:solidFill>
            <a:srgbClr val="FDECE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87184" y="1380744"/>
            <a:ext cx="384048" cy="219456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87184" y="139903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187184" y="17099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根因假設 / 比對</a:t>
            </a:r>
            <a:endParaRPr lang="en-US" sz="1380" dirty="0"/>
          </a:p>
        </p:txBody>
      </p:sp>
      <p:sp>
        <p:nvSpPr>
          <p:cNvPr id="42" name="Text 40"/>
          <p:cNvSpPr/>
          <p:nvPr/>
        </p:nvSpPr>
        <p:spPr>
          <a:xfrm>
            <a:off x="7187184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回看製程、材料、設備、檢測與歷史案例建立假設。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187184" y="2660904"/>
            <a:ext cx="173736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87184" y="2807208"/>
            <a:ext cx="438912" cy="201168"/>
          </a:xfrm>
          <a:prstGeom prst="roundRect">
            <a:avLst>
              <a:gd name="adj" fmla="val 1363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87184" y="28254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痛點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187184" y="30906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證據分散；比對輪次多；無法快速收斂最可能原因。</a:t>
            </a:r>
            <a:endParaRPr lang="en-US" sz="1030" dirty="0"/>
          </a:p>
        </p:txBody>
      </p:sp>
      <p:sp>
        <p:nvSpPr>
          <p:cNvPr id="47" name="Shape 45"/>
          <p:cNvSpPr/>
          <p:nvPr/>
        </p:nvSpPr>
        <p:spPr>
          <a:xfrm>
            <a:off x="9262872" y="1234440"/>
            <a:ext cx="2011680" cy="2971800"/>
          </a:xfrm>
          <a:prstGeom prst="roundRect">
            <a:avLst>
              <a:gd name="adj" fmla="val 1591"/>
            </a:avLst>
          </a:prstGeom>
          <a:solidFill>
            <a:srgbClr val="EFF4F8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400032" y="1380744"/>
            <a:ext cx="384048" cy="219456"/>
          </a:xfrm>
          <a:prstGeom prst="roundRect">
            <a:avLst>
              <a:gd name="adj" fmla="val 125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00032" y="139903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400032" y="17099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報告輸出 / 客戶回覆</a:t>
            </a:r>
            <a:endParaRPr lang="en-US" sz="1380" dirty="0"/>
          </a:p>
        </p:txBody>
      </p:sp>
      <p:sp>
        <p:nvSpPr>
          <p:cNvPr id="51" name="Text 49"/>
          <p:cNvSpPr/>
          <p:nvPr/>
        </p:nvSpPr>
        <p:spPr>
          <a:xfrm>
            <a:off x="9400032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 8D、異常報告、責任歸因與下一步處置。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400032" y="2660904"/>
            <a:ext cx="173736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400032" y="2807208"/>
            <a:ext cx="438912" cy="201168"/>
          </a:xfrm>
          <a:prstGeom prst="roundRect">
            <a:avLst>
              <a:gd name="adj" fmla="val 1363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00032" y="28254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痛點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400032" y="30906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報告耗時；格式不一；高價值案例難回寫成可檢索知識。</a:t>
            </a:r>
            <a:endParaRPr lang="en-US" sz="1030" dirty="0"/>
          </a:p>
        </p:txBody>
      </p:sp>
      <p:sp>
        <p:nvSpPr>
          <p:cNvPr id="56" name="Shape 54"/>
          <p:cNvSpPr/>
          <p:nvPr/>
        </p:nvSpPr>
        <p:spPr>
          <a:xfrm>
            <a:off x="411480" y="4572000"/>
            <a:ext cx="11365992" cy="65836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1792" y="4773168"/>
            <a:ext cx="777240" cy="201168"/>
          </a:xfrm>
          <a:prstGeom prst="roundRect">
            <a:avLst>
              <a:gd name="adj" fmla="val 13636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1792" y="47914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核心症狀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536192" y="4791456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分析週期長、跨部門來回補件、相似面板異常仍需重做一次完整解析。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016752" y="4773168"/>
            <a:ext cx="822960" cy="201168"/>
          </a:xfrm>
          <a:prstGeom prst="roundRect">
            <a:avLst>
              <a:gd name="adj" fmla="val 13636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16752" y="47914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機會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967728" y="4791456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先標準化客訴內容，再自動拉關聯資料、檢索歷史案例並生成初判摘要，讓工程師把時間用在驗證。</a:t>
            </a:r>
            <a:endParaRPr lang="en-US" sz="10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16459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E7F2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//PCF HOTSPOT MAP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11480" y="3749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2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PCF 拆解後的痛點熱區</a:t>
            </a:r>
            <a:endParaRPr lang="en-US" sz="2220" dirty="0"/>
          </a:p>
        </p:txBody>
      </p:sp>
      <p:sp>
        <p:nvSpPr>
          <p:cNvPr id="4" name="Text 2"/>
          <p:cNvSpPr/>
          <p:nvPr/>
        </p:nvSpPr>
        <p:spPr>
          <a:xfrm>
            <a:off x="411480" y="72237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依流程分類框架辨識高摩擦、高等待與高不一致區段，決定 MVP 先切哪一段。</a:t>
            </a:r>
            <a:endParaRPr lang="en-US" sz="1010" dirty="0"/>
          </a:p>
        </p:txBody>
      </p:sp>
      <p:sp>
        <p:nvSpPr>
          <p:cNvPr id="5" name="Shape 3"/>
          <p:cNvSpPr/>
          <p:nvPr/>
        </p:nvSpPr>
        <p:spPr>
          <a:xfrm>
            <a:off x="11119104" y="164592"/>
            <a:ext cx="566928" cy="2743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19104" y="210312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2697480" cy="384048"/>
          </a:xfrm>
          <a:prstGeom prst="roundRect">
            <a:avLst>
              <a:gd name="adj" fmla="val 833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" y="1325880"/>
            <a:ext cx="2587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流程分類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3163824" y="1234440"/>
            <a:ext cx="868680" cy="384048"/>
          </a:xfrm>
          <a:prstGeom prst="roundRect">
            <a:avLst>
              <a:gd name="adj" fmla="val 8333"/>
            </a:avLst>
          </a:prstGeom>
          <a:solidFill>
            <a:srgbClr val="E9F0F8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8688" y="1325880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人工投入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4087368" y="1234440"/>
            <a:ext cx="868680" cy="384048"/>
          </a:xfrm>
          <a:prstGeom prst="roundRect">
            <a:avLst>
              <a:gd name="adj" fmla="val 8333"/>
            </a:avLst>
          </a:prstGeom>
          <a:solidFill>
            <a:srgbClr val="E9F0F8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42232" y="1325880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等待時間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5010912" y="1234440"/>
            <a:ext cx="960120" cy="384048"/>
          </a:xfrm>
          <a:prstGeom prst="roundRect">
            <a:avLst>
              <a:gd name="adj" fmla="val 8333"/>
            </a:avLst>
          </a:prstGeom>
          <a:solidFill>
            <a:srgbClr val="E9F0F8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325880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資料分散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6025896" y="1234440"/>
            <a:ext cx="960120" cy="384048"/>
          </a:xfrm>
          <a:prstGeom prst="roundRect">
            <a:avLst>
              <a:gd name="adj" fmla="val 8333"/>
            </a:avLst>
          </a:prstGeom>
          <a:solidFill>
            <a:srgbClr val="E9F0F8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325880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判讀一致性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7040880" y="1234440"/>
            <a:ext cx="914400" cy="384048"/>
          </a:xfrm>
          <a:prstGeom prst="roundRect">
            <a:avLst>
              <a:gd name="adj" fmla="val 8333"/>
            </a:avLst>
          </a:prstGeom>
          <a:solidFill>
            <a:srgbClr val="E9F0F8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95744" y="132588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可追溯性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8010144" y="1234440"/>
            <a:ext cx="1188720" cy="384048"/>
          </a:xfrm>
          <a:prstGeom prst="roundRect">
            <a:avLst>
              <a:gd name="adj" fmla="val 8333"/>
            </a:avLst>
          </a:prstGeom>
          <a:solidFill>
            <a:srgbClr val="E9F0F8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65008" y="132588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設計優先級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411480" y="1709928"/>
            <a:ext cx="269748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1819656"/>
            <a:ext cx="2478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P1 客訴內容接收與補件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3163824" y="1709928"/>
            <a:ext cx="86868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63824" y="176479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4530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087368" y="1709928"/>
            <a:ext cx="86868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87368" y="176479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010912" y="1709928"/>
            <a:ext cx="96012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176479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4530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025896" y="1709928"/>
            <a:ext cx="96012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25896" y="176479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4530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040880" y="1709928"/>
            <a:ext cx="91440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17647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4530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010144" y="1709928"/>
            <a:ext cx="1188720" cy="438912"/>
          </a:xfrm>
          <a:prstGeom prst="roundRect">
            <a:avLst>
              <a:gd name="adj" fmla="val 7292"/>
            </a:avLst>
          </a:prstGeom>
          <a:solidFill>
            <a:srgbClr val="F8ECE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10144" y="18105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1480" y="2221992"/>
            <a:ext cx="269748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" y="2331720"/>
            <a:ext cx="2478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P2 批次 / 履歷 / 檢測資料整併</a:t>
            </a:r>
            <a:endParaRPr lang="en-US" sz="1160" dirty="0"/>
          </a:p>
        </p:txBody>
      </p:sp>
      <p:sp>
        <p:nvSpPr>
          <p:cNvPr id="37" name="Shape 35"/>
          <p:cNvSpPr/>
          <p:nvPr/>
        </p:nvSpPr>
        <p:spPr>
          <a:xfrm>
            <a:off x="3163824" y="2221992"/>
            <a:ext cx="86868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63824" y="22768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087368" y="2221992"/>
            <a:ext cx="86868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87368" y="22768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010912" y="2221992"/>
            <a:ext cx="96012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10912" y="227685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025896" y="2221992"/>
            <a:ext cx="96012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25896" y="227685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4530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7040880" y="2221992"/>
            <a:ext cx="91440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40880" y="22768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4530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8010144" y="2221992"/>
            <a:ext cx="1188720" cy="438912"/>
          </a:xfrm>
          <a:prstGeom prst="roundRect">
            <a:avLst>
              <a:gd name="adj" fmla="val 7292"/>
            </a:avLst>
          </a:prstGeom>
          <a:solidFill>
            <a:srgbClr val="F8ECE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10144" y="232257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11480" y="2734056"/>
            <a:ext cx="269748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" y="2843784"/>
            <a:ext cx="2478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P3 面板症狀解析與 defect 分型</a:t>
            </a:r>
            <a:endParaRPr lang="en-US" sz="1160" dirty="0"/>
          </a:p>
        </p:txBody>
      </p:sp>
      <p:sp>
        <p:nvSpPr>
          <p:cNvPr id="51" name="Shape 49"/>
          <p:cNvSpPr/>
          <p:nvPr/>
        </p:nvSpPr>
        <p:spPr>
          <a:xfrm>
            <a:off x="3163824" y="2734056"/>
            <a:ext cx="86868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63824" y="278892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4087368" y="2734056"/>
            <a:ext cx="86868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87368" y="278892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4530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5010912" y="2734056"/>
            <a:ext cx="96012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10912" y="27889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4530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6025896" y="2734056"/>
            <a:ext cx="96012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25896" y="27889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7040880" y="2734056"/>
            <a:ext cx="91440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40880" y="27889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4530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8010144" y="2734056"/>
            <a:ext cx="1188720" cy="438912"/>
          </a:xfrm>
          <a:prstGeom prst="roundRect">
            <a:avLst>
              <a:gd name="adj" fmla="val 7292"/>
            </a:avLst>
          </a:prstGeom>
          <a:solidFill>
            <a:srgbClr val="F8ECE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010144" y="283464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11480" y="3246120"/>
            <a:ext cx="269748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21208" y="3355848"/>
            <a:ext cx="2478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P4 歷史案例比對與根因收斂</a:t>
            </a:r>
            <a:endParaRPr lang="en-US" sz="1160" dirty="0"/>
          </a:p>
        </p:txBody>
      </p:sp>
      <p:sp>
        <p:nvSpPr>
          <p:cNvPr id="65" name="Shape 63"/>
          <p:cNvSpPr/>
          <p:nvPr/>
        </p:nvSpPr>
        <p:spPr>
          <a:xfrm>
            <a:off x="3163824" y="3246120"/>
            <a:ext cx="86868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63824" y="330098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4087368" y="3246120"/>
            <a:ext cx="86868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87368" y="3300984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5010912" y="3246120"/>
            <a:ext cx="96012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10912" y="330098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6025896" y="3246120"/>
            <a:ext cx="96012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25896" y="330098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7040880" y="3246120"/>
            <a:ext cx="91440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40880" y="33009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8010144" y="3246120"/>
            <a:ext cx="1188720" cy="438912"/>
          </a:xfrm>
          <a:prstGeom prst="roundRect">
            <a:avLst>
              <a:gd name="adj" fmla="val 7292"/>
            </a:avLst>
          </a:prstGeom>
          <a:solidFill>
            <a:srgbClr val="F8ECE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010144" y="334670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411480" y="3758184"/>
            <a:ext cx="269748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21208" y="3867912"/>
            <a:ext cx="2478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P5 客戶回覆與行動建議</a:t>
            </a:r>
            <a:endParaRPr lang="en-US" sz="1160" dirty="0"/>
          </a:p>
        </p:txBody>
      </p:sp>
      <p:sp>
        <p:nvSpPr>
          <p:cNvPr id="79" name="Shape 77"/>
          <p:cNvSpPr/>
          <p:nvPr/>
        </p:nvSpPr>
        <p:spPr>
          <a:xfrm>
            <a:off x="3163824" y="3758184"/>
            <a:ext cx="86868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163824" y="3813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4530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4087368" y="3758184"/>
            <a:ext cx="86868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087368" y="3813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4530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5010912" y="3758184"/>
            <a:ext cx="96012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10912" y="381304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4530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85" name="Shape 83"/>
          <p:cNvSpPr/>
          <p:nvPr/>
        </p:nvSpPr>
        <p:spPr>
          <a:xfrm>
            <a:off x="6025896" y="3758184"/>
            <a:ext cx="96012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025896" y="381304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4530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87" name="Shape 85"/>
          <p:cNvSpPr/>
          <p:nvPr/>
        </p:nvSpPr>
        <p:spPr>
          <a:xfrm>
            <a:off x="7040880" y="3758184"/>
            <a:ext cx="91440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040880" y="3813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89" name="Shape 87"/>
          <p:cNvSpPr/>
          <p:nvPr/>
        </p:nvSpPr>
        <p:spPr>
          <a:xfrm>
            <a:off x="8010144" y="3758184"/>
            <a:ext cx="1188720" cy="438912"/>
          </a:xfrm>
          <a:prstGeom prst="roundRect">
            <a:avLst>
              <a:gd name="adj" fmla="val 7292"/>
            </a:avLst>
          </a:prstGeom>
          <a:solidFill>
            <a:srgbClr val="F7F1E4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010144" y="38587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411480" y="4270248"/>
            <a:ext cx="269748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21208" y="4379976"/>
            <a:ext cx="2478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P6 結案回寫與知識沉澱</a:t>
            </a:r>
            <a:endParaRPr lang="en-US" sz="1160" dirty="0"/>
          </a:p>
        </p:txBody>
      </p:sp>
      <p:sp>
        <p:nvSpPr>
          <p:cNvPr id="93" name="Shape 91"/>
          <p:cNvSpPr/>
          <p:nvPr/>
        </p:nvSpPr>
        <p:spPr>
          <a:xfrm>
            <a:off x="3163824" y="4270248"/>
            <a:ext cx="86868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163824" y="432511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4530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95" name="Shape 93"/>
          <p:cNvSpPr/>
          <p:nvPr/>
        </p:nvSpPr>
        <p:spPr>
          <a:xfrm>
            <a:off x="4087368" y="4270248"/>
            <a:ext cx="86868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087368" y="432511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97" name="Shape 95"/>
          <p:cNvSpPr/>
          <p:nvPr/>
        </p:nvSpPr>
        <p:spPr>
          <a:xfrm>
            <a:off x="5010912" y="4270248"/>
            <a:ext cx="96012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010912" y="432511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4530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99" name="Shape 97"/>
          <p:cNvSpPr/>
          <p:nvPr/>
        </p:nvSpPr>
        <p:spPr>
          <a:xfrm>
            <a:off x="6025896" y="4270248"/>
            <a:ext cx="96012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025896" y="432511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4530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101" name="Shape 99"/>
          <p:cNvSpPr/>
          <p:nvPr/>
        </p:nvSpPr>
        <p:spPr>
          <a:xfrm>
            <a:off x="7040880" y="4270248"/>
            <a:ext cx="914400" cy="438912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040880" y="43251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103" name="Shape 101"/>
          <p:cNvSpPr/>
          <p:nvPr/>
        </p:nvSpPr>
        <p:spPr>
          <a:xfrm>
            <a:off x="8010144" y="4270248"/>
            <a:ext cx="1188720" cy="438912"/>
          </a:xfrm>
          <a:prstGeom prst="roundRect">
            <a:avLst>
              <a:gd name="adj" fmla="val 7292"/>
            </a:avLst>
          </a:prstGeom>
          <a:solidFill>
            <a:srgbClr val="F7F1E4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010144" y="43708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411480" y="4736592"/>
            <a:ext cx="5806440" cy="105156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66928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熱點結論</a:t>
            </a:r>
            <a:endParaRPr lang="en-US" sz="1250" dirty="0"/>
          </a:p>
        </p:txBody>
      </p:sp>
      <p:sp>
        <p:nvSpPr>
          <p:cNvPr id="107" name="Text 105"/>
          <p:cNvSpPr/>
          <p:nvPr/>
        </p:nvSpPr>
        <p:spPr>
          <a:xfrm>
            <a:off x="566928" y="5138928"/>
            <a:ext cx="5394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最高價值區段集中在「資料整併」與「案例比對 / 根因收斂」。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症狀解析若先標準化 defect taxonomy，可大幅降低跨人員差異。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知識回寫雖非最痛，但決定 Agent 是否能持續提升命中率。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6400800" y="4736592"/>
            <a:ext cx="5376672" cy="1051560"/>
          </a:xfrm>
          <a:prstGeom prst="roundRect">
            <a:avLst>
              <a:gd name="adj" fmla="val 3043"/>
            </a:avLst>
          </a:prstGeom>
          <a:solidFill>
            <a:srgbClr val="FFF5E8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565392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圖例</a:t>
            </a:r>
            <a:endParaRPr lang="en-US" sz="1250" dirty="0"/>
          </a:p>
        </p:txBody>
      </p:sp>
      <p:sp>
        <p:nvSpPr>
          <p:cNvPr id="110" name="Text 108"/>
          <p:cNvSpPr/>
          <p:nvPr/>
        </p:nvSpPr>
        <p:spPr>
          <a:xfrm>
            <a:off x="6729984" y="522122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1080" dirty="0"/>
          </a:p>
        </p:txBody>
      </p:sp>
      <p:sp>
        <p:nvSpPr>
          <p:cNvPr id="111" name="Text 109"/>
          <p:cNvSpPr/>
          <p:nvPr/>
        </p:nvSpPr>
        <p:spPr>
          <a:xfrm>
            <a:off x="7324344" y="522122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1080" dirty="0"/>
          </a:p>
        </p:txBody>
      </p:sp>
      <p:sp>
        <p:nvSpPr>
          <p:cNvPr id="112" name="Text 110"/>
          <p:cNvSpPr/>
          <p:nvPr/>
        </p:nvSpPr>
        <p:spPr>
          <a:xfrm>
            <a:off x="7918704" y="522122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</a:t>
            </a:r>
            <a:endParaRPr lang="en-US" sz="1080" dirty="0"/>
          </a:p>
        </p:txBody>
      </p:sp>
      <p:sp>
        <p:nvSpPr>
          <p:cNvPr id="113" name="Text 111"/>
          <p:cNvSpPr/>
          <p:nvPr/>
        </p:nvSpPr>
        <p:spPr>
          <a:xfrm>
            <a:off x="8412480" y="522122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A：MVP 優先納入   B：第二階段納入</a:t>
            </a:r>
            <a:endParaRPr lang="en-US" sz="1080" dirty="0"/>
          </a:p>
        </p:txBody>
      </p:sp>
      <p:sp>
        <p:nvSpPr>
          <p:cNvPr id="114" name="Text 112"/>
          <p:cNvSpPr/>
          <p:nvPr/>
        </p:nvSpPr>
        <p:spPr>
          <a:xfrm>
            <a:off x="6565392" y="521208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300" dirty="0"/>
          </a:p>
        </p:txBody>
      </p:sp>
      <p:sp>
        <p:nvSpPr>
          <p:cNvPr id="115" name="Text 113"/>
          <p:cNvSpPr/>
          <p:nvPr/>
        </p:nvSpPr>
        <p:spPr>
          <a:xfrm>
            <a:off x="7159752" y="521208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530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300" dirty="0"/>
          </a:p>
        </p:txBody>
      </p:sp>
      <p:sp>
        <p:nvSpPr>
          <p:cNvPr id="116" name="Text 114"/>
          <p:cNvSpPr/>
          <p:nvPr/>
        </p:nvSpPr>
        <p:spPr>
          <a:xfrm>
            <a:off x="7754112" y="521208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16459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E7F2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//ROOT CAUSE TO OPPORTUNITY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11480" y="3749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2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根因分析：從痛點走到 AI 設計機會</a:t>
            </a:r>
            <a:endParaRPr lang="en-US" sz="2220" dirty="0"/>
          </a:p>
        </p:txBody>
      </p:sp>
      <p:sp>
        <p:nvSpPr>
          <p:cNvPr id="4" name="Text 2"/>
          <p:cNvSpPr/>
          <p:nvPr/>
        </p:nvSpPr>
        <p:spPr>
          <a:xfrm>
            <a:off x="411480" y="72237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不是把整個面板故障分析全自動化，而是把最耗時、最易失真的環節變成 Agent 標準能力。</a:t>
            </a:r>
            <a:endParaRPr lang="en-US" sz="1010" dirty="0"/>
          </a:p>
        </p:txBody>
      </p:sp>
      <p:sp>
        <p:nvSpPr>
          <p:cNvPr id="5" name="Shape 3"/>
          <p:cNvSpPr/>
          <p:nvPr/>
        </p:nvSpPr>
        <p:spPr>
          <a:xfrm>
            <a:off x="11119104" y="164592"/>
            <a:ext cx="566928" cy="2743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19104" y="210312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1399032" y="2240280"/>
            <a:ext cx="0" cy="100584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99032" y="3090672"/>
            <a:ext cx="0" cy="109728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2240280"/>
            <a:ext cx="0" cy="100584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0712" y="3090672"/>
            <a:ext cx="0" cy="109728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22392" y="2240280"/>
            <a:ext cx="0" cy="100584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22392" y="3090672"/>
            <a:ext cx="0" cy="109728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34072" y="2240280"/>
            <a:ext cx="0" cy="100584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34072" y="3090672"/>
            <a:ext cx="0" cy="109728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45752" y="2240280"/>
            <a:ext cx="0" cy="100584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45752" y="3090672"/>
            <a:ext cx="0" cy="109728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1417320"/>
            <a:ext cx="1783080" cy="82296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1581912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客訴內容缺欄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2514600" y="1417320"/>
            <a:ext cx="1783080" cy="82296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24328" y="1581912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履歷資料難整併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4526280" y="1417320"/>
            <a:ext cx="1783080" cy="82296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36008" y="1581912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defect 分型不一致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6537960" y="1417320"/>
            <a:ext cx="1783080" cy="82296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7688" y="1581912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根因假設難收斂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8549640" y="1417320"/>
            <a:ext cx="1783080" cy="82296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59368" y="1581912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報告與案例無閉環</a:t>
            </a:r>
            <a:endParaRPr lang="en-US" sz="1140" dirty="0"/>
          </a:p>
        </p:txBody>
      </p:sp>
      <p:sp>
        <p:nvSpPr>
          <p:cNvPr id="27" name="Shape 25"/>
          <p:cNvSpPr/>
          <p:nvPr/>
        </p:nvSpPr>
        <p:spPr>
          <a:xfrm>
            <a:off x="429768" y="3200400"/>
            <a:ext cx="1929384" cy="1005840"/>
          </a:xfrm>
          <a:prstGeom prst="roundRect">
            <a:avLst>
              <a:gd name="adj" fmla="val 3182"/>
            </a:avLst>
          </a:prstGeom>
          <a:solidFill>
            <a:srgbClr val="EAF2FF"/>
          </a:solidFill>
          <a:ln w="12700">
            <a:solidFill>
              <a:srgbClr val="0B1F33"/>
            </a:solidFill>
            <a:prstDash val="solid"/>
          </a:ln>
          <a:effectLst>
            <a:outerShdw sx="100000" sy="100000" kx="0" ky="0" algn="bl" rotWithShape="0" blurRad="7620" dist="3810" dir="2700000">
              <a:srgbClr val="0B1F33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9496" y="338328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客訴摘要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自動補齊關鍵欄位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441448" y="3200400"/>
            <a:ext cx="1929384" cy="1005840"/>
          </a:xfrm>
          <a:prstGeom prst="roundRect">
            <a:avLst>
              <a:gd name="adj" fmla="val 3182"/>
            </a:avLst>
          </a:prstGeom>
          <a:solidFill>
            <a:srgbClr val="E8F7F4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" dist="3810" dir="2700000">
              <a:srgbClr val="0B1F33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551176" y="338328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多源資料整合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一鍵拉出關聯履歷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453128" y="3200400"/>
            <a:ext cx="1929384" cy="1005840"/>
          </a:xfrm>
          <a:prstGeom prst="roundRect">
            <a:avLst>
              <a:gd name="adj" fmla="val 3182"/>
            </a:avLst>
          </a:prstGeom>
          <a:solidFill>
            <a:srgbClr val="FFF5E8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" dist="3810" dir="2700000">
              <a:srgbClr val="0B1F33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62856" y="338328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症狀辨識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統一 defect taxonomy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64808" y="3200400"/>
            <a:ext cx="1929384" cy="1005840"/>
          </a:xfrm>
          <a:prstGeom prst="roundRect">
            <a:avLst>
              <a:gd name="adj" fmla="val 3182"/>
            </a:avLst>
          </a:prstGeom>
          <a:solidFill>
            <a:srgbClr val="FDECEC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" dist="3810" dir="2700000">
              <a:srgbClr val="0B1F33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74536" y="338328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案例檢索 + 排序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附證據鏈與信心值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476488" y="3200400"/>
            <a:ext cx="1929384" cy="1005840"/>
          </a:xfrm>
          <a:prstGeom prst="roundRect">
            <a:avLst>
              <a:gd name="adj" fmla="val 3182"/>
            </a:avLst>
          </a:prstGeom>
          <a:solidFill>
            <a:srgbClr val="EFF4F8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7620" dist="3810" dir="2700000">
              <a:srgbClr val="0B1F33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586216" y="338328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報告生成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結案可結構化回寫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" y="4754880"/>
            <a:ext cx="11109960" cy="713232"/>
          </a:xfrm>
          <a:prstGeom prst="roundRect">
            <a:avLst>
              <a:gd name="adj" fmla="val 4487"/>
            </a:avLst>
          </a:prstGeom>
          <a:solidFill>
            <a:srgbClr val="F8FB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496519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設計前提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783080" y="495604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聚焦於「蒐集、解析、檢索、輸出」四段；責任判定、製程調整、客戶承諾與最終簽核仍保留人工決策。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16459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E7F2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//AI CANVAS | INPUT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11480" y="3749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2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Canvas｜Input 評估</a:t>
            </a:r>
            <a:endParaRPr lang="en-US" sz="2220" dirty="0"/>
          </a:p>
        </p:txBody>
      </p:sp>
      <p:sp>
        <p:nvSpPr>
          <p:cNvPr id="4" name="Text 2"/>
          <p:cNvSpPr/>
          <p:nvPr/>
        </p:nvSpPr>
        <p:spPr>
          <a:xfrm>
            <a:off x="411480" y="72237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盤點面板異常解析 Agent 可讀取的輸入來源，確認欄位完整性、權限與資料品質。</a:t>
            </a:r>
            <a:endParaRPr lang="en-US" sz="1010" dirty="0"/>
          </a:p>
        </p:txBody>
      </p:sp>
      <p:sp>
        <p:nvSpPr>
          <p:cNvPr id="5" name="Shape 3"/>
          <p:cNvSpPr/>
          <p:nvPr/>
        </p:nvSpPr>
        <p:spPr>
          <a:xfrm>
            <a:off x="11119104" y="164592"/>
            <a:ext cx="566928" cy="2743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19104" y="210312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2331720" cy="1600200"/>
          </a:xfrm>
          <a:prstGeom prst="roundRect">
            <a:avLst>
              <a:gd name="adj" fmla="val 2000"/>
            </a:avLst>
          </a:prstGeom>
          <a:solidFill>
            <a:srgbClr val="EAF2FF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" y="1417320"/>
            <a:ext cx="512064" cy="201168"/>
          </a:xfrm>
          <a:prstGeom prst="roundRect">
            <a:avLst>
              <a:gd name="adj" fmla="val 13636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143560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INPUT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7784" y="1709928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客戶端資訊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557784" y="20116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異常照片 / 影片、症狀描述、發生條件、機種 / 序號 / 料號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57784" y="2487168"/>
            <a:ext cx="2039112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2606040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適合做事件摘要與補件提醒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80360" y="1280160"/>
            <a:ext cx="2331720" cy="1600200"/>
          </a:xfrm>
          <a:prstGeom prst="roundRect">
            <a:avLst>
              <a:gd name="adj" fmla="val 2000"/>
            </a:avLst>
          </a:prstGeom>
          <a:solidFill>
            <a:srgbClr val="E8F7F4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26664" y="1417320"/>
            <a:ext cx="512064" cy="201168"/>
          </a:xfrm>
          <a:prstGeom prst="roundRect">
            <a:avLst>
              <a:gd name="adj" fmla="val 1363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26664" y="143560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INPUT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26664" y="1709928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製造與出貨履歷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3026664" y="20116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lot、站點履歷、出貨批次、BOM、供應批次、維修 / RMA 編碼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3026664" y="2487168"/>
            <a:ext cx="2039112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26664" y="2606040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用於建立上下文與關聯範圍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1280160"/>
            <a:ext cx="2331720" cy="1600200"/>
          </a:xfrm>
          <a:prstGeom prst="roundRect">
            <a:avLst>
              <a:gd name="adj" fmla="val 2000"/>
            </a:avLst>
          </a:prstGeom>
          <a:solidFill>
            <a:srgbClr val="FFF5E8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95544" y="1417320"/>
            <a:ext cx="512064" cy="201168"/>
          </a:xfrm>
          <a:prstGeom prst="roundRect">
            <a:avLst>
              <a:gd name="adj" fmla="val 13636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95544" y="143560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INPUT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95544" y="1709928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檢測與量測資料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5495544" y="20116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AOI、點燈、Mura / 色度、老化、功能測試、panel map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5495544" y="2487168"/>
            <a:ext cx="2039112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95544" y="2606040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可支援 defect 分型與證據引用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818120" y="1280160"/>
            <a:ext cx="3044952" cy="1600200"/>
          </a:xfrm>
          <a:prstGeom prst="roundRect">
            <a:avLst>
              <a:gd name="adj" fmla="val 2000"/>
            </a:avLst>
          </a:prstGeom>
          <a:solidFill>
            <a:srgbClr val="FDECE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64424" y="1417320"/>
            <a:ext cx="512064" cy="201168"/>
          </a:xfrm>
          <a:prstGeom prst="roundRect">
            <a:avLst>
              <a:gd name="adj" fmla="val 1363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64424" y="143560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INPUT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964424" y="1709928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知識與案例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7964424" y="2011680"/>
            <a:ext cx="2752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defect taxonomy、SOP、8D、FMEA、歷史異常與責任判定案例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7964424" y="2487168"/>
            <a:ext cx="2752344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64424" y="2606040"/>
            <a:ext cx="2752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適合建立檢索庫與建議規則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3200400"/>
            <a:ext cx="11365992" cy="155448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" y="3401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輸入成熟度檢查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" y="3730752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7490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87552" y="37033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欄位完整性</a:t>
            </a:r>
            <a:endParaRPr lang="en-US" sz="1160" dirty="0"/>
          </a:p>
        </p:txBody>
      </p:sp>
      <p:sp>
        <p:nvSpPr>
          <p:cNvPr id="40" name="Text 38"/>
          <p:cNvSpPr/>
          <p:nvPr/>
        </p:nvSpPr>
        <p:spPr>
          <a:xfrm>
            <a:off x="640080" y="4005072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至少可穩定取得 panel id、料號、客訴時間、異常圖像與 defect 描述。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3383280" y="3730752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0" y="37490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730752" y="37033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影像與文字對應</a:t>
            </a:r>
            <a:endParaRPr lang="en-US" sz="1160" dirty="0"/>
          </a:p>
        </p:txBody>
      </p:sp>
      <p:sp>
        <p:nvSpPr>
          <p:cNvPr id="44" name="Text 42"/>
          <p:cNvSpPr/>
          <p:nvPr/>
        </p:nvSpPr>
        <p:spPr>
          <a:xfrm>
            <a:off x="3383280" y="4005072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圖像、panel map 與文字描述要能綁定同一事件，避免誤配。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6126480" y="3730752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37490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73952" y="37033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權限與遮罩</a:t>
            </a:r>
            <a:endParaRPr lang="en-US" sz="1160" dirty="0"/>
          </a:p>
        </p:txBody>
      </p:sp>
      <p:sp>
        <p:nvSpPr>
          <p:cNvPr id="48" name="Text 46"/>
          <p:cNvSpPr/>
          <p:nvPr/>
        </p:nvSpPr>
        <p:spPr>
          <a:xfrm>
            <a:off x="6126480" y="4005072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客戶資訊、序號與供應商資料需按角色控管與脫敏。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8869680" y="3730752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69680" y="37490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217152" y="37033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案例標註品質</a:t>
            </a:r>
            <a:endParaRPr lang="en-US" sz="1160" dirty="0"/>
          </a:p>
        </p:txBody>
      </p:sp>
      <p:sp>
        <p:nvSpPr>
          <p:cNvPr id="52" name="Text 50"/>
          <p:cNvSpPr/>
          <p:nvPr/>
        </p:nvSpPr>
        <p:spPr>
          <a:xfrm>
            <a:off x="8869680" y="4005072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歷史案例需有 defect 類別、根因、責任歸因與驗證結果。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411480" y="4983480"/>
            <a:ext cx="11365992" cy="420624"/>
          </a:xfrm>
          <a:prstGeom prst="roundRect">
            <a:avLst>
              <a:gd name="adj" fmla="val 7609"/>
            </a:avLst>
          </a:prstGeom>
          <a:solidFill>
            <a:srgbClr val="FFF7E8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5102352"/>
            <a:ext cx="10927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結論：此場景的輸入本質上是「客戶端異常證據 + 製造履歷 + 檢測知識」三者的交叉比對。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16459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E7F2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//AI CANVAS | PROCESS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11480" y="3749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2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Canvas｜Process 評估</a:t>
            </a:r>
            <a:endParaRPr lang="en-US" sz="2220" dirty="0"/>
          </a:p>
        </p:txBody>
      </p:sp>
      <p:sp>
        <p:nvSpPr>
          <p:cNvPr id="4" name="Text 2"/>
          <p:cNvSpPr/>
          <p:nvPr/>
        </p:nvSpPr>
        <p:spPr>
          <a:xfrm>
            <a:off x="411480" y="72237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流程設計採分段、可驗證、可追溯原則，避免把 defect 判斷做成黑盒。</a:t>
            </a:r>
            <a:endParaRPr lang="en-US" sz="1010" dirty="0"/>
          </a:p>
        </p:txBody>
      </p:sp>
      <p:sp>
        <p:nvSpPr>
          <p:cNvPr id="5" name="Shape 3"/>
          <p:cNvSpPr/>
          <p:nvPr/>
        </p:nvSpPr>
        <p:spPr>
          <a:xfrm>
            <a:off x="11119104" y="164592"/>
            <a:ext cx="566928" cy="2743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19104" y="210312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1842516" y="18745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42716" y="18745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42916" y="18745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43116" y="18745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43316" y="18745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43516" y="18745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1417320"/>
            <a:ext cx="1280160" cy="144475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7620" dist="3810" dir="2700000">
              <a:srgbClr val="0B1F33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1572768"/>
            <a:ext cx="548640" cy="210312"/>
          </a:xfrm>
          <a:prstGeom prst="roundRect">
            <a:avLst>
              <a:gd name="adj" fmla="val 1304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159105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6072" y="190195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事件標準化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59436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整理客訴內容、補齊 panel / lot / 型號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612648" y="2596896"/>
            <a:ext cx="1051560" cy="164592"/>
          </a:xfrm>
          <a:prstGeom prst="roundRect">
            <a:avLst>
              <a:gd name="adj" fmla="val 16667"/>
            </a:avLst>
          </a:prstGeom>
          <a:solidFill>
            <a:srgbClr val="EFF4F8"/>
          </a:solidFill>
          <a:ln w="12700">
            <a:solidFill>
              <a:srgbClr val="EFF4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26151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規則 + LLM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03120" y="1417320"/>
            <a:ext cx="1280160" cy="144475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7620" dist="3810" dir="2700000">
              <a:srgbClr val="0B1F33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68880" y="1572768"/>
            <a:ext cx="548640" cy="210312"/>
          </a:xfrm>
          <a:prstGeom prst="roundRect">
            <a:avLst>
              <a:gd name="adj" fmla="val 1304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68880" y="159105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76272" y="190195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資料蒐集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219456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拉取履歷、檢測、RMA、歷史 8D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2212848" y="2596896"/>
            <a:ext cx="1051560" cy="164592"/>
          </a:xfrm>
          <a:prstGeom prst="roundRect">
            <a:avLst>
              <a:gd name="adj" fmla="val 16667"/>
            </a:avLst>
          </a:prstGeom>
          <a:solidFill>
            <a:srgbClr val="EFF4F8"/>
          </a:solidFill>
          <a:ln w="12700">
            <a:solidFill>
              <a:srgbClr val="EFF4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12848" y="26151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Tool calling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03320" y="1417320"/>
            <a:ext cx="1280160" cy="144475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7620" dist="3810" dir="2700000">
              <a:srgbClr val="0B1F33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069080" y="1572768"/>
            <a:ext cx="548640" cy="210312"/>
          </a:xfrm>
          <a:prstGeom prst="roundRect">
            <a:avLst>
              <a:gd name="adj" fmla="val 13043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69080" y="159105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76472" y="190195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症狀解析</a:t>
            </a:r>
            <a:endParaRPr lang="en-US" sz="1140" dirty="0"/>
          </a:p>
        </p:txBody>
      </p:sp>
      <p:sp>
        <p:nvSpPr>
          <p:cNvPr id="31" name="Text 29"/>
          <p:cNvSpPr/>
          <p:nvPr/>
        </p:nvSpPr>
        <p:spPr>
          <a:xfrm>
            <a:off x="379476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將圖像 / 文字對齊並分類 defect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3813048" y="2596896"/>
            <a:ext cx="1051560" cy="164592"/>
          </a:xfrm>
          <a:prstGeom prst="roundRect">
            <a:avLst>
              <a:gd name="adj" fmla="val 16667"/>
            </a:avLst>
          </a:prstGeom>
          <a:solidFill>
            <a:srgbClr val="EFF4F8"/>
          </a:solidFill>
          <a:ln w="12700">
            <a:solidFill>
              <a:srgbClr val="EFF4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13048" y="26151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Vision + taxonomy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303520" y="1417320"/>
            <a:ext cx="1280160" cy="144475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7620" dist="3810" dir="2700000">
              <a:srgbClr val="0B1F33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669280" y="1572768"/>
            <a:ext cx="548640" cy="210312"/>
          </a:xfrm>
          <a:prstGeom prst="roundRect">
            <a:avLst>
              <a:gd name="adj" fmla="val 1304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0" y="159105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76672" y="190195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案例檢索</a:t>
            </a:r>
            <a:endParaRPr lang="en-US" sz="1140" dirty="0"/>
          </a:p>
        </p:txBody>
      </p:sp>
      <p:sp>
        <p:nvSpPr>
          <p:cNvPr id="38" name="Text 36"/>
          <p:cNvSpPr/>
          <p:nvPr/>
        </p:nvSpPr>
        <p:spPr>
          <a:xfrm>
            <a:off x="539496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找相似面板異常與對應 SOP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5413248" y="2596896"/>
            <a:ext cx="1051560" cy="164592"/>
          </a:xfrm>
          <a:prstGeom prst="roundRect">
            <a:avLst>
              <a:gd name="adj" fmla="val 16667"/>
            </a:avLst>
          </a:prstGeom>
          <a:solidFill>
            <a:srgbClr val="EFF4F8"/>
          </a:solidFill>
          <a:ln w="12700">
            <a:solidFill>
              <a:srgbClr val="EFF4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13248" y="26151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RAG / vector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03720" y="1417320"/>
            <a:ext cx="1280160" cy="144475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7620" dist="3810" dir="2700000">
              <a:srgbClr val="0B1F33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69480" y="1572768"/>
            <a:ext cx="548640" cy="210312"/>
          </a:xfrm>
          <a:prstGeom prst="roundRect">
            <a:avLst>
              <a:gd name="adj" fmla="val 1304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69480" y="159105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76872" y="190195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原因排序</a:t>
            </a:r>
            <a:endParaRPr lang="en-US" sz="1140" dirty="0"/>
          </a:p>
        </p:txBody>
      </p:sp>
      <p:sp>
        <p:nvSpPr>
          <p:cNvPr id="45" name="Text 43"/>
          <p:cNvSpPr/>
          <p:nvPr/>
        </p:nvSpPr>
        <p:spPr>
          <a:xfrm>
            <a:off x="699516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產生 Top-N 根因與責任假設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7013448" y="2596896"/>
            <a:ext cx="1051560" cy="164592"/>
          </a:xfrm>
          <a:prstGeom prst="roundRect">
            <a:avLst>
              <a:gd name="adj" fmla="val 16667"/>
            </a:avLst>
          </a:prstGeom>
          <a:solidFill>
            <a:srgbClr val="EFF4F8"/>
          </a:solidFill>
          <a:ln w="12700">
            <a:solidFill>
              <a:srgbClr val="EFF4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13448" y="26151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LLM + ranking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503920" y="1417320"/>
            <a:ext cx="1280160" cy="144475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7620" dist="3810" dir="2700000">
              <a:srgbClr val="0B1F33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869680" y="1572768"/>
            <a:ext cx="548640" cy="210312"/>
          </a:xfrm>
          <a:prstGeom prst="roundRect">
            <a:avLst>
              <a:gd name="adj" fmla="val 1304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69680" y="159105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577072" y="190195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人工確認</a:t>
            </a:r>
            <a:endParaRPr lang="en-US" sz="1140" dirty="0"/>
          </a:p>
        </p:txBody>
      </p:sp>
      <p:sp>
        <p:nvSpPr>
          <p:cNvPr id="52" name="Text 50"/>
          <p:cNvSpPr/>
          <p:nvPr/>
        </p:nvSpPr>
        <p:spPr>
          <a:xfrm>
            <a:off x="859536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工程師核對證據與補充現場脈絡</a:t>
            </a:r>
            <a:endParaRPr lang="en-US" sz="930" dirty="0"/>
          </a:p>
        </p:txBody>
      </p:sp>
      <p:sp>
        <p:nvSpPr>
          <p:cNvPr id="53" name="Shape 51"/>
          <p:cNvSpPr/>
          <p:nvPr/>
        </p:nvSpPr>
        <p:spPr>
          <a:xfrm>
            <a:off x="8613648" y="2596896"/>
            <a:ext cx="1051560" cy="164592"/>
          </a:xfrm>
          <a:prstGeom prst="roundRect">
            <a:avLst>
              <a:gd name="adj" fmla="val 16667"/>
            </a:avLst>
          </a:prstGeom>
          <a:solidFill>
            <a:srgbClr val="EFF4F8"/>
          </a:solidFill>
          <a:ln w="12700">
            <a:solidFill>
              <a:srgbClr val="EFF4F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13648" y="26151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HITL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0104120" y="1417320"/>
            <a:ext cx="1280160" cy="144475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7620" dist="3810" dir="2700000">
              <a:srgbClr val="0B1F33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10469880" y="1572768"/>
            <a:ext cx="548640" cy="210312"/>
          </a:xfrm>
          <a:prstGeom prst="roundRect">
            <a:avLst>
              <a:gd name="adj" fmla="val 1304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469880" y="159105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177272" y="190195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輸出封裝</a:t>
            </a:r>
            <a:endParaRPr lang="en-US" sz="1140" dirty="0"/>
          </a:p>
        </p:txBody>
      </p:sp>
      <p:sp>
        <p:nvSpPr>
          <p:cNvPr id="59" name="Text 57"/>
          <p:cNvSpPr/>
          <p:nvPr/>
        </p:nvSpPr>
        <p:spPr>
          <a:xfrm>
            <a:off x="1019556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生成摘要、客回草稿、結案 payload</a:t>
            </a:r>
            <a:endParaRPr lang="en-US" sz="930" dirty="0"/>
          </a:p>
        </p:txBody>
      </p:sp>
      <p:sp>
        <p:nvSpPr>
          <p:cNvPr id="60" name="Shape 58"/>
          <p:cNvSpPr/>
          <p:nvPr/>
        </p:nvSpPr>
        <p:spPr>
          <a:xfrm>
            <a:off x="10213848" y="2596896"/>
            <a:ext cx="1051560" cy="164592"/>
          </a:xfrm>
          <a:prstGeom prst="roundRect">
            <a:avLst>
              <a:gd name="adj" fmla="val 16667"/>
            </a:avLst>
          </a:prstGeom>
          <a:solidFill>
            <a:srgbClr val="EFF4F8"/>
          </a:solidFill>
          <a:ln w="12700">
            <a:solidFill>
              <a:srgbClr val="EFF4F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213848" y="26151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Template / API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3337560"/>
            <a:ext cx="11365992" cy="1600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2648" y="35661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Process 設計原則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21792" y="3886200"/>
            <a:ext cx="57150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每一步輸出都要附來源：客訴文字、影像引用、履歷片段與案例來源需可回查。</a:t>
            </a:r>
            <a:endParaRPr lang="en-US" sz="1080" dirty="0"/>
          </a:p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解析與推論分開：先分型、再檢索、最後做根因排序，降低誤判。</a:t>
            </a:r>
            <a:endParaRPr lang="en-US" sz="1080" dirty="0"/>
          </a:p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維持 Human-in-the-loop：責任歸屬、客戶回覆承諾與製程調整保留人工確認。</a:t>
            </a:r>
            <a:endParaRPr lang="en-US" sz="1080" dirty="0"/>
          </a:p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所有結果可回寫：結案結論、採納與未採納理由皆應回饋到評估與案例庫。</a:t>
            </a:r>
            <a:endParaRPr lang="en-US" sz="1080" dirty="0"/>
          </a:p>
        </p:txBody>
      </p:sp>
      <p:sp>
        <p:nvSpPr>
          <p:cNvPr id="65" name="Shape 63"/>
          <p:cNvSpPr/>
          <p:nvPr/>
        </p:nvSpPr>
        <p:spPr>
          <a:xfrm>
            <a:off x="6492240" y="3657600"/>
            <a:ext cx="4937760" cy="960120"/>
          </a:xfrm>
          <a:prstGeom prst="roundRect">
            <a:avLst>
              <a:gd name="adj" fmla="val 3333"/>
            </a:avLst>
          </a:prstGeom>
          <a:solidFill>
            <a:srgbClr val="FDECE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93408" y="38404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人機協作邊界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693408" y="4133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負責整理、解析、檢索、排序；品質 / 製程工程師保留責任判定、對客承諾與改善決策。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16459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E7F2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//AI CANVAS | OUTPUT / RISK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11480" y="3749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2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Canvas｜Output / Risk 評估</a:t>
            </a:r>
            <a:endParaRPr lang="en-US" sz="2220" dirty="0"/>
          </a:p>
        </p:txBody>
      </p:sp>
      <p:sp>
        <p:nvSpPr>
          <p:cNvPr id="4" name="Text 2"/>
          <p:cNvSpPr/>
          <p:nvPr/>
        </p:nvSpPr>
        <p:spPr>
          <a:xfrm>
            <a:off x="411480" y="72237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輸出必須能直接支援工程與客服；風險則須與責任判定流程同步設計。</a:t>
            </a:r>
            <a:endParaRPr lang="en-US" sz="1010" dirty="0"/>
          </a:p>
        </p:txBody>
      </p:sp>
      <p:sp>
        <p:nvSpPr>
          <p:cNvPr id="5" name="Shape 3"/>
          <p:cNvSpPr/>
          <p:nvPr/>
        </p:nvSpPr>
        <p:spPr>
          <a:xfrm>
            <a:off x="11119104" y="164592"/>
            <a:ext cx="566928" cy="2743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19104" y="210312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6400800" cy="3383280"/>
          </a:xfrm>
          <a:prstGeom prst="roundRect">
            <a:avLst>
              <a:gd name="adj" fmla="val 946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490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Output 設計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" y="1874520"/>
            <a:ext cx="1828800" cy="960120"/>
          </a:xfrm>
          <a:prstGeom prst="roundRect">
            <a:avLst>
              <a:gd name="adj" fmla="val 3333"/>
            </a:avLst>
          </a:prstGeom>
          <a:solidFill>
            <a:srgbClr val="EAF2FF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3911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事件摘要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313432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一句話說明症狀、涉及機種、批次與當前狀態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1874520"/>
            <a:ext cx="1828800" cy="960120"/>
          </a:xfrm>
          <a:prstGeom prst="roundRect">
            <a:avLst>
              <a:gd name="adj" fmla="val 3333"/>
            </a:avLst>
          </a:prstGeom>
          <a:solidFill>
            <a:srgbClr val="E8F7F4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07208" y="203911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defect 解析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07208" y="2313432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候選 defect 類別、位置描述、信心值與引用證據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73168" y="1874520"/>
            <a:ext cx="1783080" cy="960120"/>
          </a:xfrm>
          <a:prstGeom prst="roundRect">
            <a:avLst>
              <a:gd name="adj" fmla="val 3333"/>
            </a:avLst>
          </a:prstGeom>
          <a:solidFill>
            <a:srgbClr val="FFF5E8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82896" y="2039112"/>
            <a:ext cx="1563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原因排序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82896" y="2313432"/>
            <a:ext cx="1563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Top-N 根因 / 責任假設、需補的驗證項目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" y="3081528"/>
            <a:ext cx="1828800" cy="960120"/>
          </a:xfrm>
          <a:prstGeom prst="roundRect">
            <a:avLst>
              <a:gd name="adj" fmla="val 3333"/>
            </a:avLst>
          </a:prstGeom>
          <a:solidFill>
            <a:srgbClr val="FFF5E8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246120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客回草稿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52044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8D / 異常報告 / 對客摘要自動成稿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97480" y="3081528"/>
            <a:ext cx="1828800" cy="960120"/>
          </a:xfrm>
          <a:prstGeom prst="roundRect">
            <a:avLst>
              <a:gd name="adj" fmla="val 3333"/>
            </a:avLst>
          </a:prstGeom>
          <a:solidFill>
            <a:srgbClr val="E8F7F4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07208" y="3246120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知識回寫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07208" y="352044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結案內容回寫案例庫與 defect 知識字典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73168" y="3081528"/>
            <a:ext cx="1783080" cy="960120"/>
          </a:xfrm>
          <a:prstGeom prst="roundRect">
            <a:avLst>
              <a:gd name="adj" fmla="val 3333"/>
            </a:avLst>
          </a:prstGeom>
          <a:solidFill>
            <a:srgbClr val="EFF4F8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2896" y="3246120"/>
            <a:ext cx="1563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介面形式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82896" y="3520440"/>
            <a:ext cx="1563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客服工單側欄、工程 Copilot、API 回傳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59168" y="1280160"/>
            <a:ext cx="4718304" cy="3383280"/>
          </a:xfrm>
          <a:prstGeom prst="roundRect">
            <a:avLst>
              <a:gd name="adj" fmla="val 946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78624" y="14904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Risk 控制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98080" y="2039112"/>
            <a:ext cx="384048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0336" y="192938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35240" y="18562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錯誤分型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8732520" y="18562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低信心時不直接定類別，改顯示候選與需補圖像 / 資料。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98080" y="2569464"/>
            <a:ext cx="384048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0336" y="245973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635240" y="23865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責任誤判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8732520" y="238658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責任歸因不由模型自動結論，必須附證據並由人工覆核。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98080" y="3099816"/>
            <a:ext cx="384048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0336" y="29900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635240" y="29169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資料錯配</a:t>
            </a:r>
            <a:endParaRPr lang="en-US" sz="1120" dirty="0"/>
          </a:p>
        </p:txBody>
      </p:sp>
      <p:sp>
        <p:nvSpPr>
          <p:cNvPr id="40" name="Text 38"/>
          <p:cNvSpPr/>
          <p:nvPr/>
        </p:nvSpPr>
        <p:spPr>
          <a:xfrm>
            <a:off x="8732520" y="291693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panel id、lot 與影像綁定需有校驗機制，避免用錯事件資料。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98080" y="3630168"/>
            <a:ext cx="384048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60336" y="35204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635240" y="34472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敏感資訊外洩</a:t>
            </a:r>
            <a:endParaRPr lang="en-US" sz="1120" dirty="0"/>
          </a:p>
        </p:txBody>
      </p:sp>
      <p:sp>
        <p:nvSpPr>
          <p:cNvPr id="44" name="Text 42"/>
          <p:cNvSpPr/>
          <p:nvPr/>
        </p:nvSpPr>
        <p:spPr>
          <a:xfrm>
            <a:off x="8732520" y="344728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客戶名稱、序號與供應商資訊需遮罩、RBAC 與審計。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98080" y="4160520"/>
            <a:ext cx="384048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60336" y="405079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635240" y="39776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過度依賴 AI</a:t>
            </a:r>
            <a:endParaRPr lang="en-US" sz="1120" dirty="0"/>
          </a:p>
        </p:txBody>
      </p:sp>
      <p:sp>
        <p:nvSpPr>
          <p:cNvPr id="48" name="Text 46"/>
          <p:cNvSpPr/>
          <p:nvPr/>
        </p:nvSpPr>
        <p:spPr>
          <a:xfrm>
            <a:off x="8732520" y="397764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定期抽驗誤判案例，保留工程師挑戰與退回機制。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11480" y="4983480"/>
            <a:ext cx="11365992" cy="420624"/>
          </a:xfrm>
          <a:prstGeom prst="roundRect">
            <a:avLst>
              <a:gd name="adj" fmla="val 7609"/>
            </a:avLst>
          </a:prstGeom>
          <a:solidFill>
            <a:srgbClr val="FFF7E8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510235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關鍵原則：輸出若不能直接幫助 defect 判讀與對客溝通，就只是摘要；風控若不嵌進責任流程，就只是提醒。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16459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E7F2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//BENEFIT ASSESSMENT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11480" y="3749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2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效益評估｜四項導入指標</a:t>
            </a:r>
            <a:endParaRPr lang="en-US" sz="2220" dirty="0"/>
          </a:p>
        </p:txBody>
      </p:sp>
      <p:sp>
        <p:nvSpPr>
          <p:cNvPr id="4" name="Text 2"/>
          <p:cNvSpPr/>
          <p:nvPr/>
        </p:nvSpPr>
        <p:spPr>
          <a:xfrm>
            <a:off x="411480" y="72237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此場景具備高影響與可量測特性，適合以 engineering KPI 驗證 MVP。</a:t>
            </a:r>
            <a:endParaRPr lang="en-US" sz="1010" dirty="0"/>
          </a:p>
        </p:txBody>
      </p:sp>
      <p:sp>
        <p:nvSpPr>
          <p:cNvPr id="5" name="Shape 3"/>
          <p:cNvSpPr/>
          <p:nvPr/>
        </p:nvSpPr>
        <p:spPr>
          <a:xfrm>
            <a:off x="11119104" y="164592"/>
            <a:ext cx="566928" cy="2743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19104" y="210312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07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11365992" cy="621792"/>
          </a:xfrm>
          <a:prstGeom prst="roundRect">
            <a:avLst>
              <a:gd name="adj" fmla="val 5147"/>
            </a:avLst>
          </a:prstGeom>
          <a:solidFill>
            <a:srgbClr val="F8FB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51790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整體評分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83480" y="14081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530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 / 20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0" y="15361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適合先驗證「客訴摘要、defect 分型、案例檢索」三項能力，再擴充到根因排序與客回草稿。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2240280" cy="1828800"/>
          </a:xfrm>
          <a:prstGeom prst="roundRect">
            <a:avLst>
              <a:gd name="adj" fmla="val 1750"/>
            </a:avLst>
          </a:prstGeom>
          <a:solidFill>
            <a:srgbClr val="EAF2FF"/>
          </a:solidFill>
          <a:ln w="12700">
            <a:solidFill>
              <a:srgbClr val="0B1F33"/>
            </a:solidFill>
            <a:prstDash val="solid"/>
          </a:ln>
          <a:effectLst>
            <a:outerShdw sx="100000" sy="100000" kx="0" ky="0" algn="bl" rotWithShape="0" blurRad="7620" dist="3810" dir="2700000">
              <a:srgbClr val="0B1F3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25054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 / 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29443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Automatable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822960" y="3255264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補件提醒、履歷拉取、症狀摘要、案例檢索與報告生成可高度自動化。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3611880" y="2240280"/>
            <a:ext cx="2240280" cy="1828800"/>
          </a:xfrm>
          <a:prstGeom prst="roundRect">
            <a:avLst>
              <a:gd name="adj" fmla="val 1750"/>
            </a:avLst>
          </a:prstGeom>
          <a:solidFill>
            <a:srgbClr val="FFF5E8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" dist="3810" dir="2700000">
              <a:srgbClr val="0B1F3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49040" y="25054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 / 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49040" y="29443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Impactful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3749040" y="3255264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可直接縮短初判週期，降低跨部門往返與重複比對時間。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6537960" y="2240280"/>
            <a:ext cx="2240280" cy="1828800"/>
          </a:xfrm>
          <a:prstGeom prst="roundRect">
            <a:avLst>
              <a:gd name="adj" fmla="val 1750"/>
            </a:avLst>
          </a:prstGeom>
          <a:solidFill>
            <a:srgbClr val="E8F7F4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" dist="3810" dir="2700000">
              <a:srgbClr val="0B1F33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25054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 / 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75120" y="29443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 readiness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6675120" y="3255264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資料量夠，但圖像 / 文字對齊與 defect 標註品質需先整理。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9464040" y="2240280"/>
            <a:ext cx="2240280" cy="1828800"/>
          </a:xfrm>
          <a:prstGeom prst="roundRect">
            <a:avLst>
              <a:gd name="adj" fmla="val 1750"/>
            </a:avLst>
          </a:prstGeom>
          <a:solidFill>
            <a:srgbClr val="FDECEC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" dist="3810" dir="2700000">
              <a:srgbClr val="0B1F33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0" y="25054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 / 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01200" y="29443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Evaluability</a:t>
            </a:r>
            <a:endParaRPr lang="en-US" sz="1230" dirty="0"/>
          </a:p>
        </p:txBody>
      </p:sp>
      <p:sp>
        <p:nvSpPr>
          <p:cNvPr id="26" name="Text 24"/>
          <p:cNvSpPr/>
          <p:nvPr/>
        </p:nvSpPr>
        <p:spPr>
          <a:xfrm>
            <a:off x="9601200" y="3255264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可量測分型命中率、Top-3 命中率、採納率與回覆時效。</a:t>
            </a:r>
            <a:endParaRPr lang="en-US" sz="1010" dirty="0"/>
          </a:p>
        </p:txBody>
      </p:sp>
      <p:sp>
        <p:nvSpPr>
          <p:cNvPr id="27" name="Shape 25"/>
          <p:cNvSpPr/>
          <p:nvPr/>
        </p:nvSpPr>
        <p:spPr>
          <a:xfrm>
            <a:off x="411480" y="4389120"/>
            <a:ext cx="11365992" cy="77724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5994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建議的量測 KPI：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2212848" y="4599432"/>
            <a:ext cx="8915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補件時間、defect 分型命中率、Top-3 根因命中率、工程師採納率、客回草稿完成時間、重複案例再解析時間。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16459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E7F2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B4530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//BENEFIT ASSESSMENT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11480" y="3749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2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效益評估｜優先場景與導入順序</a:t>
            </a:r>
            <a:endParaRPr lang="en-US" sz="2220" dirty="0"/>
          </a:p>
        </p:txBody>
      </p:sp>
      <p:sp>
        <p:nvSpPr>
          <p:cNvPr id="4" name="Text 2"/>
          <p:cNvSpPr/>
          <p:nvPr/>
        </p:nvSpPr>
        <p:spPr>
          <a:xfrm>
            <a:off x="411480" y="72237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先做高影響、能快速量測的子任務，再擴充到責任判定輔助與知識閉環。</a:t>
            </a:r>
            <a:endParaRPr lang="en-US" sz="1010" dirty="0"/>
          </a:p>
        </p:txBody>
      </p:sp>
      <p:sp>
        <p:nvSpPr>
          <p:cNvPr id="5" name="Shape 3"/>
          <p:cNvSpPr/>
          <p:nvPr/>
        </p:nvSpPr>
        <p:spPr>
          <a:xfrm>
            <a:off x="11119104" y="164592"/>
            <a:ext cx="566928" cy="2743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19104" y="210312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08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5943600" cy="4160520"/>
          </a:xfrm>
          <a:prstGeom prst="roundRect">
            <a:avLst>
              <a:gd name="adj" fmla="val 769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27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Impact × Automatable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1051560" y="4892040"/>
            <a:ext cx="448056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1874520"/>
            <a:ext cx="0" cy="301752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95604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Low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85232" y="495604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High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80360" y="502920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Impact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 rot="16200000">
            <a:off x="621792" y="182880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High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 rot="16200000">
            <a:off x="475488" y="3063240"/>
            <a:ext cx="329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Automatable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1920240" y="2788920"/>
            <a:ext cx="219456" cy="219456"/>
          </a:xfrm>
          <a:prstGeom prst="ellipse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280720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55648" y="306324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客訴摘要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與補件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54680" y="3200400"/>
            <a:ext cx="256032" cy="256032"/>
          </a:xfrm>
          <a:prstGeom prst="ellipse">
            <a:avLst/>
          </a:prstGeom>
          <a:solidFill>
            <a:srgbClr val="0F766E">
              <a:alpha val="80000"/>
            </a:srgbClr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321868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90088" y="351129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defect 分型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與案例檢索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89120" y="2907792"/>
            <a:ext cx="310896" cy="310896"/>
          </a:xfrm>
          <a:prstGeom prst="ellipse">
            <a:avLst/>
          </a:prstGeom>
          <a:solidFill>
            <a:srgbClr val="B45309">
              <a:alpha val="80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292608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24528" y="327355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根因排序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與責任輔助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83480" y="4096512"/>
            <a:ext cx="201168" cy="201168"/>
          </a:xfrm>
          <a:prstGeom prst="ellipse">
            <a:avLst/>
          </a:prstGeom>
          <a:solidFill>
            <a:srgbClr val="0B1F33">
              <a:alpha val="80000"/>
            </a:srgbClr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411480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18888" y="435254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客回草稿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629400" y="1298448"/>
            <a:ext cx="5148072" cy="4160520"/>
          </a:xfrm>
          <a:prstGeom prst="roundRect">
            <a:avLst>
              <a:gd name="adj" fmla="val 769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76288" y="1527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B4530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建議導入路徑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6858000" y="1874520"/>
            <a:ext cx="4663440" cy="786384"/>
          </a:xfrm>
          <a:prstGeom prst="roundRect">
            <a:avLst>
              <a:gd name="adj" fmla="val 4070"/>
            </a:avLst>
          </a:prstGeom>
          <a:solidFill>
            <a:srgbClr val="FFF5E8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59168" y="198424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Phase 1｜Quick win</a:t>
            </a:r>
            <a:endParaRPr lang="en-US" sz="1130" dirty="0"/>
          </a:p>
        </p:txBody>
      </p:sp>
      <p:sp>
        <p:nvSpPr>
          <p:cNvPr id="32" name="Text 30"/>
          <p:cNvSpPr/>
          <p:nvPr/>
        </p:nvSpPr>
        <p:spPr>
          <a:xfrm>
            <a:off x="7059168" y="2185416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客訴摘要 + 補件提醒 + 履歷拉取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7059168" y="2386584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最短時間看到客服與工程人員的時效改善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6858000" y="2862072"/>
            <a:ext cx="4663440" cy="786384"/>
          </a:xfrm>
          <a:prstGeom prst="roundRect">
            <a:avLst>
              <a:gd name="adj" fmla="val 4070"/>
            </a:avLst>
          </a:prstGeom>
          <a:solidFill>
            <a:srgbClr val="E8F7F4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9168" y="297180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Phase 2｜判讀輔助</a:t>
            </a:r>
            <a:endParaRPr lang="en-US" sz="1130" dirty="0"/>
          </a:p>
        </p:txBody>
      </p:sp>
      <p:sp>
        <p:nvSpPr>
          <p:cNvPr id="36" name="Text 34"/>
          <p:cNvSpPr/>
          <p:nvPr/>
        </p:nvSpPr>
        <p:spPr>
          <a:xfrm>
            <a:off x="7059168" y="317296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defect 分型 + 相似案例檢索 + 根因排序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7059168" y="3374136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建立可驗證的命中率與採納率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6858000" y="3849624"/>
            <a:ext cx="4663440" cy="786384"/>
          </a:xfrm>
          <a:prstGeom prst="roundRect">
            <a:avLst>
              <a:gd name="adj" fmla="val 4070"/>
            </a:avLst>
          </a:prstGeom>
          <a:solidFill>
            <a:srgbClr val="EAF2FF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59168" y="395935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Phase 3｜知識閉環</a:t>
            </a:r>
            <a:endParaRPr lang="en-US" sz="1130" dirty="0"/>
          </a:p>
        </p:txBody>
      </p:sp>
      <p:sp>
        <p:nvSpPr>
          <p:cNvPr id="40" name="Text 38"/>
          <p:cNvSpPr/>
          <p:nvPr/>
        </p:nvSpPr>
        <p:spPr>
          <a:xfrm>
            <a:off x="7059168" y="416052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客回草稿 + 結案回寫 + 評估儀表板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7059168" y="4361688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讓跨客戶、跨機種案例可被持續複用</a:t>
            </a:r>
            <a:endParaRPr lang="en-US" sz="940" dirty="0"/>
          </a:p>
        </p:txBody>
      </p:sp>
      <p:sp>
        <p:nvSpPr>
          <p:cNvPr id="42" name="Shape 40"/>
          <p:cNvSpPr/>
          <p:nvPr/>
        </p:nvSpPr>
        <p:spPr>
          <a:xfrm>
            <a:off x="6858000" y="4709160"/>
            <a:ext cx="4663440" cy="438912"/>
          </a:xfrm>
          <a:prstGeom prst="roundRect">
            <a:avLst>
              <a:gd name="adj" fmla="val 7292"/>
            </a:avLst>
          </a:prstGeom>
          <a:solidFill>
            <a:srgbClr val="FFF7E8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59168" y="4837176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評估基準：分型命中率、Top-3 命中率、採納率、補件時間、客回時效。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16459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E7F2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//TO-BE AI+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11480" y="3749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2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To-Be AI+ 流程設計</a:t>
            </a:r>
            <a:endParaRPr lang="en-US" sz="2220" dirty="0"/>
          </a:p>
        </p:txBody>
      </p:sp>
      <p:sp>
        <p:nvSpPr>
          <p:cNvPr id="4" name="Text 2"/>
          <p:cNvSpPr/>
          <p:nvPr/>
        </p:nvSpPr>
        <p:spPr>
          <a:xfrm>
            <a:off x="411480" y="72237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新流程讓 Agent 成為第一位 RCA 助理，而不是最後一個整理文件的人。</a:t>
            </a:r>
            <a:endParaRPr lang="en-US" sz="1010" dirty="0"/>
          </a:p>
        </p:txBody>
      </p:sp>
      <p:sp>
        <p:nvSpPr>
          <p:cNvPr id="5" name="Shape 3"/>
          <p:cNvSpPr/>
          <p:nvPr/>
        </p:nvSpPr>
        <p:spPr>
          <a:xfrm>
            <a:off x="11119104" y="164592"/>
            <a:ext cx="566928" cy="2743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19104" y="210312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09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1965960" y="2121408"/>
            <a:ext cx="964692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3099816"/>
            <a:ext cx="964692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18488"/>
            <a:ext cx="1234440" cy="219456"/>
          </a:xfrm>
          <a:prstGeom prst="roundRect">
            <a:avLst>
              <a:gd name="adj" fmla="val 125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367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客服 / 客戶窗口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596896"/>
            <a:ext cx="1417320" cy="219456"/>
          </a:xfrm>
          <a:prstGeom prst="roundRect">
            <a:avLst>
              <a:gd name="adj" fmla="val 125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151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面板故障分析 Agent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3575304"/>
            <a:ext cx="1325880" cy="219456"/>
          </a:xfrm>
          <a:prstGeom prst="roundRect">
            <a:avLst>
              <a:gd name="adj" fmla="val 125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9359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品質 / 製程工程師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0" y="171907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269748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36758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171907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269748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36758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0" y="171907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0" y="269748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0" y="36758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0" y="171907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0" y="269748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0" y="36758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0" y="171907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0" y="269748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0" y="36758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0" y="171907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58400" y="269748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0" y="36758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148840" y="1572768"/>
            <a:ext cx="868680" cy="420624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03704" y="1709928"/>
            <a:ext cx="758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建立案件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3520440" y="1572768"/>
            <a:ext cx="868680" cy="420624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75304" y="1709928"/>
            <a:ext cx="758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補上照片 / 序號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3520440" y="2551176"/>
            <a:ext cx="868680" cy="420624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75304" y="2688336"/>
            <a:ext cx="758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摘要與補件檢查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92040" y="2551176"/>
            <a:ext cx="868680" cy="420624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46904" y="2688336"/>
            <a:ext cx="758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拉履歷 / 檢測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63640" y="2551176"/>
            <a:ext cx="868680" cy="420624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18504" y="2688336"/>
            <a:ext cx="758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defect 分型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635240" y="2551176"/>
            <a:ext cx="868680" cy="420624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90104" y="2688336"/>
            <a:ext cx="758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案例檢索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06840" y="2551176"/>
            <a:ext cx="868680" cy="420624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61704" y="2688336"/>
            <a:ext cx="758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原因排序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0378440" y="2551176"/>
            <a:ext cx="868680" cy="420624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433304" y="2688336"/>
            <a:ext cx="758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生成草稿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63640" y="3529584"/>
            <a:ext cx="868680" cy="420624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18504" y="3666744"/>
            <a:ext cx="758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核對圖像與證據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7635240" y="3529584"/>
            <a:ext cx="868680" cy="420624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90104" y="3666744"/>
            <a:ext cx="758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確認原因 / 責任</a:t>
            </a:r>
            <a:endParaRPr lang="en-US" sz="940" dirty="0"/>
          </a:p>
        </p:txBody>
      </p:sp>
      <p:sp>
        <p:nvSpPr>
          <p:cNvPr id="53" name="Shape 51"/>
          <p:cNvSpPr/>
          <p:nvPr/>
        </p:nvSpPr>
        <p:spPr>
          <a:xfrm>
            <a:off x="9006840" y="3529584"/>
            <a:ext cx="868680" cy="420624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61704" y="3666744"/>
            <a:ext cx="758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決定處置</a:t>
            </a:r>
            <a:endParaRPr lang="en-US" sz="940" dirty="0"/>
          </a:p>
        </p:txBody>
      </p:sp>
      <p:sp>
        <p:nvSpPr>
          <p:cNvPr id="55" name="Shape 53"/>
          <p:cNvSpPr/>
          <p:nvPr/>
        </p:nvSpPr>
        <p:spPr>
          <a:xfrm>
            <a:off x="10378440" y="3529584"/>
            <a:ext cx="868680" cy="420624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433304" y="3666744"/>
            <a:ext cx="758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簽核對客</a:t>
            </a:r>
            <a:endParaRPr lang="en-US" sz="940" dirty="0"/>
          </a:p>
        </p:txBody>
      </p:sp>
      <p:sp>
        <p:nvSpPr>
          <p:cNvPr id="57" name="Shape 55"/>
          <p:cNvSpPr/>
          <p:nvPr/>
        </p:nvSpPr>
        <p:spPr>
          <a:xfrm>
            <a:off x="6702552" y="2971800"/>
            <a:ext cx="0" cy="557784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074152" y="2971800"/>
            <a:ext cx="0" cy="557784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445752" y="2971800"/>
            <a:ext cx="0" cy="557784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817352" y="2971800"/>
            <a:ext cx="0" cy="557784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11480" y="4663440"/>
            <a:ext cx="11365992" cy="676656"/>
          </a:xfrm>
          <a:prstGeom prst="roundRect">
            <a:avLst>
              <a:gd name="adj" fmla="val 4730"/>
            </a:avLst>
          </a:prstGeom>
          <a:solidFill>
            <a:srgbClr val="F8FB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2648" y="48828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新流程特徵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783080" y="4873752"/>
            <a:ext cx="9464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先由 Agent 完成客訴整理、資料整合與初步解析，再由工程師做責任與改善決策，因此資料流、解析流、決策流被清楚拆開。</a:t>
            </a:r>
            <a:endParaRPr lang="en-US" sz="10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16459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E7F2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//BEFORE / AFTER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11480" y="3749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2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流程再造｜Before / After 比較</a:t>
            </a:r>
            <a:endParaRPr lang="en-US" sz="2220" dirty="0"/>
          </a:p>
        </p:txBody>
      </p:sp>
      <p:sp>
        <p:nvSpPr>
          <p:cNvPr id="4" name="Text 2"/>
          <p:cNvSpPr/>
          <p:nvPr/>
        </p:nvSpPr>
        <p:spPr>
          <a:xfrm>
            <a:off x="411480" y="72237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AI+ 後的關鍵不是少人力，而是讓面板異常解析更快、更一致、可追溯。</a:t>
            </a:r>
            <a:endParaRPr lang="en-US" sz="1010" dirty="0"/>
          </a:p>
        </p:txBody>
      </p:sp>
      <p:sp>
        <p:nvSpPr>
          <p:cNvPr id="5" name="Shape 3"/>
          <p:cNvSpPr/>
          <p:nvPr/>
        </p:nvSpPr>
        <p:spPr>
          <a:xfrm>
            <a:off x="11119104" y="164592"/>
            <a:ext cx="566928" cy="2743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19104" y="210312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5486400" cy="4251960"/>
          </a:xfrm>
          <a:prstGeom prst="roundRect">
            <a:avLst>
              <a:gd name="adj" fmla="val 753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91072" y="1325880"/>
            <a:ext cx="5486400" cy="4251960"/>
          </a:xfrm>
          <a:prstGeom prst="roundRect">
            <a:avLst>
              <a:gd name="adj" fmla="val 753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536192"/>
            <a:ext cx="1234440" cy="219456"/>
          </a:xfrm>
          <a:prstGeom prst="roundRect">
            <a:avLst>
              <a:gd name="adj" fmla="val 125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544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As-Is｜人工主導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19672" y="1536192"/>
            <a:ext cx="1170432" cy="219456"/>
          </a:xfrm>
          <a:prstGeom prst="roundRect">
            <a:avLst>
              <a:gd name="adj" fmla="val 12500"/>
            </a:avLst>
          </a:prstGeom>
          <a:solidFill>
            <a:srgbClr val="E8F7F4"/>
          </a:solidFill>
          <a:ln w="12700">
            <a:solidFill>
              <a:srgbClr val="E8F7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55448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To-Be｜AI+ 協作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2322576"/>
            <a:ext cx="512064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3952" y="2322576"/>
            <a:ext cx="512064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92024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案件啟動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1691640" y="19202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客服來回補件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6519672" y="192024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案件啟動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7571232" y="19202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自動檢查缺欄並提示補件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594360" y="2880360"/>
            <a:ext cx="512064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3952" y="2880360"/>
            <a:ext cx="512064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47802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資料取得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1691640" y="247802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跨系統人工找履歷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6519672" y="247802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資料取得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7571232" y="247802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拉取關聯履歷與檢測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594360" y="3438144"/>
            <a:ext cx="512064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73952" y="3438144"/>
            <a:ext cx="512064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03580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解析方式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1691640" y="30358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依資深經驗描述 defect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6519672" y="303580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解析方式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7571232" y="30358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以統一 taxonomy 做 defect 分型</a:t>
            </a:r>
            <a:endParaRPr lang="en-US" sz="1040" dirty="0"/>
          </a:p>
        </p:txBody>
      </p:sp>
      <p:sp>
        <p:nvSpPr>
          <p:cNvPr id="31" name="Shape 29"/>
          <p:cNvSpPr/>
          <p:nvPr/>
        </p:nvSpPr>
        <p:spPr>
          <a:xfrm>
            <a:off x="594360" y="3995928"/>
            <a:ext cx="512064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73952" y="3995928"/>
            <a:ext cx="512064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59359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根因判讀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1691640" y="359359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靠個人經驗與文件比對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6519672" y="359359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根因判讀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7571232" y="359359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RAG + 規則 + 工程師確認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594360" y="4553712"/>
            <a:ext cx="512064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73952" y="4553712"/>
            <a:ext cx="512064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15137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輸出形式</a:t>
            </a:r>
            <a:endParaRPr lang="en-US" sz="1120" dirty="0"/>
          </a:p>
        </p:txBody>
      </p:sp>
      <p:sp>
        <p:nvSpPr>
          <p:cNvPr id="40" name="Text 38"/>
          <p:cNvSpPr/>
          <p:nvPr/>
        </p:nvSpPr>
        <p:spPr>
          <a:xfrm>
            <a:off x="1691640" y="4151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手工整理 8D / 對客說明</a:t>
            </a:r>
            <a:endParaRPr lang="en-US" sz="1040" dirty="0"/>
          </a:p>
        </p:txBody>
      </p:sp>
      <p:sp>
        <p:nvSpPr>
          <p:cNvPr id="41" name="Text 39"/>
          <p:cNvSpPr/>
          <p:nvPr/>
        </p:nvSpPr>
        <p:spPr>
          <a:xfrm>
            <a:off x="6519672" y="415137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輸出形式</a:t>
            </a:r>
            <a:endParaRPr lang="en-US" sz="1120" dirty="0"/>
          </a:p>
        </p:txBody>
      </p:sp>
      <p:sp>
        <p:nvSpPr>
          <p:cNvPr id="42" name="Text 40"/>
          <p:cNvSpPr/>
          <p:nvPr/>
        </p:nvSpPr>
        <p:spPr>
          <a:xfrm>
            <a:off x="7571232" y="4151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自動生成摘要 / 客回草稿</a:t>
            </a:r>
            <a:endParaRPr lang="en-US" sz="1040" dirty="0"/>
          </a:p>
        </p:txBody>
      </p:sp>
      <p:sp>
        <p:nvSpPr>
          <p:cNvPr id="43" name="Shape 41"/>
          <p:cNvSpPr/>
          <p:nvPr/>
        </p:nvSpPr>
        <p:spPr>
          <a:xfrm>
            <a:off x="594360" y="5111496"/>
            <a:ext cx="512064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73952" y="5111496"/>
            <a:ext cx="512064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70916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整體週期</a:t>
            </a:r>
            <a:endParaRPr lang="en-US" sz="1120" dirty="0"/>
          </a:p>
        </p:txBody>
      </p:sp>
      <p:sp>
        <p:nvSpPr>
          <p:cNvPr id="46" name="Text 44"/>
          <p:cNvSpPr/>
          <p:nvPr/>
        </p:nvSpPr>
        <p:spPr>
          <a:xfrm>
            <a:off x="1691640" y="470916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長，且品質波動大</a:t>
            </a:r>
            <a:endParaRPr lang="en-US" sz="1040" dirty="0"/>
          </a:p>
        </p:txBody>
      </p:sp>
      <p:sp>
        <p:nvSpPr>
          <p:cNvPr id="47" name="Text 45"/>
          <p:cNvSpPr/>
          <p:nvPr/>
        </p:nvSpPr>
        <p:spPr>
          <a:xfrm>
            <a:off x="6519672" y="470916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整體週期</a:t>
            </a:r>
            <a:endParaRPr lang="en-US" sz="1120" dirty="0"/>
          </a:p>
        </p:txBody>
      </p:sp>
      <p:sp>
        <p:nvSpPr>
          <p:cNvPr id="48" name="Text 46"/>
          <p:cNvSpPr/>
          <p:nvPr/>
        </p:nvSpPr>
        <p:spPr>
          <a:xfrm>
            <a:off x="7571232" y="470916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短，且更可預測</a:t>
            </a:r>
            <a:endParaRPr lang="en-US" sz="1040" dirty="0"/>
          </a:p>
        </p:txBody>
      </p:sp>
      <p:sp>
        <p:nvSpPr>
          <p:cNvPr id="49" name="Shape 47"/>
          <p:cNvSpPr/>
          <p:nvPr/>
        </p:nvSpPr>
        <p:spPr>
          <a:xfrm>
            <a:off x="411480" y="5742432"/>
            <a:ext cx="11365992" cy="420624"/>
          </a:xfrm>
          <a:prstGeom prst="roundRect">
            <a:avLst>
              <a:gd name="adj" fmla="val 7609"/>
            </a:avLst>
          </a:prstGeom>
          <a:solidFill>
            <a:srgbClr val="FFF7E8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" y="5861304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流程再造的真實收益在於：同一類面板異常可以被更快、更一致且有證據地處理，而不是把責任判定完全交給模型。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16459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E7F2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//OPERATING MODEL &amp; GOVERNANCE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11480" y="3749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2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新流程的營運機制與治理閉環</a:t>
            </a:r>
            <a:endParaRPr lang="en-US" sz="2220" dirty="0"/>
          </a:p>
        </p:txBody>
      </p:sp>
      <p:sp>
        <p:nvSpPr>
          <p:cNvPr id="4" name="Text 2"/>
          <p:cNvSpPr/>
          <p:nvPr/>
        </p:nvSpPr>
        <p:spPr>
          <a:xfrm>
            <a:off x="411480" y="72237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要讓 Agent 長期可用，除了模型，更要設計 owner、知識更新與例外升級機制。</a:t>
            </a:r>
            <a:endParaRPr lang="en-US" sz="1010" dirty="0"/>
          </a:p>
        </p:txBody>
      </p:sp>
      <p:sp>
        <p:nvSpPr>
          <p:cNvPr id="5" name="Shape 3"/>
          <p:cNvSpPr/>
          <p:nvPr/>
        </p:nvSpPr>
        <p:spPr>
          <a:xfrm>
            <a:off x="11119104" y="164592"/>
            <a:ext cx="566928" cy="2743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19104" y="210312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2747772" y="21214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52644" y="21214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57516" y="21214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32720" y="21214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508760"/>
            <a:ext cx="2103120" cy="1325880"/>
          </a:xfrm>
          <a:prstGeom prst="roundRect">
            <a:avLst>
              <a:gd name="adj" fmla="val 2414"/>
            </a:avLst>
          </a:prstGeom>
          <a:solidFill>
            <a:srgbClr val="EAF2FF"/>
          </a:solidFill>
          <a:ln w="12700">
            <a:solidFill>
              <a:srgbClr val="0B1F33"/>
            </a:solidFill>
            <a:prstDash val="solid"/>
          </a:ln>
          <a:effectLst>
            <a:outerShdw sx="100000" sy="100000" kx="0" ky="0" algn="bl" rotWithShape="0" blurRad="7620" dist="3810" dir="2700000">
              <a:srgbClr val="0B1F3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17647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 owner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694944" y="216712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定義 KPI、例外流程、對客回覆規則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2971800" y="1508760"/>
            <a:ext cx="2103120" cy="1325880"/>
          </a:xfrm>
          <a:prstGeom prst="roundRect">
            <a:avLst>
              <a:gd name="adj" fmla="val 2414"/>
            </a:avLst>
          </a:prstGeom>
          <a:solidFill>
            <a:srgbClr val="E8F7F4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" dist="3810" dir="2700000">
              <a:srgbClr val="0B1F33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63240" y="17647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協作層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3099816" y="216712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摘要、分型、檢索、排序、輸出與記錄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5376672" y="1508760"/>
            <a:ext cx="2103120" cy="1325880"/>
          </a:xfrm>
          <a:prstGeom prst="roundRect">
            <a:avLst>
              <a:gd name="adj" fmla="val 2414"/>
            </a:avLst>
          </a:prstGeom>
          <a:solidFill>
            <a:srgbClr val="FFF5E8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" dist="3810" dir="2700000">
              <a:srgbClr val="0B1F33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68112" y="17647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知識 / 評估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5504688" y="216712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taxonomy、案例庫、prompt、評估集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7781544" y="1508760"/>
            <a:ext cx="2103120" cy="1325880"/>
          </a:xfrm>
          <a:prstGeom prst="roundRect">
            <a:avLst>
              <a:gd name="adj" fmla="val 2414"/>
            </a:avLst>
          </a:prstGeom>
          <a:solidFill>
            <a:srgbClr val="FDECEC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" dist="3810" dir="2700000">
              <a:srgbClr val="0B1F33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72984" y="17647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風控 / 升級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7909560" y="216712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低信心升級、責任爭議、敏感客訴審核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411480" y="3337560"/>
            <a:ext cx="5440680" cy="1737360"/>
          </a:xfrm>
          <a:prstGeom prst="roundRect">
            <a:avLst>
              <a:gd name="adj" fmla="val 184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5570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治理重點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640080" y="3858768"/>
            <a:ext cx="48920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指定流程 owner：誰對 KPI、對客承諾、例外處理與模型更新負責。</a:t>
            </a:r>
            <a:endParaRPr lang="en-US" sz="1080" dirty="0"/>
          </a:p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 taxonomy 更新節奏：新 defect 類型、責任準則與 SOP 要定期同步。</a:t>
            </a:r>
            <a:endParaRPr lang="en-US" sz="1080" dirty="0"/>
          </a:p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定義低信心門檻：證據不足時，Agent 應主動要求補圖、補件或升級人工。</a:t>
            </a:r>
            <a:endParaRPr lang="en-US" sz="1080" dirty="0"/>
          </a:p>
          <a:p>
            <a:pPr marL="127000" indent="-127000">
              <a:buSzPct val="100000"/>
              <a:buChar char="•"/>
            </a:pPr>
            <a:r>
              <a:rPr lang="en-US" sz="108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用評估集監控品質：避免知識與模型更新後，分型與排序品質漂移。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126480" y="3337560"/>
            <a:ext cx="5650992" cy="1737360"/>
          </a:xfrm>
          <a:prstGeom prst="roundRect">
            <a:avLst>
              <a:gd name="adj" fmla="val 1842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355701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例外處理路徑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6400800" y="385876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384962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圖像不足</a:t>
            </a:r>
            <a:endParaRPr lang="en-US" sz="1060" dirty="0"/>
          </a:p>
        </p:txBody>
      </p:sp>
      <p:sp>
        <p:nvSpPr>
          <p:cNvPr id="30" name="Text 28"/>
          <p:cNvSpPr/>
          <p:nvPr/>
        </p:nvSpPr>
        <p:spPr>
          <a:xfrm>
            <a:off x="7498080" y="384962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要求客戶或客服補圖、補序號與發生條件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411480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0" y="410565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低信心分型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7498080" y="410565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轉人工模式並標示缺失證據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437083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83680" y="43616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責任爭議案件</a:t>
            </a:r>
            <a:endParaRPr lang="en-US" sz="1060" dirty="0"/>
          </a:p>
        </p:txBody>
      </p:sp>
      <p:sp>
        <p:nvSpPr>
          <p:cNvPr id="36" name="Text 34"/>
          <p:cNvSpPr/>
          <p:nvPr/>
        </p:nvSpPr>
        <p:spPr>
          <a:xfrm>
            <a:off x="7498080" y="436168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強制主管覆核，避免直接自動回覆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462686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83680" y="461772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模型 / 工具失敗</a:t>
            </a:r>
            <a:endParaRPr lang="en-US" sz="1060" dirty="0"/>
          </a:p>
        </p:txBody>
      </p:sp>
      <p:sp>
        <p:nvSpPr>
          <p:cNvPr id="39" name="Text 37"/>
          <p:cNvSpPr/>
          <p:nvPr/>
        </p:nvSpPr>
        <p:spPr>
          <a:xfrm>
            <a:off x="7498080" y="46177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至少輸出結構化摘要，避免流程中斷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16459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E7F2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//AI SCENARIO HANDOFF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11480" y="3749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2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場景說明書｜業務 / 功能</a:t>
            </a:r>
            <a:endParaRPr lang="en-US" sz="2220" dirty="0"/>
          </a:p>
        </p:txBody>
      </p:sp>
      <p:sp>
        <p:nvSpPr>
          <p:cNvPr id="4" name="Text 2"/>
          <p:cNvSpPr/>
          <p:nvPr/>
        </p:nvSpPr>
        <p:spPr>
          <a:xfrm>
            <a:off x="411480" y="72237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以下內容可直接交給技術端，作為場景目標、邊界與主要功能定義。</a:t>
            </a:r>
            <a:endParaRPr lang="en-US" sz="1010" dirty="0"/>
          </a:p>
        </p:txBody>
      </p:sp>
      <p:sp>
        <p:nvSpPr>
          <p:cNvPr id="5" name="Shape 3"/>
          <p:cNvSpPr/>
          <p:nvPr/>
        </p:nvSpPr>
        <p:spPr>
          <a:xfrm>
            <a:off x="11119104" y="164592"/>
            <a:ext cx="566928" cy="2743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19104" y="210312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6583680" cy="4526280"/>
          </a:xfrm>
          <a:prstGeom prst="roundRect">
            <a:avLst>
              <a:gd name="adj" fmla="val 707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3619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場景基本資訊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194560"/>
            <a:ext cx="621792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745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場景名稱</a:t>
            </a:r>
            <a:endParaRPr lang="en-US" sz="1110" dirty="0"/>
          </a:p>
        </p:txBody>
      </p:sp>
      <p:sp>
        <p:nvSpPr>
          <p:cNvPr id="11" name="Text 9"/>
          <p:cNvSpPr/>
          <p:nvPr/>
        </p:nvSpPr>
        <p:spPr>
          <a:xfrm>
            <a:off x="1783080" y="1874520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面板故障分析 Agent：收到客戶端異常面板解析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594360" y="2706624"/>
            <a:ext cx="621792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38658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</a:t>
            </a:r>
            <a:endParaRPr lang="en-US" sz="1110" dirty="0"/>
          </a:p>
        </p:txBody>
      </p:sp>
      <p:sp>
        <p:nvSpPr>
          <p:cNvPr id="14" name="Text 12"/>
          <p:cNvSpPr/>
          <p:nvPr/>
        </p:nvSpPr>
        <p:spPr>
          <a:xfrm>
            <a:off x="1783080" y="2386584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縮短客訴異常面板的初判時間，提升 defect 解析一致性與歷史案例複用率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594360" y="3218688"/>
            <a:ext cx="621792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8986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觸發</a:t>
            </a:r>
            <a:endParaRPr lang="en-US" sz="1110" dirty="0"/>
          </a:p>
        </p:txBody>
      </p:sp>
      <p:sp>
        <p:nvSpPr>
          <p:cNvPr id="17" name="Text 15"/>
          <p:cNvSpPr/>
          <p:nvPr/>
        </p:nvSpPr>
        <p:spPr>
          <a:xfrm>
            <a:off x="1783080" y="2898648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客戶案件建立、RMA 建案，或工程師主動輸入 panel / case id 查詢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594360" y="3730752"/>
            <a:ext cx="621792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41071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主要使用者</a:t>
            </a:r>
            <a:endParaRPr lang="en-US" sz="1110" dirty="0"/>
          </a:p>
        </p:txBody>
      </p:sp>
      <p:sp>
        <p:nvSpPr>
          <p:cNvPr id="20" name="Text 18"/>
          <p:cNvSpPr/>
          <p:nvPr/>
        </p:nvSpPr>
        <p:spPr>
          <a:xfrm>
            <a:off x="1783080" y="341071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客服窗口、品質工程師、製程工程師、RMA / FA 團隊、值班主管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594360" y="4242816"/>
            <a:ext cx="621792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92277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主要輸入</a:t>
            </a:r>
            <a:endParaRPr lang="en-US" sz="1110" dirty="0"/>
          </a:p>
        </p:txBody>
      </p:sp>
      <p:sp>
        <p:nvSpPr>
          <p:cNvPr id="23" name="Text 21"/>
          <p:cNvSpPr/>
          <p:nvPr/>
        </p:nvSpPr>
        <p:spPr>
          <a:xfrm>
            <a:off x="1783080" y="3922776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客訴照片 / 影片、序號 / lot、檢測資料、履歷、SOP、歷史案例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94360" y="4754880"/>
            <a:ext cx="621792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4348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主要輸出</a:t>
            </a:r>
            <a:endParaRPr lang="en-US" sz="1110" dirty="0"/>
          </a:p>
        </p:txBody>
      </p:sp>
      <p:sp>
        <p:nvSpPr>
          <p:cNvPr id="26" name="Text 24"/>
          <p:cNvSpPr/>
          <p:nvPr/>
        </p:nvSpPr>
        <p:spPr>
          <a:xfrm>
            <a:off x="1783080" y="4434840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事件摘要、候選 defect、Top-N 根因 / 責任假設、對客草稿、結案 payload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594360" y="5266944"/>
            <a:ext cx="6217920" cy="0"/>
          </a:xfrm>
          <a:prstGeom prst="line">
            <a:avLst/>
          </a:prstGeom>
          <a:noFill/>
          <a:ln w="12700">
            <a:solidFill>
              <a:srgbClr val="D6E2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9469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決策邊界</a:t>
            </a:r>
            <a:endParaRPr lang="en-US" sz="1110" dirty="0"/>
          </a:p>
        </p:txBody>
      </p:sp>
      <p:sp>
        <p:nvSpPr>
          <p:cNvPr id="29" name="Text 27"/>
          <p:cNvSpPr/>
          <p:nvPr/>
        </p:nvSpPr>
        <p:spPr>
          <a:xfrm>
            <a:off x="1783080" y="4946904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不直接決定責任歸屬、賠償、製程調整或最終對客承諾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7242048" y="1325880"/>
            <a:ext cx="4535424" cy="4526280"/>
          </a:xfrm>
          <a:prstGeom prst="roundRect">
            <a:avLst>
              <a:gd name="adj" fmla="val 707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79792" y="15361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功能模組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79792" y="1847088"/>
            <a:ext cx="4023360" cy="530352"/>
          </a:xfrm>
          <a:prstGeom prst="roundRect">
            <a:avLst>
              <a:gd name="adj" fmla="val 6034"/>
            </a:avLst>
          </a:prstGeom>
          <a:solidFill>
            <a:srgbClr val="EAF2FF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5240" y="195681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1｜案件接收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8641080" y="1956816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解析客訴文字、圖片、序號與缺欄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79792" y="2606040"/>
            <a:ext cx="4023360" cy="530352"/>
          </a:xfrm>
          <a:prstGeom prst="roundRect">
            <a:avLst>
              <a:gd name="adj" fmla="val 6034"/>
            </a:avLst>
          </a:prstGeom>
          <a:solidFill>
            <a:srgbClr val="E8F7F4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35240" y="271576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2｜資料整合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8641080" y="2715768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串接履歷、檢測、BOM、8D、案例庫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79792" y="3364992"/>
            <a:ext cx="4023360" cy="530352"/>
          </a:xfrm>
          <a:prstGeom prst="roundRect">
            <a:avLst>
              <a:gd name="adj" fmla="val 6034"/>
            </a:avLst>
          </a:prstGeom>
          <a:solidFill>
            <a:srgbClr val="FFF5E8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35240" y="347472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3｜AI 判讀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8641080" y="3474720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defect 分型、案例檢索、原因排序、信心值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79792" y="4123944"/>
            <a:ext cx="4023360" cy="530352"/>
          </a:xfrm>
          <a:prstGeom prst="roundRect">
            <a:avLst>
              <a:gd name="adj" fmla="val 6034"/>
            </a:avLst>
          </a:prstGeom>
          <a:solidFill>
            <a:srgbClr val="FDECE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35240" y="423367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4｜輸出封裝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8641080" y="4233672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生成摘要、客回草稿、結案回寫 payload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479792" y="4882896"/>
            <a:ext cx="4023360" cy="530352"/>
          </a:xfrm>
          <a:prstGeom prst="roundRect">
            <a:avLst>
              <a:gd name="adj" fmla="val 6034"/>
            </a:avLst>
          </a:prstGeom>
          <a:solidFill>
            <a:srgbClr val="EFF4F8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35240" y="49926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5｜審計記錄</a:t>
            </a:r>
            <a:endParaRPr lang="en-US" sz="1080" dirty="0"/>
          </a:p>
        </p:txBody>
      </p:sp>
      <p:sp>
        <p:nvSpPr>
          <p:cNvPr id="46" name="Text 44"/>
          <p:cNvSpPr/>
          <p:nvPr/>
        </p:nvSpPr>
        <p:spPr>
          <a:xfrm>
            <a:off x="8641080" y="4992624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保存 prompt、工具使用、引用證據與人工修正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16459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E7F2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//AI SCENARIO HANDOFF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11480" y="3749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2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場景說明書｜技術 / 架構設計</a:t>
            </a:r>
            <a:endParaRPr lang="en-US" sz="2220" dirty="0"/>
          </a:p>
        </p:txBody>
      </p:sp>
      <p:sp>
        <p:nvSpPr>
          <p:cNvPr id="4" name="Text 2"/>
          <p:cNvSpPr/>
          <p:nvPr/>
        </p:nvSpPr>
        <p:spPr>
          <a:xfrm>
            <a:off x="411480" y="722376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架構重點是可檢索、可追溯、可評估、可治理，而不是單一 chat UI。</a:t>
            </a:r>
            <a:endParaRPr lang="en-US" sz="1010" dirty="0"/>
          </a:p>
        </p:txBody>
      </p:sp>
      <p:sp>
        <p:nvSpPr>
          <p:cNvPr id="5" name="Shape 3"/>
          <p:cNvSpPr/>
          <p:nvPr/>
        </p:nvSpPr>
        <p:spPr>
          <a:xfrm>
            <a:off x="11119104" y="164592"/>
            <a:ext cx="566928" cy="2743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19104" y="210312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2121408" y="245059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3048" y="245059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04688" y="245059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96328" y="245059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87968" y="245059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1874520"/>
            <a:ext cx="1417320" cy="1261872"/>
          </a:xfrm>
          <a:prstGeom prst="roundRect">
            <a:avLst>
              <a:gd name="adj" fmla="val 2536"/>
            </a:avLst>
          </a:prstGeom>
          <a:solidFill>
            <a:srgbClr val="FFFFFF"/>
          </a:solidFill>
          <a:ln w="12700">
            <a:solidFill>
              <a:srgbClr val="EAF2FF"/>
            </a:solidFill>
            <a:prstDash val="solid"/>
          </a:ln>
          <a:effectLst>
            <a:outerShdw sx="100000" sy="100000" kx="0" ky="0" algn="bl" rotWithShape="0" blurRad="7620" dist="3810" dir="2700000">
              <a:srgbClr val="0B1F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205740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2441448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客訴圖像 / 文字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panel / lot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履歷 / 檢測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31720" y="1874520"/>
            <a:ext cx="1417320" cy="1261872"/>
          </a:xfrm>
          <a:prstGeom prst="roundRect">
            <a:avLst>
              <a:gd name="adj" fmla="val 2536"/>
            </a:avLst>
          </a:prstGeom>
          <a:solidFill>
            <a:srgbClr val="FFFFFF"/>
          </a:solidFill>
          <a:ln w="12700">
            <a:solidFill>
              <a:srgbClr val="E8F7F4"/>
            </a:solidFill>
            <a:prstDash val="solid"/>
          </a:ln>
          <a:effectLst>
            <a:outerShdw sx="100000" sy="100000" kx="0" ky="0" algn="bl" rotWithShape="0" blurRad="7620" dist="3810" dir="2700000">
              <a:srgbClr val="0B1F3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04872" y="205740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連接 / ETL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41448" y="2441448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connector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欄位對齊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事件綁定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23360" y="1874520"/>
            <a:ext cx="1417320" cy="1261872"/>
          </a:xfrm>
          <a:prstGeom prst="roundRect">
            <a:avLst>
              <a:gd name="adj" fmla="val 2536"/>
            </a:avLst>
          </a:prstGeom>
          <a:solidFill>
            <a:srgbClr val="FFFFFF"/>
          </a:solidFill>
          <a:ln w="12700">
            <a:solidFill>
              <a:srgbClr val="FFF5E8"/>
            </a:solidFill>
            <a:prstDash val="solid"/>
          </a:ln>
          <a:effectLst>
            <a:outerShdw sx="100000" sy="100000" kx="0" ky="0" algn="bl" rotWithShape="0" blurRad="7620" dist="3810" dir="2700000">
              <a:srgbClr val="0B1F33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96512" y="205740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Orchestrator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33088" y="2441448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prompt / tool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workflow state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policy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15000" y="1874520"/>
            <a:ext cx="1417320" cy="1261872"/>
          </a:xfrm>
          <a:prstGeom prst="roundRect">
            <a:avLst>
              <a:gd name="adj" fmla="val 2536"/>
            </a:avLst>
          </a:prstGeom>
          <a:solidFill>
            <a:srgbClr val="FFFFFF"/>
          </a:solidFill>
          <a:ln w="12700">
            <a:solidFill>
              <a:srgbClr val="FDECEC"/>
            </a:solidFill>
            <a:prstDash val="solid"/>
          </a:ln>
          <a:effectLst>
            <a:outerShdw sx="100000" sy="100000" kx="0" ky="0" algn="bl" rotWithShape="0" blurRad="7620" dist="3810" dir="2700000">
              <a:srgbClr val="0B1F33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88152" y="205740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核心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24728" y="2441448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Vision + LLM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reasoning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ranking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06640" y="1874520"/>
            <a:ext cx="1417320" cy="1261872"/>
          </a:xfrm>
          <a:prstGeom prst="roundRect">
            <a:avLst>
              <a:gd name="adj" fmla="val 2536"/>
            </a:avLst>
          </a:prstGeom>
          <a:solidFill>
            <a:srgbClr val="FFFFFF"/>
          </a:solidFill>
          <a:ln w="12700">
            <a:solidFill>
              <a:srgbClr val="E8F7F4"/>
            </a:solidFill>
            <a:prstDash val="solid"/>
          </a:ln>
          <a:effectLst>
            <a:outerShdw sx="100000" sy="100000" kx="0" ky="0" algn="bl" rotWithShape="0" blurRad="7620" dist="3810" dir="2700000">
              <a:srgbClr val="0B1F33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79792" y="205740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檢索 / 知識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16368" y="2441448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vector 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taxonomy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store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098280" y="1874520"/>
            <a:ext cx="1417320" cy="1261872"/>
          </a:xfrm>
          <a:prstGeom prst="roundRect">
            <a:avLst>
              <a:gd name="adj" fmla="val 2536"/>
            </a:avLst>
          </a:prstGeom>
          <a:solidFill>
            <a:srgbClr val="FFFFFF"/>
          </a:solidFill>
          <a:ln w="12700">
            <a:solidFill>
              <a:srgbClr val="EAF2FF"/>
            </a:solidFill>
            <a:prstDash val="solid"/>
          </a:ln>
          <a:effectLst>
            <a:outerShdw sx="100000" sy="100000" kx="0" ky="0" algn="bl" rotWithShape="0" blurRad="7620" dist="3810" dir="2700000">
              <a:srgbClr val="0B1F33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71432" y="205740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23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輸出介面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08008" y="2441448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portal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engineer copilot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report API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60520" y="379476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E8F7F4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9136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0F76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評估 / 監控</a:t>
            </a:r>
            <a:endParaRPr lang="en-US" sz="1140" dirty="0"/>
          </a:p>
        </p:txBody>
      </p:sp>
      <p:sp>
        <p:nvSpPr>
          <p:cNvPr id="32" name="Text 30"/>
          <p:cNvSpPr/>
          <p:nvPr/>
        </p:nvSpPr>
        <p:spPr>
          <a:xfrm>
            <a:off x="4315968" y="4151376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分型命中率、採納率、失敗案例、版本追蹤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6382512" y="379476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01968" y="3913632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DC262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權限 / 審計</a:t>
            </a:r>
            <a:endParaRPr lang="en-US" sz="1140" dirty="0"/>
          </a:p>
        </p:txBody>
      </p:sp>
      <p:sp>
        <p:nvSpPr>
          <p:cNvPr id="35" name="Text 33"/>
          <p:cNvSpPr/>
          <p:nvPr/>
        </p:nvSpPr>
        <p:spPr>
          <a:xfrm>
            <a:off x="6565392" y="415137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RBAC、遮罩、操作記錄、引用留痕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411480" y="4736592"/>
            <a:ext cx="11365992" cy="9601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495604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技術端交付物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828800" y="4946904"/>
            <a:ext cx="9281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connector 規格、影像 / 文字事件 schema、tool schema、prompt template、taxonomy 與 case store、評估集、權限與審計要求。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621792" y="5266944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建議原則：先以 API / case portal 模式接入，再擴充到工程 Copilot；避免一開始把 UI 當成產品本體。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164592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E7F2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面板故障分析 Agent：收到客戶端異常面板解析｜技術風</dc:title>
  <dc:subject>面板故障分析 Agent 提案｜技術風</dc:subject>
  <dc:creator>OpenAI</dc:creator>
  <cp:lastModifiedBy>OpenAI</cp:lastModifiedBy>
  <cp:revision>1</cp:revision>
  <dcterms:created xsi:type="dcterms:W3CDTF">2026-04-17T13:39:19Z</dcterms:created>
  <dcterms:modified xsi:type="dcterms:W3CDTF">2026-04-17T13:39:19Z</dcterms:modified>
</cp:coreProperties>
</file>