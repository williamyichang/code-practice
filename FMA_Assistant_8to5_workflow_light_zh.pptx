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132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</a:rPr>
              <a:t>FMA 助理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12435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2563A8"/>
                </a:solidFill>
              </a:rPr>
              <a:t>客訴片解析流程再造 × 歷史統計查詢 × 分析經驗複用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713232" y="1764792"/>
            <a:ext cx="78181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E293B"/>
                </a:solidFill>
              </a:rPr>
              <a:t>目標：把「歷史資料查詢」與「歷史分析經驗查詢」整合到 FMA 助理，讓工程師從 8 步驟工作流，簡化為可追溯、可查詢、可回饋的 5 步驟流程。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13232" y="2788920"/>
            <a:ext cx="1417320" cy="292608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A8"/>
                </a:solidFill>
              </a:rPr>
              <a:t>PCF 痛點診斷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04288" y="2788920"/>
            <a:ext cx="1417320" cy="292608"/>
          </a:xfrm>
          <a:prstGeom prst="rect">
            <a:avLst/>
          </a:prstGeom>
          <a:solidFill>
            <a:srgbClr val="DDF7F3"/>
          </a:solidFill>
          <a:ln>
            <a:solidFill>
              <a:srgbClr val="DDF7F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8A86"/>
                </a:solidFill>
              </a:rPr>
              <a:t>AI Canvas 規格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95344" y="2788920"/>
            <a:ext cx="1124712" cy="292608"/>
          </a:xfrm>
          <a:prstGeom prst="rect">
            <a:avLst/>
          </a:prstGeom>
          <a:solidFill>
            <a:srgbClr val="FFF3D0"/>
          </a:solidFill>
          <a:ln>
            <a:solidFill>
              <a:srgbClr val="FFF3D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</a:rPr>
              <a:t>效益評估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193792" y="2788920"/>
            <a:ext cx="1417320" cy="292608"/>
          </a:xfrm>
          <a:prstGeom prst="rect">
            <a:avLst/>
          </a:prstGeom>
          <a:solidFill>
            <a:srgbClr val="EEEAFE"/>
          </a:solidFill>
          <a:ln>
            <a:solidFill>
              <a:srgbClr val="EEEAF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5BD0"/>
                </a:solidFill>
              </a:rPr>
              <a:t>AI+ 流程再造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784848" y="2788920"/>
            <a:ext cx="1417320" cy="292608"/>
          </a:xfrm>
          <a:prstGeom prst="rect">
            <a:avLst/>
          </a:prstGeom>
          <a:solidFill>
            <a:srgbClr val="E7F7EE"/>
          </a:solidFill>
          <a:ln>
            <a:solidFill>
              <a:srgbClr val="E7F7E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9E76"/>
                </a:solidFill>
              </a:rPr>
              <a:t>技術端場景書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接收客訴片資訊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1965960" y="3941064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0299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歷史資料查詢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3337560" y="3941064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4015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接收實體客訴片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4709160" y="3941064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7731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盤點客訴片</a:t>
            </a:r>
            <a:endParaRPr lang="en-US" sz="730" dirty="0"/>
          </a:p>
        </p:txBody>
      </p:sp>
      <p:sp>
        <p:nvSpPr>
          <p:cNvPr id="19" name="Shape 17"/>
          <p:cNvSpPr/>
          <p:nvPr/>
        </p:nvSpPr>
        <p:spPr>
          <a:xfrm>
            <a:off x="6080760" y="3941064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1447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歷史分析經驗查詢</a:t>
            </a:r>
            <a:endParaRPr lang="en-US" sz="730" dirty="0"/>
          </a:p>
        </p:txBody>
      </p:sp>
      <p:sp>
        <p:nvSpPr>
          <p:cNvPr id="21" name="Shape 19"/>
          <p:cNvSpPr/>
          <p:nvPr/>
        </p:nvSpPr>
        <p:spPr>
          <a:xfrm>
            <a:off x="7452360" y="3941064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5163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分析客訴片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8823960" y="3941064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8879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上傳解析報告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10195560" y="3941064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259568" y="3675888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324D"/>
                </a:solidFill>
              </a:rPr>
              <a:t>資料查詢</a:t>
            </a:r>
            <a:endParaRPr lang="en-US" sz="730" dirty="0"/>
          </a:p>
        </p:txBody>
      </p:sp>
      <p:sp>
        <p:nvSpPr>
          <p:cNvPr id="27" name="Text 25"/>
          <p:cNvSpPr/>
          <p:nvPr/>
        </p:nvSpPr>
        <p:spPr>
          <a:xfrm>
            <a:off x="713232" y="4434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Current：8 steps，查詢與分析經驗分散在流程中段與尾端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1051560" y="5074920"/>
            <a:ext cx="1664208" cy="59436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324D"/>
                </a:solidFill>
              </a:rPr>
              <a:t>收件建檔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2761488" y="5372100"/>
            <a:ext cx="164592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971800" y="5074920"/>
            <a:ext cx="1664208" cy="59436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324D"/>
                </a:solidFill>
              </a:rPr>
              <a:t>AI 歷史脈絡查詢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81728" y="5372100"/>
            <a:ext cx="164592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892040" y="5074920"/>
            <a:ext cx="1664208" cy="59436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324D"/>
                </a:solidFill>
              </a:rPr>
              <a:t>實體片盤點確認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601968" y="5372100"/>
            <a:ext cx="164592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812280" y="5074920"/>
            <a:ext cx="1664208" cy="59436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324D"/>
                </a:solidFill>
              </a:rPr>
              <a:t>AI 輔助分析與報告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8522208" y="5372100"/>
            <a:ext cx="164592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732520" y="5074920"/>
            <a:ext cx="1664208" cy="59436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7324D"/>
                </a:solidFill>
              </a:rPr>
              <a:t>上傳回灌 / 查詢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1051560" y="5806440"/>
            <a:ext cx="7818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To-Be：5 steps，FMA 助理將歷史查詢、相似案例與分析方向整合成單一工作入口</a:t>
            </a:r>
            <a:endParaRPr lang="en-US" sz="1060" dirty="0"/>
          </a:p>
        </p:txBody>
      </p:sp>
      <p:sp>
        <p:nvSpPr>
          <p:cNvPr id="38" name="Text 36"/>
          <p:cNvSpPr/>
          <p:nvPr/>
        </p:nvSpPr>
        <p:spPr>
          <a:xfrm>
            <a:off x="9985248" y="1874520"/>
            <a:ext cx="1188720" cy="49377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68A86"/>
                </a:solidFill>
              </a:rPr>
              <a:t>8 → 5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9829800" y="2633472"/>
            <a:ext cx="1481328" cy="987552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步驟簡化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查詢集中化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經驗可複用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1–3 / 工作流程痛點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PCF｜Process：流程痛點定位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0607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PCF：Process（流程斷點）／Constraint（資料限制）／Feedback（知識回饋）。先辨識哪裡造成等待、重工與查詢成本。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667512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接收資訊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93392" y="1865376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057400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歷史資料查詢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383280" y="1865376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47288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接收實體片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73168" y="1865376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837176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盤點客訴片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63056" y="1865376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227064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歷史經驗查詢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552944" y="1865376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616952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分析客訴片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942832" y="1865376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006840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上傳報告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0332720" y="1865376"/>
            <a:ext cx="18288" cy="0"/>
          </a:xfrm>
          <a:prstGeom prst="line">
            <a:avLst/>
          </a:prstGeom>
          <a:noFill/>
          <a:ln w="13335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396728" y="1600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2563A8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7324D"/>
                </a:solidFill>
              </a:rPr>
              <a:t>資料查詢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901952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2415B"/>
                </a:solidFill>
              </a:rPr>
              <a:t>重複查詢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4443984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7791F"/>
                </a:solidFill>
              </a:rPr>
              <a:t>等待 / 對帳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967728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D5BD0"/>
                </a:solidFill>
              </a:rPr>
              <a:t>經驗依賴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9710928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C2415B"/>
                </a:solidFill>
              </a:rPr>
              <a:t>再查一次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04672" y="2999232"/>
            <a:ext cx="13258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流程斷點 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2980944"/>
            <a:ext cx="8503920" cy="384048"/>
          </a:xfrm>
          <a:prstGeom prst="rect">
            <a:avLst/>
          </a:prstGeom>
          <a:solidFill>
            <a:srgbClr val="FDECE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歷史資料查詢與歷史經驗查詢分離；工程師需在不同系統、報告、Excel 或資料夾之間切換。</a:t>
            </a:r>
            <a:endParaRPr lang="en-US" sz="1070" dirty="0"/>
          </a:p>
        </p:txBody>
      </p:sp>
      <p:sp>
        <p:nvSpPr>
          <p:cNvPr id="29" name="Text 27"/>
          <p:cNvSpPr/>
          <p:nvPr/>
        </p:nvSpPr>
        <p:spPr>
          <a:xfrm>
            <a:off x="804672" y="3794760"/>
            <a:ext cx="13258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</a:rPr>
              <a:t>流程斷點 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31720" y="3776472"/>
            <a:ext cx="8503920" cy="384048"/>
          </a:xfrm>
          <a:prstGeom prst="rect">
            <a:avLst/>
          </a:prstGeom>
          <a:solidFill>
            <a:srgbClr val="FFF3D0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接收實體片與盤點階段容易出現片號、客戶案號、庫位、Lot 關聯不完整。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804672" y="4590288"/>
            <a:ext cx="132588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415B"/>
                </a:solidFill>
              </a:rPr>
              <a:t>流程斷點 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31720" y="4572000"/>
            <a:ext cx="8503920" cy="384048"/>
          </a:xfrm>
          <a:prstGeom prst="rect">
            <a:avLst/>
          </a:prstGeom>
          <a:solidFill>
            <a:srgbClr val="DCEE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E293B"/>
                </a:solidFill>
              </a:rPr>
              <a:t>分析完成後仍需要資料查詢與報告整理，造成結案後知識未能立即被下一個案件使用。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804672" y="5596128"/>
            <a:ext cx="10241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Process 結論：FMA 助理最適合先切入「查詢、比對、歸納、建議」四個高頻重複工作。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1–3 / 工作流程痛點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PCF｜Constraint &amp; Feedback：資料與經驗的結構性問題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1325880"/>
            <a:ext cx="3154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</a:rPr>
              <a:t>C｜資料限制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8952" y="1764792"/>
            <a:ext cx="3154680" cy="34930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客訴描述、缺陷分類、片號與報告欄位不一致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歷史統計資料存在，但查詢入口分散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報告結論多為非結構化文字，不利於後續分析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58952" y="1298448"/>
            <a:ext cx="3154680" cy="54864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325880"/>
            <a:ext cx="3154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D5BD0"/>
                </a:solidFill>
              </a:rPr>
              <a:t>F｜回饋限制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1764792"/>
            <a:ext cx="3154680" cy="34930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資深工程師經驗未被標準化沉澱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相似案例與 root cause 無法快速被召回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每次報告上傳後，資料未自動形成知識回灌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480560" y="1298448"/>
            <a:ext cx="3154680" cy="54864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325880"/>
            <a:ext cx="3154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A86"/>
                </a:solidFill>
              </a:rPr>
              <a:t>AI 介入焦點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02168" y="1764792"/>
            <a:ext cx="3154680" cy="349300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建立 Case View：把客訴、片號、檢測、報告串成一頁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建立 Knowledge View：把歷史統計與案例經驗變成可查詢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• 建立 Feedback Loop：報告確認後回寫知識庫與統計表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8202168" y="1298448"/>
            <a:ext cx="3154680" cy="54864"/>
          </a:xfrm>
          <a:prstGeom prst="rect">
            <a:avLst/>
          </a:prstGeom>
          <a:solidFill>
            <a:srgbClr val="168A86"/>
          </a:solidFill>
          <a:ln w="12700">
            <a:solidFill>
              <a:srgbClr val="168A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669280"/>
            <a:ext cx="10607040" cy="411480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7324D"/>
                </a:solidFill>
              </a:rPr>
              <a:t>核心問題不是「分析能力不足」，而是歷史資料與經驗沒有被設計成可被快速搜尋、比較、引用與回饋的資料產品。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4–6 / 定義規格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AI Canvas｜Input：FMA 助理需要整合的資料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3246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A8"/>
                </a:solidFill>
              </a:rPr>
              <a:t>客訴片資訊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700784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Customer / Case ID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客戶異常描述、圖片、發生條件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機種、尺寸、出貨日期、批號</a:t>
            </a:r>
            <a:endParaRPr lang="en-US" sz="970" dirty="0"/>
          </a:p>
        </p:txBody>
      </p:sp>
      <p:sp>
        <p:nvSpPr>
          <p:cNvPr id="9" name="Text 7"/>
          <p:cNvSpPr/>
          <p:nvPr/>
        </p:nvSpPr>
        <p:spPr>
          <a:xfrm>
            <a:off x="4507992" y="1261872"/>
            <a:ext cx="3246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A86"/>
                </a:solidFill>
              </a:rPr>
              <a:t>實體片與盤點資料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07992" y="1700784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Panel / Module / Glass ID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收件狀態、庫位、退庫狀態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盤點時間、責任單位、缺漏標記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8330184" y="1261872"/>
            <a:ext cx="3246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</a:rPr>
              <a:t>歷史統計資料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30184" y="1700784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同客戶 / 同機種 / 同 defect 發生率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Lot / 製程段 / 供應商分布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時間趨勢、批次集中度、重複發生率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685800" y="3346704"/>
            <a:ext cx="3246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D5BD0"/>
                </a:solidFill>
              </a:rPr>
              <a:t>歷史分析經驗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785616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舊 FA/FMA 報告與結論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相似案例、root cause、處置建議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補測項目與工程師採用紀錄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4507992" y="3346704"/>
            <a:ext cx="3246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9E76"/>
                </a:solidFill>
              </a:rPr>
              <a:t>檢測與製程資料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07992" y="3785616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AOI / AVI / EL / E-test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Array / Cell / Module genealogy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Defect map、量測值、影像特徵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8330184" y="3346704"/>
            <a:ext cx="32461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2415B"/>
                </a:solidFill>
              </a:rPr>
              <a:t>資料平台與知識庫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30184" y="3785616"/>
            <a:ext cx="3246120" cy="115214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Databricks / Data Mart / 報告庫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向量資料庫與 RAG index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E293B"/>
                </a:solidFill>
              </a:rPr>
              <a:t>• 權限、版本、引用來源與 log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49808" y="5650992"/>
            <a:ext cx="10424160" cy="384048"/>
          </a:xfrm>
          <a:prstGeom prst="rect">
            <a:avLst/>
          </a:prstGeom>
          <a:solidFill>
            <a:srgbClr val="E7F7EE"/>
          </a:solidFill>
          <a:ln>
            <a:solidFill>
              <a:srgbClr val="E7F7EE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324D"/>
                </a:solidFill>
              </a:rPr>
              <a:t>主鍵設計：Case ID × Panel ID × Lot ID × Defect Code × Process Stage；對齊不完整時保留可信度分數與人工確認欄位。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4–6 / 定義規格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AI Canvas｜Process：從查詢到分析方向推薦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1353312"/>
            <a:ext cx="384048" cy="246888"/>
          </a:xfrm>
          <a:prstGeom prst="rect">
            <a:avLst/>
          </a:prstGeom>
          <a:solidFill>
            <a:srgbClr val="2563A8"/>
          </a:solidFill>
          <a:ln>
            <a:solidFill>
              <a:srgbClr val="2563A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335024" y="1325880"/>
            <a:ext cx="2514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Intent Parser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59536" y="1755648"/>
            <a:ext cx="3090672" cy="6766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辨識使用者想查統計、找相似案例、看特定片號，或產出報告草稿。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4590288" y="1353312"/>
            <a:ext cx="384048" cy="246888"/>
          </a:xfrm>
          <a:prstGeom prst="rect">
            <a:avLst/>
          </a:prstGeom>
          <a:solidFill>
            <a:srgbClr val="168A86"/>
          </a:solidFill>
          <a:ln>
            <a:solidFill>
              <a:srgbClr val="168A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65776" y="1325880"/>
            <a:ext cx="2514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Case Resolver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4590288" y="1755648"/>
            <a:ext cx="3090672" cy="6766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把客訴案號、Panel ID、Lot、機種、客戶描述對齊成單一 Case View。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321040" y="1353312"/>
            <a:ext cx="384048" cy="246888"/>
          </a:xfrm>
          <a:prstGeom prst="rect">
            <a:avLst/>
          </a:prstGeom>
          <a:solidFill>
            <a:srgbClr val="B7791F"/>
          </a:solidFill>
          <a:ln>
            <a:solidFill>
              <a:srgbClr val="B779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96528" y="1325880"/>
            <a:ext cx="2514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Statistic Query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8321040" y="1755648"/>
            <a:ext cx="3090672" cy="6766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查歷史發生率、缺陷趨勢、客戶/機種/製程段分布與批次集中度。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859536" y="3383280"/>
            <a:ext cx="384048" cy="246888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35024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Experience Retrieval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59536" y="3785616"/>
            <a:ext cx="3090672" cy="6766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從歷史報告召回相似案例、root cause、補測項目與處置經驗。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4590288" y="3383280"/>
            <a:ext cx="384048" cy="246888"/>
          </a:xfrm>
          <a:prstGeom prst="rect">
            <a:avLst/>
          </a:prstGeom>
          <a:solidFill>
            <a:srgbClr val="2F9E76"/>
          </a:solidFill>
          <a:ln>
            <a:solidFill>
              <a:srgbClr val="2F9E7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65776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RCA Direction Ranking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4590288" y="3785616"/>
            <a:ext cx="3090672" cy="6766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依證據強度、相似度、資料完整度，排序可能分析方向與待補資料。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321040" y="3383280"/>
            <a:ext cx="384048" cy="246888"/>
          </a:xfrm>
          <a:prstGeom prst="rect">
            <a:avLst/>
          </a:prstGeom>
          <a:solidFill>
            <a:srgbClr val="C2415B"/>
          </a:solidFill>
          <a:ln>
            <a:solidFill>
              <a:srgbClr val="C2415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96528" y="3355848"/>
            <a:ext cx="2514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7324D"/>
                </a:solidFill>
              </a:rPr>
              <a:t>Report Draft &amp; Feedback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8321040" y="3785616"/>
            <a:ext cx="3090672" cy="6766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293B"/>
                </a:solidFill>
              </a:rPr>
              <a:t>生成結構化報告草稿；工程師確認後回灌成新的經驗與統計資料。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10332720" cy="384048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設計重點：把原本散落於第 2、5、8 步的查詢工作，整合成 Agent 的工具調用與可追溯回覆。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4–6 / 定義規格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AI Canvas｜Output / Risk：輸出規格與控制機制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225296"/>
            <a:ext cx="5074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A8"/>
                </a:solidFill>
              </a:rPr>
              <a:t>Output｜使用者可直接使用的產出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1664208"/>
            <a:ext cx="5074920" cy="38770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歷史統計摘要：同機種、同客戶、同 defect、同製程段的趨勢與分布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相似案例清單：Top-N 案例、相似原因、引用報告段落與結果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分析方向建議：可能 root cause、建議補測項目、優先順序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報告草稿：案件摘要、證據鏈、圖片/數據引用、待確認欄位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知識回灌紀錄：工程師採用/否決原因與最終結論更新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6291072" y="1225296"/>
            <a:ext cx="4983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2415B"/>
                </a:solidFill>
              </a:rPr>
              <a:t>Risk｜必要的風險防護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91072" y="1664208"/>
            <a:ext cx="4983480" cy="387705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錯誤關聯：片號、Lot、Case ID 對齊需可信度與人工確認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模型幻覺：回答必須附引用來源；無來源時只能列為假設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結論風險：AI 只做方向推薦，最終 FMA conclusion 由工程師簽核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權限風險：依客戶、產品線、單位控管查詢資料範圍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1E293B"/>
                </a:solidFill>
              </a:rPr>
              <a:t>• 資料品質：缺漏欄位進入 Data Quality Queue，不直接進入推論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749808" y="5760720"/>
            <a:ext cx="10515600" cy="347472"/>
          </a:xfrm>
          <a:prstGeom prst="rect">
            <a:avLst/>
          </a:prstGeom>
          <a:solidFill>
            <a:srgbClr val="FFF3D0"/>
          </a:solidFill>
          <a:ln>
            <a:solidFill>
              <a:srgbClr val="FFF3D0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7324D"/>
                </a:solidFill>
              </a:rPr>
              <a:t>MVP 邊界：先交付「統計查詢 + 相似案例 + 分析方向 + 報告草稿」；流程簽核與自動結論不列入第一版。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7–8 / 效益評估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效益評估｜Automatable × Impactful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060704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右上角代表第一波最值得自動化的工作：高頻、可工具化、且能明顯縮短分析前置時間。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6217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554480"/>
            <a:ext cx="0" cy="416052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639312"/>
            <a:ext cx="621792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335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Impactful 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97880" y="57881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Automatable 高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166360" y="1938528"/>
            <a:ext cx="13716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2563A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A8"/>
                </a:solidFill>
              </a:rPr>
              <a:t>歷史統計查詢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166360" y="2697480"/>
            <a:ext cx="13716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168A8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8A86"/>
                </a:solidFill>
              </a:rPr>
              <a:t>相似案例推薦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443984" y="3200400"/>
            <a:ext cx="13716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6D5BD0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D5BD0"/>
                </a:solidFill>
              </a:rPr>
              <a:t>分析方向排序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800600" y="4160520"/>
            <a:ext cx="13716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2F9E7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F9E76"/>
                </a:solidFill>
              </a:rPr>
              <a:t>報告草稿生成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359152" y="2999232"/>
            <a:ext cx="13716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B7791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7791F"/>
                </a:solidFill>
              </a:rPr>
              <a:t>實體片盤點確認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011680" y="2103120"/>
            <a:ext cx="13716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C2415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2415B"/>
                </a:solidFill>
              </a:rPr>
              <a:t>最終結論簽核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2606040" y="4754880"/>
            <a:ext cx="1371600" cy="329184"/>
          </a:xfrm>
          <a:prstGeom prst="rect">
            <a:avLst/>
          </a:prstGeom>
          <a:solidFill>
            <a:srgbClr val="FFFFFF"/>
          </a:solidFill>
          <a:ln w="10160">
            <a:solidFill>
              <a:srgbClr val="64748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4748B"/>
                </a:solidFill>
              </a:rPr>
              <a:t>退庫作業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662672" y="1627632"/>
            <a:ext cx="3456432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A8"/>
                </a:solidFill>
              </a:rPr>
              <a:t>優先導入項目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62672" y="2066544"/>
            <a:ext cx="3456432" cy="31455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</a:rPr>
              <a:t>• 歷史統計資料查詢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</a:rPr>
              <a:t>• 歷史分析經驗查詢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</a:rPr>
              <a:t>• 相似案例與證據引用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</a:rPr>
              <a:t>• 建議分析方向排序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1E293B"/>
                </a:solidFill>
              </a:rPr>
              <a:t>• 解析報告草稿生成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7662672" y="5468112"/>
            <a:ext cx="3456432" cy="384048"/>
          </a:xfrm>
          <a:prstGeom prst="rect">
            <a:avLst/>
          </a:prstGeom>
          <a:solidFill>
            <a:srgbClr val="E7F7EE"/>
          </a:solidFill>
          <a:ln>
            <a:solidFill>
              <a:srgbClr val="E7F7E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7324D"/>
                </a:solidFill>
              </a:rPr>
              <a:t>最終判斷與實體片操作保留 Human-in-the-loop；AI 先取代「找資料、整理資料、建議方向」。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7–8 / 效益評估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效益評估｜Data Readiness × Evaluability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225296"/>
            <a:ext cx="49834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A86"/>
                </a:solidFill>
              </a:rPr>
              <a:t>Data Readiness｜資料成熟度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4128" y="199339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客訴案號與片號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807208" y="2034540"/>
            <a:ext cx="2167128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2034540"/>
            <a:ext cx="1560332" cy="91440"/>
          </a:xfrm>
          <a:prstGeom prst="rect">
            <a:avLst/>
          </a:prstGeom>
          <a:solidFill>
            <a:srgbClr val="168A86"/>
          </a:solidFill>
          <a:ln w="12700">
            <a:solidFill>
              <a:srgbClr val="168A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98424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72%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024128" y="254203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歷史統計資料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807208" y="2583180"/>
            <a:ext cx="2167128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7208" y="2583180"/>
            <a:ext cx="1473647" cy="914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5328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68%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024128" y="30906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歷史報告文字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807208" y="3131820"/>
            <a:ext cx="2167128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07208" y="3131820"/>
            <a:ext cx="1300277" cy="91440"/>
          </a:xfrm>
          <a:prstGeom prst="rect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08152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60%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1024128" y="363931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Defect taxonomy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807208" y="3680460"/>
            <a:ext cx="2167128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07208" y="3680460"/>
            <a:ext cx="1191920" cy="914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6301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55%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024128" y="418795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最終結論標準化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807208" y="4229100"/>
            <a:ext cx="2167128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07208" y="4229100"/>
            <a:ext cx="953536" cy="91440"/>
          </a:xfrm>
          <a:prstGeom prst="rect">
            <a:avLst/>
          </a:prstGeom>
          <a:solidFill>
            <a:srgbClr val="C2415B"/>
          </a:solidFill>
          <a:ln w="12700">
            <a:solidFill>
              <a:srgbClr val="C241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417880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dirty="0">
                <a:solidFill>
                  <a:srgbClr val="64748B"/>
                </a:solidFill>
              </a:rPr>
              <a:t>44%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24128" y="4901184"/>
            <a:ext cx="4434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資料準備策略：先整理欄位字典、主鍵對齊、報告解析樣本、缺陷分類對照表。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1225296"/>
            <a:ext cx="4919472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A8"/>
                </a:solidFill>
              </a:rPr>
              <a:t>Evaluability｜可量測成效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72784" y="1664208"/>
            <a:ext cx="4919472" cy="3904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查詢時間：人工跨系統查詢 → Agent 即時回覆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Top-N 命中率：推薦案例是否包含工程師實際採用案例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分析方向採用率：AI 建議項目被用於報告的比例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報告草稿保留率：草稿內容未被刪改的比例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知識回灌率：完成案件形成結構化資料的比例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• 重複問題減少率：同類查詢是否被更快回答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742432"/>
            <a:ext cx="10424160" cy="347472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7324D"/>
                </a:solidFill>
              </a:rPr>
              <a:t>建議 KPI：先以「查詢時間、Top-N 命中率、報告草稿採用率」作為 MVP 驗收指標。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9–11 / 流程設計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To-Be AI+｜8 步驟簡化為 5 步驟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06070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流程再造的核心不是刪除必要工作，而是讓 FMA 助理吸收重複查詢與經驗整理，讓工程師專注在判讀與確認。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6583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1 接收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客訴片資訊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1965960" y="1892808"/>
            <a:ext cx="18288" cy="0"/>
          </a:xfrm>
          <a:prstGeom prst="line">
            <a:avLst/>
          </a:prstGeom>
          <a:noFill/>
          <a:ln w="13335">
            <a:solidFill>
              <a:srgbClr val="C2415B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0299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2 歷史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資料查詢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337560" y="1892808"/>
            <a:ext cx="18288" cy="0"/>
          </a:xfrm>
          <a:prstGeom prst="line">
            <a:avLst/>
          </a:prstGeom>
          <a:noFill/>
          <a:ln w="13335">
            <a:solidFill>
              <a:srgbClr val="C2415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4015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3 接收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實體客訴片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709160" y="1892808"/>
            <a:ext cx="18288" cy="0"/>
          </a:xfrm>
          <a:prstGeom prst="line">
            <a:avLst/>
          </a:prstGeom>
          <a:noFill/>
          <a:ln w="13335">
            <a:solidFill>
              <a:srgbClr val="C2415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7731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4 盤點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客訴片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080760" y="1892808"/>
            <a:ext cx="18288" cy="0"/>
          </a:xfrm>
          <a:prstGeom prst="line">
            <a:avLst/>
          </a:prstGeom>
          <a:noFill/>
          <a:ln w="13335">
            <a:solidFill>
              <a:srgbClr val="C2415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1447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5 歷史分析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經驗查詢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7452360" y="1892808"/>
            <a:ext cx="18288" cy="0"/>
          </a:xfrm>
          <a:prstGeom prst="line">
            <a:avLst/>
          </a:prstGeom>
          <a:noFill/>
          <a:ln w="13335">
            <a:solidFill>
              <a:srgbClr val="C2415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5163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6 分析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客訴片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8823960" y="1892808"/>
            <a:ext cx="18288" cy="0"/>
          </a:xfrm>
          <a:prstGeom prst="line">
            <a:avLst/>
          </a:prstGeom>
          <a:noFill/>
          <a:ln w="13335">
            <a:solidFill>
              <a:srgbClr val="C2415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8879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7 上傳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解析報告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10195560" y="1892808"/>
            <a:ext cx="18288" cy="0"/>
          </a:xfrm>
          <a:prstGeom prst="line">
            <a:avLst/>
          </a:prstGeom>
          <a:noFill/>
          <a:ln w="13335">
            <a:solidFill>
              <a:srgbClr val="C2415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259568" y="1627632"/>
            <a:ext cx="1261872" cy="530352"/>
          </a:xfrm>
          <a:prstGeom prst="rect">
            <a:avLst/>
          </a:prstGeom>
          <a:solidFill>
            <a:srgbClr val="FFFFFF"/>
          </a:solidFill>
          <a:ln>
            <a:solidFill>
              <a:srgbClr val="C2415B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8 資料</a:t>
            </a:r>
            <a:endParaRPr lang="en-US" sz="720" dirty="0"/>
          </a:p>
          <a:p>
            <a:pPr algn="ctr" indent="0" marL="0">
              <a:buNone/>
            </a:pPr>
            <a:r>
              <a:rPr lang="en-US" sz="720" b="1" dirty="0">
                <a:solidFill>
                  <a:srgbClr val="17324D"/>
                </a:solidFill>
              </a:rPr>
              <a:t>查詢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13232" y="233172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2415B"/>
                </a:solidFill>
              </a:rPr>
              <a:t>As-Is：查詢節點分散，導致工程師需要重複找資料、比對舊案例、整理報告。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80176" y="2761488"/>
            <a:ext cx="0" cy="676656"/>
          </a:xfrm>
          <a:prstGeom prst="line">
            <a:avLst/>
          </a:prstGeom>
          <a:noFill/>
          <a:ln w="15240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060704" y="3703320"/>
            <a:ext cx="1783080" cy="64008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1 收件建檔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+ 案件脈絡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2889504" y="4023360"/>
            <a:ext cx="201168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36392" y="3703320"/>
            <a:ext cx="1783080" cy="64008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2 FMA 助理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歷史統計查詢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4965192" y="4023360"/>
            <a:ext cx="201168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212080" y="3703320"/>
            <a:ext cx="1783080" cy="64008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3 實體片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接收與盤點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7040880" y="4023360"/>
            <a:ext cx="201168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287768" y="3703320"/>
            <a:ext cx="1783080" cy="64008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4 AI 輔助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分析與報告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9116568" y="4023360"/>
            <a:ext cx="201168" cy="0"/>
          </a:xfrm>
          <a:prstGeom prst="line">
            <a:avLst/>
          </a:prstGeom>
          <a:noFill/>
          <a:ln w="13335">
            <a:solidFill>
              <a:srgbClr val="168A86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9363456" y="3703320"/>
            <a:ext cx="1783080" cy="640080"/>
          </a:xfrm>
          <a:prstGeom prst="rect">
            <a:avLst/>
          </a:prstGeom>
          <a:solidFill>
            <a:srgbClr val="DDF7F3"/>
          </a:solidFill>
          <a:ln>
            <a:solidFill>
              <a:srgbClr val="168A86">
                <a:alpha val="6500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5 上傳回灌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7324D"/>
                </a:solidFill>
              </a:rPr>
              <a:t>+ 後續查詢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1060704" y="452628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68A86"/>
                </a:solidFill>
              </a:rPr>
              <a:t>To-Be：把第 2、5、8 步查詢能力收斂為 FMA 助理；把第 6、7 步透過報告草稿與知識回灌串成閉環。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804672" y="525780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64748B"/>
                </a:solidFill>
              </a:rPr>
              <a:t>Step Count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804672" y="5532120"/>
            <a:ext cx="2057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8A86"/>
                </a:solidFill>
              </a:rPr>
              <a:t>8 → 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04672" y="5971032"/>
            <a:ext cx="20574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流程簡化約 37.5%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4672" y="5212080"/>
            <a:ext cx="2057400" cy="111556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525780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64748B"/>
                </a:solidFill>
              </a:rPr>
              <a:t>Query Entry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3246120" y="5532120"/>
            <a:ext cx="2057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A8"/>
                </a:solidFill>
              </a:rPr>
              <a:t>3 → 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246120" y="5971032"/>
            <a:ext cx="20574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查詢入口集中化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46120" y="5212080"/>
            <a:ext cx="2057400" cy="111556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525780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64748B"/>
                </a:solidFill>
              </a:rPr>
              <a:t>Knowledge Loop</a:t>
            </a:r>
            <a:endParaRPr lang="en-US" sz="940" dirty="0"/>
          </a:p>
        </p:txBody>
      </p:sp>
      <p:sp>
        <p:nvSpPr>
          <p:cNvPr id="44" name="Text 42"/>
          <p:cNvSpPr/>
          <p:nvPr/>
        </p:nvSpPr>
        <p:spPr>
          <a:xfrm>
            <a:off x="5687568" y="5532120"/>
            <a:ext cx="2057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D5BD0"/>
                </a:solidFill>
              </a:rPr>
              <a:t>0 → 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687568" y="5971032"/>
            <a:ext cx="20574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報告結論回灌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87568" y="5212080"/>
            <a:ext cx="2057400" cy="111556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29016" y="5257800"/>
            <a:ext cx="2057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64748B"/>
                </a:solidFill>
              </a:rPr>
              <a:t>Human Role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8129016" y="5532120"/>
            <a:ext cx="2057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791F"/>
                </a:solidFill>
              </a:rPr>
              <a:t>操作 → 判斷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129016" y="5971032"/>
            <a:ext cx="20574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聚焦工程確認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129016" y="5212080"/>
            <a:ext cx="2057400" cy="1115568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9–11 / 流程設計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流程再造｜Before / After 工作分工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060704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FMA 助理取代的是可被工具化的查詢與歸納，不取代工程師對實體片的觀察、補測與結論簽核。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563A8"/>
                </a:solidFill>
              </a:rPr>
              <a:t>流程節點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06324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C2415B"/>
                </a:solidFill>
              </a:rPr>
              <a:t>Before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492240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68A86"/>
                </a:solidFill>
              </a:rPr>
              <a:t>After：FMA 助理介入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324D"/>
                </a:solidFill>
              </a:rPr>
              <a:t>接收客訴片資訊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3063240" y="1965960"/>
            <a:ext cx="2971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人工建檔後再找相關資料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572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自動建立 Case View，提示缺漏欄位與相關歷史脈絡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777240" y="2532888"/>
            <a:ext cx="1920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324D"/>
                </a:solidFill>
              </a:rPr>
              <a:t>歷史資料查詢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3063240" y="2532888"/>
            <a:ext cx="29718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人工查 Excel / 報告 / 系統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6492240" y="2532888"/>
            <a:ext cx="45720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Agent 統一查詢歷史統計與趨勢，附資料來源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777240" y="3099816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324D"/>
                </a:solidFill>
              </a:rPr>
              <a:t>接收/盤點客訴片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3063240" y="3099816"/>
            <a:ext cx="2971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人工核對片號、庫位、狀態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6492240" y="3099816"/>
            <a:ext cx="4572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掃碼/輸入後自動關聯 Case、Lot、庫位與缺漏提醒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777240" y="3666744"/>
            <a:ext cx="1920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324D"/>
                </a:solidFill>
              </a:rPr>
              <a:t>歷史分析經驗查詢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063240" y="3666744"/>
            <a:ext cx="29718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依工程師記憶或舊報告搜尋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6492240" y="3666744"/>
            <a:ext cx="45720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相似案例 Top-N、root cause、補測項目與採用紀錄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777240" y="4233672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324D"/>
                </a:solidFill>
              </a:rPr>
              <a:t>分析客訴片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3063240" y="4233672"/>
            <a:ext cx="2971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先找資料再判讀，前置時間長</a:t>
            </a:r>
            <a:endParaRPr lang="en-US" sz="910" dirty="0"/>
          </a:p>
        </p:txBody>
      </p:sp>
      <p:sp>
        <p:nvSpPr>
          <p:cNvPr id="25" name="Text 23"/>
          <p:cNvSpPr/>
          <p:nvPr/>
        </p:nvSpPr>
        <p:spPr>
          <a:xfrm>
            <a:off x="6492240" y="4233672"/>
            <a:ext cx="45720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AI 先排序分析方向，工程師驗證與修正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192024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7324D"/>
                </a:solidFill>
              </a:rPr>
              <a:t>上傳報告 / 資料查詢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3063240" y="4800600"/>
            <a:ext cx="29718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報告上傳後難再利用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6492240" y="4800600"/>
            <a:ext cx="45720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1E293B"/>
                </a:solidFill>
              </a:rPr>
              <a:t>結論欄位化、向量化、回灌知識庫，供後續查詢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777240" y="5815584"/>
            <a:ext cx="10332720" cy="329184"/>
          </a:xfrm>
          <a:prstGeom prst="rect">
            <a:avLst/>
          </a:prstGeom>
          <a:solidFill>
            <a:srgbClr val="E7F7EE"/>
          </a:solidFill>
          <a:ln>
            <a:solidFill>
              <a:srgbClr val="E7F7EE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重點：流程由「人找資料」轉為「資料與經驗主動推給人」。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9–11 / 流程設計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流程設計｜FMA 助理的系統資料流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06070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以「查詢入口、Agent Orchestrator、工具層、資料層、回饋層」設計，方便技術端拆分開發。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563A8"/>
                </a:solidFill>
              </a:rPr>
              <a:t>使用者入口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63240" y="1389888"/>
            <a:ext cx="8046720" cy="420624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E293B"/>
                </a:solidFill>
              </a:rPr>
              <a:t>客服 / FAE / FMA 工程師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E293B"/>
                </a:solidFill>
              </a:rPr>
              <a:t>自然語言查詢、Case View、報告草稿確認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6537960" y="1828800"/>
            <a:ext cx="0" cy="310896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2267712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8A86"/>
                </a:solidFill>
              </a:rPr>
              <a:t>FMA Agent Orchestrator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63240" y="2240280"/>
            <a:ext cx="8046720" cy="420624"/>
          </a:xfrm>
          <a:prstGeom prst="rect">
            <a:avLst/>
          </a:prstGeom>
          <a:solidFill>
            <a:srgbClr val="DDF7F3"/>
          </a:solidFill>
          <a:ln>
            <a:solidFill>
              <a:srgbClr val="DDF7F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E293B"/>
                </a:solidFill>
              </a:rPr>
              <a:t>意圖辨識｜權限檢查｜工具調用｜上下文管理｜引用來源控制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6537960" y="2679192"/>
            <a:ext cx="0" cy="310896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3118104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D5BD0"/>
                </a:solidFill>
              </a:rPr>
              <a:t>AI 工具層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63240" y="3090672"/>
            <a:ext cx="8046720" cy="420624"/>
          </a:xfrm>
          <a:prstGeom prst="rect">
            <a:avLst/>
          </a:prstGeom>
          <a:solidFill>
            <a:srgbClr val="EEEAFE"/>
          </a:solidFill>
          <a:ln>
            <a:solidFill>
              <a:srgbClr val="EEEA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E293B"/>
                </a:solidFill>
              </a:rPr>
              <a:t>統計查詢 Tool｜相似案例 RAG｜Defect taxonomy mapping｜RCA ranking｜Report draft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6537960" y="3529584"/>
            <a:ext cx="0" cy="310896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77240" y="3968496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</a:rPr>
              <a:t>資料平台層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3941064"/>
            <a:ext cx="8046720" cy="420624"/>
          </a:xfrm>
          <a:prstGeom prst="rect">
            <a:avLst/>
          </a:prstGeom>
          <a:solidFill>
            <a:srgbClr val="FFF3D0"/>
          </a:solidFill>
          <a:ln>
            <a:solidFill>
              <a:srgbClr val="FFF3D0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E293B"/>
                </a:solidFill>
              </a:rPr>
              <a:t>客訴系統 / QMS｜MES genealogy｜AOI/AVI/EL/E-test｜報告庫｜Databricks / Data Mart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6537960" y="4379976"/>
            <a:ext cx="0" cy="310896"/>
          </a:xfrm>
          <a:prstGeom prst="line">
            <a:avLst/>
          </a:prstGeom>
          <a:noFill/>
          <a:ln w="12700">
            <a:solidFill>
              <a:srgbClr val="2563A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77240" y="4818888"/>
            <a:ext cx="192024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9E76"/>
                </a:solidFill>
              </a:rPr>
              <a:t>知識回饋層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63240" y="4791456"/>
            <a:ext cx="8046720" cy="420624"/>
          </a:xfrm>
          <a:prstGeom prst="rect">
            <a:avLst/>
          </a:prstGeom>
          <a:solidFill>
            <a:srgbClr val="E7F7EE"/>
          </a:solidFill>
          <a:ln>
            <a:solidFill>
              <a:srgbClr val="E7F7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E293B"/>
                </a:solidFill>
              </a:rPr>
              <a:t>工程師採用/否決紀錄｜最終結論｜補測結果｜新案例 embedding / metadata 更新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777240" y="57881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</a:rPr>
              <a:t>系統設計原則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12848" y="57790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先建立「可查詢、可引用、可回灌」的資料服務層，再逐步擴充 Vision / Rule Engine / RCA ranking。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12–13 / 技術端交付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AI 場景說明書 1｜可交付給技術端的需求規格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188720"/>
            <a:ext cx="3328416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563A8"/>
                </a:solidFill>
              </a:rPr>
              <a:t>場景與使用者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3328416" cy="40599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場景：收到客戶端異常面板後，進行客訴片解析與資料查詢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使用者：FMA 工程師、FAE、客服品質、製程/產品單位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觸發：客訴案建立、實體片入庫、工程師查詢歷史資料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成功結果：5 步驟完成收件、查詢、盤點、分析、回灌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4315968" y="1188720"/>
            <a:ext cx="3328416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8A86"/>
                </a:solidFill>
              </a:rPr>
              <a:t>核心功能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15968" y="1627632"/>
            <a:ext cx="3328416" cy="40599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Case View：案號、片號、Lot、客戶描述與檢測資料整合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Historical Statistics：依客戶/機種/缺陷/製程段查詢趨勢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Experience Retrieval：相似案例、舊報告、root cause 召回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Analysis Direction：建議檢查項、補資料、RCA 排序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Report Draft：結構化報告草稿與引用資料來源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Feedback：工程師確認後回灌最終結論與採用紀錄</a:t>
            </a:r>
            <a:endParaRPr lang="en-US" sz="990" dirty="0"/>
          </a:p>
        </p:txBody>
      </p:sp>
      <p:sp>
        <p:nvSpPr>
          <p:cNvPr id="11" name="Text 9"/>
          <p:cNvSpPr/>
          <p:nvPr/>
        </p:nvSpPr>
        <p:spPr>
          <a:xfrm>
            <a:off x="7882128" y="1188720"/>
            <a:ext cx="3328416" cy="38404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D5BD0"/>
                </a:solidFill>
              </a:rPr>
              <a:t>驗收條件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82128" y="1627632"/>
            <a:ext cx="3328416" cy="405993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1270" tIns="1270" rIns="1270" bIns="1270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每個回答必須可追溯到資料來源或歷史報告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Top-N 相似案例需顯示相似理由與可信度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若資料不足，需列出缺漏欄位與補資料建議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AI 不直接輸出最終結論，只輸出建議方向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E293B"/>
                </a:solidFill>
              </a:rPr>
              <a:t>• 查詢、採用、否決與人工修正皆需留 log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749808" y="5852160"/>
            <a:ext cx="10424160" cy="329184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</a:rPr>
              <a:t>MVP 對技術端的明確交付：一個可查歷史統計與歷史經驗的 FMA 助理，並能產出可人工確認的分析方向與報告草稿。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FMA Assistant｜客訴片解析流程再造</a:t>
            </a:r>
            <a:endParaRPr lang="en-US" sz="7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28816"/>
            <a:ext cx="10927080" cy="0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</a:rPr>
              <a:t>PAGE 12–13 / 技術端交付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30" b="1" dirty="0">
                <a:solidFill>
                  <a:srgbClr val="17324D"/>
                </a:solidFill>
              </a:rPr>
              <a:t>AI 場景說明書 2｜技術架構與資料表設計方向</a:t>
            </a:r>
            <a:endParaRPr lang="en-US" sz="2230" dirty="0"/>
          </a:p>
        </p:txBody>
      </p:sp>
      <p:sp>
        <p:nvSpPr>
          <p:cNvPr id="6" name="Text 4"/>
          <p:cNvSpPr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" y="1143000"/>
            <a:ext cx="1874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563A8"/>
                </a:solidFill>
              </a:rPr>
              <a:t>Frontend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889504" y="1133856"/>
            <a:ext cx="8275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Chat UI｜Case View｜Similar Case Panel｜Statistics Panel｜Report Draft Editor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68096" y="1764792"/>
            <a:ext cx="1874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8A86"/>
                </a:solidFill>
              </a:rPr>
              <a:t>Agent Runtime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889504" y="1755648"/>
            <a:ext cx="8275320" cy="329184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Intent Router｜Tool Calling｜Context Memory｜Permission Guard｜Citation Guard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68096" y="2386584"/>
            <a:ext cx="1874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6D5BD0"/>
                </a:solidFill>
              </a:rPr>
              <a:t>AI Services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2889504" y="2377440"/>
            <a:ext cx="8275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RAG Retriever｜Embedding Service｜RCA Direction Ranker｜Report Generator｜Taxonomy Mapper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768096" y="3008376"/>
            <a:ext cx="1874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B7791F"/>
                </a:solidFill>
              </a:rPr>
              <a:t>Data Services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2889504" y="2999232"/>
            <a:ext cx="8275320" cy="329184"/>
          </a:xfrm>
          <a:prstGeom prst="rect">
            <a:avLst/>
          </a:prstGeom>
          <a:solidFill>
            <a:srgbClr val="DCEEFF"/>
          </a:solidFill>
          <a:ln>
            <a:solidFill>
              <a:srgbClr val="DCEE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SQL / Databricks Tool｜Vector DB｜Document Parser｜Image / Defect Metadata Index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68096" y="3630168"/>
            <a:ext cx="18745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F9E76"/>
                </a:solidFill>
              </a:rPr>
              <a:t>Source Systems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889504" y="3621024"/>
            <a:ext cx="8275320" cy="32918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QMS / 客訴系統｜MES / Genealogy｜AOI/AVI/EL/E-test｜報告庫｜庫存/退庫系統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768096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建議資料表 / Index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" y="4901184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563A8"/>
                </a:solidFill>
              </a:rPr>
              <a:t>case_master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2798064" y="4901184"/>
            <a:ext cx="8183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</a:rPr>
              <a:t>case_id, customer, model, defect_desc, status, created_at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786384" y="5175504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563A8"/>
                </a:solidFill>
              </a:rPr>
              <a:t>panel_inventory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2798064" y="5175504"/>
            <a:ext cx="8183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</a:rPr>
              <a:t>panel_id, case_id, lot_id, location, received_at, return_status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86384" y="5449824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563A8"/>
                </a:solidFill>
              </a:rPr>
              <a:t>defect_event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2798064" y="5449824"/>
            <a:ext cx="8183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</a:rPr>
              <a:t>case_id, defect_code, process_stage, inspection_source, image_ref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786384" y="5724144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563A8"/>
                </a:solidFill>
              </a:rPr>
              <a:t>fma_report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798064" y="5724144"/>
            <a:ext cx="8183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</a:rPr>
              <a:t>report_id, case_id, conclusion, evidence, action, owner, signed_at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786384" y="5998464"/>
            <a:ext cx="182880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2563A8"/>
                </a:solidFill>
              </a:rPr>
              <a:t>experience_index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2798064" y="5998464"/>
            <a:ext cx="81838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</a:rPr>
              <a:t>embedding_id, report_id, keywords, root_cause, similarity_meta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768096" y="6327648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17324D"/>
                </a:solidFill>
              </a:rPr>
              <a:t>開發順序：資料盤點 → 欄位字典 → RAG/SQL MVP → Case View → 報告草稿 → 回饋與評估儀表板。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658368" y="6574536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Next Step｜確認資料來源、MVP 範圍、權限與驗收 KPI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FMA助理：客訴片解析流程再造與AI場景說明書</dc:title>
  <dc:subject>FMA助理：客訴片解析流程再造與AI場景說明書</dc:subject>
  <dc:creator>OpenAI</dc:creator>
  <cp:lastModifiedBy>OpenAI</cp:lastModifiedBy>
  <cp:revision>1</cp:revision>
  <dcterms:created xsi:type="dcterms:W3CDTF">2026-04-24T11:48:02Z</dcterms:created>
  <dcterms:modified xsi:type="dcterms:W3CDTF">2026-04-24T11:48:02Z</dcterms:modified>
</cp:coreProperties>
</file>