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來源融合：上傳之 Harness Engineering 教學簡報文字內容，以及 1~20 編號圖解素材。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封面｜把 LLM 變成可控、可驗證、可恢復的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Harness Engineering｜從概念到實戰架構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本簡報融合課程內容與 20 張圖解素材，建立一套由淺入深的 Harness Engineering 學習路徑。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核心公式：Agent = Model + Harness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學習目標：理解模組、畫出流程、設計可靠 Agent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包含：教學圖解、練習題、小測驗與答案解析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關鍵：把「模型能力」轉化為「可靠流程」。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</a:t>
            </a:r>
          </a:p>
        </p:txBody>
      </p:sp>
      <p:pic>
        <p:nvPicPr>
          <p:cNvPr id="14" name="Picture 13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整體課程封面與核心視覺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第 1 章｜核心比喻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什麼是 Harness？從「脫韁野馬」開始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LLM 具備強大能力，但如果沒有外部框架，容易發散、遺忘、誤用工具。Harness 就是讓能力變成可控產出的馬具。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LLM：力量強、會推理，但本身不等於可交付系統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Harness：工具、記憶、權限、驗證、狀態管理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Agent：模型在 Harness 之內穩定完成任務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關鍵：沒有 Harness，強模型也可能失控。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2</a:t>
            </a:r>
          </a:p>
        </p:txBody>
      </p:sp>
      <p:pic>
        <p:nvPicPr>
          <p:cNvPr id="14" name="Picture 13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野馬 → 馬具 → 可工作的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定義｜一句話掌握本質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核心公式：Agent = Model +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模型只是智能核心；真正能執行任務、處理錯誤、連接現實世界的是 Harness。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Model：語言理解、推理、生成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Harness：系統規則、工具調度、記憶、驗證、護欄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Agent：能互動、能行動、能自我修正的完整系統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關鍵：Agent 的價值來自 Model 與 Harness 的組合。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3</a:t>
            </a:r>
          </a:p>
        </p:txBody>
      </p:sp>
      <p:pic>
        <p:nvPicPr>
          <p:cNvPr id="14" name="Picture 13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83041"/>
            <a:ext cx="4892040" cy="40497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Agent 的組成關係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5897880"/>
            <a:ext cx="14630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989320"/>
            <a:ext cx="1243584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16A34A"/>
                </a:solidFill>
                <a:latin typeface="Microsoft JhengHei"/>
              </a:rP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" y="6208776"/>
            <a:ext cx="124358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C254B"/>
                </a:solidFill>
                <a:latin typeface="Microsoft JhengHei"/>
              </a:rPr>
              <a:t>完整系統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87168" y="5897880"/>
            <a:ext cx="14630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96896" y="5989320"/>
            <a:ext cx="1243584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2563EB"/>
                </a:solidFill>
                <a:latin typeface="Microsoft JhengHei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6208776"/>
            <a:ext cx="124358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C254B"/>
                </a:solidFill>
                <a:latin typeface="Microsoft JhengHei"/>
              </a:rPr>
              <a:t>模型核心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59935" y="5897880"/>
            <a:ext cx="1463040" cy="62179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9663" y="5989320"/>
            <a:ext cx="1243584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>
                <a:solidFill>
                  <a:srgbClr val="F97316"/>
                </a:solidFill>
                <a:latin typeface="Microsoft JhengHei"/>
              </a:rPr>
              <a:t>Harness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9663" y="6208776"/>
            <a:ext cx="1243584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C254B"/>
                </a:solidFill>
                <a:latin typeface="Microsoft JhengHei"/>
              </a:rPr>
              <a:t>外部架構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問題意識｜從 Demo 到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為什麼需要 Harness？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Demo 成功不代表生產穩定。真實環境會出現錯誤輸入、API 逾時、資料過長、權限風險與格式不一致。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沒有 Harness：容易迷路、工具誤用、無法處理異常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有 Harness：流程可控、結果可驗證、失敗可恢復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核心目的：不是讓模型更花俏，而是讓產出更可靠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關鍵：生產環境需要可控、可驗證、可恢復。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4</a:t>
            </a:r>
          </a:p>
        </p:txBody>
      </p:sp>
      <p:pic>
        <p:nvPicPr>
          <p:cNvPr id="14" name="Picture 13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有無 Harness 的差異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案例｜OpenAI / Anthropic 實戰啟示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真實案例：從模型能力到系統生產力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來源材料指出，Harness 的關鍵價值在於把模型能力包裝成可長時間運行的工程系統。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提高效率：透過工具、狀態與驗證降低反覆試錯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降低幻覺：讓模型受到資料、規則與驗證約束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重新定義工程師角色：從寫程式者變成 AI 系統指揮官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關鍵：系統設計比單純換模型更能提升穩定性。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5</a:t>
            </a:r>
          </a:p>
        </p:txBody>
      </p:sp>
      <p:pic>
        <p:nvPicPr>
          <p:cNvPr id="14" name="Picture 13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優化 Harness 前後的生產力曲線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層級辨析｜不要把三者混在一起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Harness vs Prompt vs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Prompt、Context、Harness 是由小到大的三個工程層級。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Prompt：把任務說清楚，例如角色、格式、限制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Context：把正確資料放進模型看得到的位置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Harness：把模型、工具、流程、驗證、安全整合成系統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關鍵：Prompt 是指令，Context 是資料，Harness 是系統。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6</a:t>
            </a:r>
          </a:p>
        </p:txBody>
      </p:sp>
      <p:pic>
        <p:nvPicPr>
          <p:cNvPr id="14" name="Picture 13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三種工程層級比較表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類比｜為什麼 Harness 像作業系統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計算機架構類比：LLM 是 CPU，Harness 是 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CPU 有計算能力，但不能單獨管理記憶、硬碟、外設、權限與錯誤。LLM 也是如此。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LLM ≈ CPU：核心運算與推理能力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Harness ≈ OS：資源管理、工具驅動、異常處理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工具 ≈ 外部設備：API、DB、檔案、瀏覽器、程式執行器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關鍵：LLM 需要作業系統式的外部支援。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7</a:t>
            </a:r>
          </a:p>
        </p:txBody>
      </p:sp>
      <p:pic>
        <p:nvPicPr>
          <p:cNvPr id="14" name="Picture 13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CPU 與 OS 對照 AI 架構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架構視角｜由內而外擴展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三大工程層級的關係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Harness Engineering 包含 Prompt 與 Context，但它更關心「系統如何可靠運作」。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Prompt Engineering：設計指令與輸出格式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Context Engineering：管理資訊輸入與上下文視窗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Harness Engineering：設計完整閉環、權限、恢復與評估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關鍵：Harness 是三層工程的最外層與整合層。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8</a:t>
            </a:r>
          </a:p>
        </p:txBody>
      </p:sp>
      <p:pic>
        <p:nvPicPr>
          <p:cNvPr id="14" name="Picture 13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83041"/>
            <a:ext cx="4892040" cy="40497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Prompt → Context → Harness 金字塔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模組地圖｜每個模組處理一種失敗模式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Harness 的 12 大核心模組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生產級 Agent 不是單一模型，而是多個控制模組協同工作。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運行模組：初始化、工具、編排循環、Observation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穩定模組：記憶、上下文、狀態、檢查點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治理模組：驗證、回饋、護欄、監控與子智能體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關鍵：模組設計的本質是降低失敗模式。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9</a:t>
            </a:r>
          </a:p>
        </p:txBody>
      </p:sp>
      <p:pic>
        <p:nvPicPr>
          <p:cNvPr id="14" name="Picture 13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12 個核心模組總覽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Orchestration Loop｜Agent 的心跳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編排循環：任務執行的引擎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編排循環讓 Agent 可以「決策 → 行動 → 觀察 → 修正」，而不是一次性猜完所有步驟。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Plan：模型決定下一步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Act：Harness 依規則呼叫工具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Observe：工具結果或錯誤回到模型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Repeat：直到達成 Final Answer 或觸發停止條件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關鍵：Loop 讓 Agent 可以邊做邊修正。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10</a:t>
            </a:r>
          </a:p>
        </p:txBody>
      </p:sp>
      <p:pic>
        <p:nvPicPr>
          <p:cNvPr id="14" name="Picture 13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Plan / Act / Observe / Loop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870448"/>
            <a:ext cx="685800" cy="34747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sp>
        <p:nvSpPr>
          <p:cNvPr id="17" name="Oval 16"/>
          <p:cNvSpPr/>
          <p:nvPr/>
        </p:nvSpPr>
        <p:spPr>
          <a:xfrm>
            <a:off x="2057400" y="5870448"/>
            <a:ext cx="685800" cy="347472"/>
          </a:xfrm>
          <a:prstGeom prst="ellipse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Act</a:t>
            </a:r>
          </a:p>
        </p:txBody>
      </p:sp>
      <p:sp>
        <p:nvSpPr>
          <p:cNvPr id="18" name="Oval 17"/>
          <p:cNvSpPr/>
          <p:nvPr/>
        </p:nvSpPr>
        <p:spPr>
          <a:xfrm>
            <a:off x="3200400" y="5870448"/>
            <a:ext cx="685800" cy="347472"/>
          </a:xfrm>
          <a:prstGeom prst="ellipse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Observe</a:t>
            </a:r>
          </a:p>
        </p:txBody>
      </p:sp>
      <p:sp>
        <p:nvSpPr>
          <p:cNvPr id="19" name="Oval 18"/>
          <p:cNvSpPr/>
          <p:nvPr/>
        </p:nvSpPr>
        <p:spPr>
          <a:xfrm>
            <a:off x="4343400" y="5870448"/>
            <a:ext cx="685800" cy="347472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Repeat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Tool Design｜工具不是越多越好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工具使用：連接現實世界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工具要像有標籤的工具箱：名稱清楚、使用時機明確、參數與回傳格式固定。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好工具：單一用途、Schema 清楚、錯誤可讀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壞工具：do_stuff 類模糊名稱、參數自由亂填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最小工具集：降低模型選錯工具的機率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關鍵：工具 Schema 是 Agent 與現實世界的接口契約。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11</a:t>
            </a:r>
          </a:p>
        </p:txBody>
      </p:sp>
      <p:pic>
        <p:nvPicPr>
          <p:cNvPr id="14" name="Picture 13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工具箱與 AI Agent 的連接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Memory｜記住該記的，忘掉該忘的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記憶管理：短期與長期記憶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Agent 需要保存任務進度與長期知識，但不能把所有內容都塞進上下文。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短期記憶：當前任務進度、最近決策、重要 Observation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長期記憶：使用者偏好、歷史案例、規格文件、法規資料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記憶管理重點：可檢索、可摘要、可更新、可追溯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關鍵：記憶應該被管理，而不是無限制堆疊。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12</a:t>
            </a:r>
          </a:p>
        </p:txBody>
      </p:sp>
      <p:pic>
        <p:nvPicPr>
          <p:cNvPr id="14" name="Picture 13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Working Memory 與 Long-term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Context Engineering｜資訊越多不一定越好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上下文管理：對抗 Context Rot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上下文過長與雜訊過多會讓模型注意力下降，甚至遺忘最初目標。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摘要壓縮：保留任務主線，移除細節雜訊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即時檢索：需要時才查相關資料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Observation Masking：遮蔽大型工具輸出，只留下可行動摘要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關鍵：最小必要資訊勝過全量資訊。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13</a:t>
            </a:r>
          </a:p>
        </p:txBody>
      </p:sp>
      <p:pic>
        <p:nvPicPr>
          <p:cNvPr id="14" name="Picture 13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83041"/>
            <a:ext cx="4892040" cy="40497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Context Rot 與三種解法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Verification Loop｜從能跑到可靠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驗證與回饋：確保輸出品質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Generator 負責產出；Evaluator 負責挑錯。重要任務不能只依靠模型自我感覺良好。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規則驗證：公式、格式、Schema、測試用例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模型裁判：語氣、邏輯、專業性、風險提示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視覺回饋：UI 截圖、圖表、版面正確性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關鍵：沒有驗證，就沒有可靠交付。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14</a:t>
            </a:r>
          </a:p>
        </p:txBody>
      </p:sp>
      <p:pic>
        <p:nvPicPr>
          <p:cNvPr id="14" name="Picture 13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生成者、驗證者與回饋循環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Guardrails｜推理與權限解耦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護欄機制：安全第一但不妨礙效率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模型可以提出想做什麼，但 Harness 決定能不能做。這是生產環境的紅線設計。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輸入護欄：阻擋不合規或惡意請求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工具護欄：限制刪除、提交、轉帳等高風險操作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輸出護欄：遮蔽敏感資訊、檢查合規與格式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關鍵：護欄限制的是危險，不是能力。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15</a:t>
            </a:r>
          </a:p>
        </p:txBody>
      </p:sp>
      <p:pic>
        <p:nvPicPr>
          <p:cNvPr id="14" name="Picture 13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輸入、工具、輸出三層護欄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State &amp; Checkpointing｜讓努力不歸零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狀態與檢查點：斷點續跑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長任務最怕在最後一步失敗。檢查點讓系統能從穩定狀態恢復，而不是重跑全部流程。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State：目前任務進度、工具結果、決策紀錄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Checkpoint：高成本完成點與高風險轉折點的存檔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Resume / Rollback：恢復執行或回退到穩定版本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關鍵：檢查點讓長任務具備恢復能力。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16</a:t>
            </a:r>
          </a:p>
        </p:txBody>
      </p:sp>
      <p:pic>
        <p:nvPicPr>
          <p:cNvPr id="14" name="Picture 13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任務中斷後從檢查點續跑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Sub-agent Orchestration｜從單兵到團隊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子智能體編排：專業分工合作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當任務複雜、工具很多、領域跨度大時，單一 Agent 容易混亂，分工能降低上下文負擔。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Orchestrator：分派任務並整合結果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Planner / Executor / Validator：專家角色各司其職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判斷標準：任務複雜度、工具重疊度、錯誤成本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關鍵：複雜任務需要專業分工，而非單一巨型 Agent。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17</a:t>
            </a:r>
          </a:p>
        </p:txBody>
      </p:sp>
      <p:pic>
        <p:nvPicPr>
          <p:cNvPr id="14" name="Picture 13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主控 Agent 與多個專家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Architecture Blueprint｜把所有模組接起來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完整系統藍圖：從零到一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完整 Harness 系統是一條可追蹤、可修正、可驗證、可恢復的流程。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使用者輸入 → 規則初始化 → Agent Loop → 工具與資料庫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Memory / Context 提供必要資訊，不塞滿雜訊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Verification / Guardrails / Checkpoint 確保品質、安全與恢復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關鍵：完整藍圖需要流程、工具、記憶、驗證與安全一起設計。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18</a:t>
            </a:r>
          </a:p>
        </p:txBody>
      </p:sp>
      <p:pic>
        <p:nvPicPr>
          <p:cNvPr id="14" name="Picture 13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83041"/>
            <a:ext cx="4892040" cy="404970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端到端 Harness 系統架構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Practice｜先作答再看答案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練習與小測驗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請用工程視角判斷：每一題背後都是一個生產環境的設計選擇。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1. 把前 40 輪對話整理成摘要，屬於哪一種上下文管理？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2. 工具回傳 API timeout，下一輪應如何交給模型？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3. 為何不能把所有工具一次塞給單一 Agent？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4. 檢查稅額公式是否正確，最適合用哪一類驗證？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5. 何時應該引入子智能體？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練習：先判斷模組，再說明工程原因。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19</a:t>
            </a:r>
          </a:p>
        </p:txBody>
      </p:sp>
      <p:pic>
        <p:nvPicPr>
          <p:cNvPr id="14" name="Picture 13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練習題與小測驗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833872"/>
            <a:ext cx="5047488" cy="347472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925312"/>
            <a:ext cx="47091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F97316"/>
                </a:solidFill>
                <a:latin typeface="Microsoft JhengHei"/>
              </a:rPr>
              <a:t>建議操作：每題先標出「模組名稱」，再說明為什麼。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0040" y="228600"/>
            <a:ext cx="475488" cy="347472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28600"/>
            <a:ext cx="530352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563EB"/>
                </a:solidFill>
                <a:latin typeface="Microsoft JhengHei"/>
              </a:rPr>
              <a:t>Review｜完成 Harness 架設思維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11480"/>
            <a:ext cx="694944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54B"/>
                </a:solidFill>
                <a:latin typeface="Microsoft JhengHei"/>
              </a:rPr>
              <a:t>答案解析與總結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822960"/>
            <a:ext cx="11548872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5650992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353312"/>
            <a:ext cx="50109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C254B"/>
                </a:solidFill>
                <a:latin typeface="Microsoft JhengHei"/>
              </a:rPr>
              <a:t>Harness 的核心不是讓模型更自由，而是讓模型在受控環境中反覆行動、被檢查、能恢復。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76272"/>
            <a:ext cx="54864" cy="2651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76272"/>
            <a:ext cx="4809744" cy="2697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1. 摘要壓縮：保留主線，降低上下文雜訊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2. 作為 Observation / Feedback 傳回下一輪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3. 工具太多會增加雜訊與誤用；採最小工具集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4. 規則驗證最適合公式、格式、數值</a:t>
            </a:r>
          </a:p>
          <a:p>
            <a:pPr>
              <a:lnSpc>
                <a:spcPct val="110000"/>
              </a:lnSpc>
              <a:spcAft>
                <a:spcPts val="500"/>
              </a:spcAft>
            </a:pPr>
            <a:r>
              <a:rPr sz="1300">
                <a:solidFill>
                  <a:srgbClr val="475569"/>
                </a:solidFill>
                <a:latin typeface="Microsoft JhengHei"/>
              </a:rPr>
              <a:t>• 5. 工具多、任務長、領域廣、錯誤成本高時引入子智能體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5120640"/>
            <a:ext cx="5047488" cy="65836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312664"/>
            <a:ext cx="4718304" cy="21945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JhengHei"/>
              </a:rPr>
              <a:t>總結：Harness 是 AI Agent 生產化的核心工程。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114300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11112" y="1307592"/>
            <a:ext cx="658368" cy="256032"/>
          </a:xfrm>
          <a:prstGeom prst="round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563EB"/>
                </a:solidFill>
                <a:latin typeface="Microsoft JhengHei"/>
              </a:rPr>
              <a:t>圖 20</a:t>
            </a:r>
          </a:p>
        </p:txBody>
      </p:sp>
      <p:pic>
        <p:nvPicPr>
          <p:cNvPr id="14" name="Picture 13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76313"/>
            <a:ext cx="4892040" cy="406315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5724144"/>
            <a:ext cx="489204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答案、總結與學習完成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5852160"/>
            <a:ext cx="1280160" cy="36576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FFFFF"/>
                </a:solidFill>
                <a:latin typeface="Microsoft JhengHei"/>
              </a:rPr>
              <a:t>完成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56692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Harness Engineering 教學簡報｜Model + Harness = Reliable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547104"/>
            <a:ext cx="100584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64748B"/>
                </a:solidFill>
                <a:latin typeface="Microsoft JhengHei"/>
              </a:rPr>
              <a:t>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