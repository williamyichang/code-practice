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APQC, What is the Process Classification Framework (PCF)? https://www.apqc.org/process-frameworks/pcf-faqs
- APQC, Introduction to APQC's Process Classification Framework (PCF). https://www.apqc.org/resource-library/resource-listing/introduction-apqcs-process-classification-framework-pcf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APQC, Applying APQC's Process Classification Framework (PCF) to business. https://www.apqc.org/resource-library/resource-listing/applying-apqcs-process-classification-framework-pcf-business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APQC, Process frameworks are lists of key processes grouped hierarchically to show how they relate. https://www.apqc.org/process-frameworks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The AI Canvas, enterprise AI feasibility framing. https://medium.com/the-business-of-ai/the-ai-canvas-7a8717cddbe9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 Canvas framing for process and technical feasibility. https://medium.com/the-business-of-ai/the-ai-canvas-7a8717cddbe9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 Canvas framing for output, risk, and feasibility. https://medium.com/the-business-of-ai/the-ai-canvas-7a8717cddbe9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108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5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PCF PAIN DISCOVERY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PCF 盤點現況流程痛點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923544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8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示範流程：營運分析與週報製作（資料彙整 → 異常判讀 → 簡報輸出）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10835640" cy="0"/>
          </a:xfrm>
          <a:prstGeom prst="line">
            <a:avLst/>
          </a:prstGeom>
          <a:noFill/>
          <a:ln w="12700">
            <a:solidFill>
              <a:srgbClr val="D6D0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420624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155680" y="4297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6656" y="1508760"/>
            <a:ext cx="2926080" cy="3584448"/>
          </a:xfrm>
          <a:prstGeom prst="roundRect">
            <a:avLst>
              <a:gd name="adj" fmla="val 2500"/>
            </a:avLst>
          </a:prstGeom>
          <a:solidFill>
            <a:srgbClr val="DCE7F3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6656" y="1508760"/>
            <a:ext cx="2926080" cy="20116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527048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L1｜資料取得與準備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50792" y="1508760"/>
            <a:ext cx="2926080" cy="3584448"/>
          </a:xfrm>
          <a:prstGeom prst="roundRect">
            <a:avLst>
              <a:gd name="adj" fmla="val 2500"/>
            </a:avLst>
          </a:prstGeom>
          <a:solidFill>
            <a:srgbClr val="DCEAE7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50792" y="1508760"/>
            <a:ext cx="2926080" cy="201168"/>
          </a:xfrm>
          <a:prstGeom prst="rect">
            <a:avLst/>
          </a:prstGeom>
          <a:solidFill>
            <a:srgbClr val="5E7C76"/>
          </a:solidFill>
          <a:ln w="12700">
            <a:solidFill>
              <a:srgbClr val="5E7C7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78808" y="1527048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L1｜分析與洞察生成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24928" y="1508760"/>
            <a:ext cx="2926080" cy="3584448"/>
          </a:xfrm>
          <a:prstGeom prst="roundRect">
            <a:avLst>
              <a:gd name="adj" fmla="val 2500"/>
            </a:avLst>
          </a:prstGeom>
          <a:solidFill>
            <a:srgbClr val="F5E8D3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24928" y="1508760"/>
            <a:ext cx="2926080" cy="201168"/>
          </a:xfrm>
          <a:prstGeom prst="rect">
            <a:avLst/>
          </a:prstGeom>
          <a:solidFill>
            <a:srgbClr val="B9904F"/>
          </a:solidFill>
          <a:ln w="12700">
            <a:solidFill>
              <a:srgbClr val="B9904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52944" y="1527048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L1｜審核與交付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6112" y="1847088"/>
            <a:ext cx="384048" cy="246888"/>
          </a:xfrm>
          <a:prstGeom prst="roundRect">
            <a:avLst>
              <a:gd name="adj" fmla="val 44444"/>
            </a:avLst>
          </a:prstGeom>
          <a:solidFill>
            <a:srgbClr val="224A71"/>
          </a:solidFill>
          <a:ln w="12700">
            <a:solidFill>
              <a:srgbClr val="224A7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185623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353312" y="18288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收集 / 清理 / 對齊欄位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6112" y="2176272"/>
            <a:ext cx="384048" cy="246888"/>
          </a:xfrm>
          <a:prstGeom prst="roundRect">
            <a:avLst>
              <a:gd name="adj" fmla="val 44444"/>
            </a:avLst>
          </a:prstGeom>
          <a:solidFill>
            <a:srgbClr val="EFF1F3"/>
          </a:solidFill>
          <a:ln w="12700">
            <a:solidFill>
              <a:srgbClr val="EFF1F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218541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14400" y="2340864"/>
            <a:ext cx="25054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6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資料來自 Excel、郵件、會議紀要
</a:t>
            </a: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6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指標口徑分散在不同檔案與人員記憶
</a:t>
            </a: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6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大量人工 copy &amp; paste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896112" y="3611880"/>
            <a:ext cx="2487168" cy="1051560"/>
          </a:xfrm>
          <a:prstGeom prst="roundRect">
            <a:avLst>
              <a:gd name="adj" fmla="val 6957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4128" y="3767328"/>
            <a:ext cx="786384" cy="246888"/>
          </a:xfrm>
          <a:prstGeom prst="roundRect">
            <a:avLst>
              <a:gd name="adj" fmla="val 44444"/>
            </a:avLst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377647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痛點熱區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42416" y="405079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格式不一致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缺資料 / 晚到資料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對帳耗時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70248" y="1847088"/>
            <a:ext cx="384048" cy="246888"/>
          </a:xfrm>
          <a:prstGeom prst="roundRect">
            <a:avLst>
              <a:gd name="adj" fmla="val 44444"/>
            </a:avLst>
          </a:prstGeom>
          <a:solidFill>
            <a:srgbClr val="5E7C76"/>
          </a:solidFill>
          <a:ln w="12700">
            <a:solidFill>
              <a:srgbClr val="5E7C7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70248" y="185623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L2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27448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E7C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異常偵測 / 原因假設 / 敘事草稿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270248" y="2176272"/>
            <a:ext cx="384048" cy="246888"/>
          </a:xfrm>
          <a:prstGeom prst="roundRect">
            <a:avLst>
              <a:gd name="adj" fmla="val 44444"/>
            </a:avLst>
          </a:prstGeom>
          <a:solidFill>
            <a:srgbClr val="EFF1F3"/>
          </a:solidFill>
          <a:ln w="12700">
            <a:solidFill>
              <a:srgbClr val="EFF1F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70248" y="218541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L3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288536" y="2340864"/>
            <a:ext cx="25054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6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分析依賴個人經驗與過往範本
</a:t>
            </a: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6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很難快速找出「值得講」的重點
</a:t>
            </a: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6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洞察文字需反覆修改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4270248" y="3611880"/>
            <a:ext cx="2487168" cy="1051560"/>
          </a:xfrm>
          <a:prstGeom prst="roundRect">
            <a:avLst>
              <a:gd name="adj" fmla="val 6957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398264" y="3767328"/>
            <a:ext cx="786384" cy="246888"/>
          </a:xfrm>
          <a:prstGeom prst="roundRect">
            <a:avLst>
              <a:gd name="adj" fmla="val 44444"/>
            </a:avLst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98264" y="377647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痛點熱區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416552" y="405079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知識集中於少數人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分析不可重複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品質差異大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644384" y="1847088"/>
            <a:ext cx="384048" cy="246888"/>
          </a:xfrm>
          <a:prstGeom prst="roundRect">
            <a:avLst>
              <a:gd name="adj" fmla="val 44444"/>
            </a:avLst>
          </a:prstGeom>
          <a:solidFill>
            <a:srgbClr val="B9904F"/>
          </a:solidFill>
          <a:ln w="12700">
            <a:solidFill>
              <a:srgbClr val="B9904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44384" y="185623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101584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99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報告整併 / 主管審核 / 發布留存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644384" y="2176272"/>
            <a:ext cx="384048" cy="246888"/>
          </a:xfrm>
          <a:prstGeom prst="roundRect">
            <a:avLst>
              <a:gd name="adj" fmla="val 44444"/>
            </a:avLst>
          </a:prstGeom>
          <a:solidFill>
            <a:srgbClr val="EFF1F3"/>
          </a:solidFill>
          <a:ln w="12700">
            <a:solidFill>
              <a:srgbClr val="EFF1F3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44384" y="218541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L3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662672" y="2340864"/>
            <a:ext cx="25054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6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輸出格式常因對象不同而重做
</a:t>
            </a: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6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版本往返多，難追蹤差異
</a:t>
            </a: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6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交付後不易回溯來源與判斷</a:t>
            </a:r>
            <a:endParaRPr lang="en-US" sz="1060" dirty="0"/>
          </a:p>
        </p:txBody>
      </p:sp>
      <p:sp>
        <p:nvSpPr>
          <p:cNvPr id="45" name="Shape 43"/>
          <p:cNvSpPr/>
          <p:nvPr/>
        </p:nvSpPr>
        <p:spPr>
          <a:xfrm>
            <a:off x="7644384" y="3611880"/>
            <a:ext cx="2487168" cy="1051560"/>
          </a:xfrm>
          <a:prstGeom prst="roundRect">
            <a:avLst>
              <a:gd name="adj" fmla="val 6957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772400" y="3767328"/>
            <a:ext cx="786384" cy="246888"/>
          </a:xfrm>
          <a:prstGeom prst="roundRect">
            <a:avLst>
              <a:gd name="adj" fmla="val 44444"/>
            </a:avLst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0" y="377647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痛點熱區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790688" y="405079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修改迴圈長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缺乏審核軌跡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難擴大複用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0469880" y="1508760"/>
            <a:ext cx="1051560" cy="3584448"/>
          </a:xfrm>
          <a:prstGeom prst="roundRect">
            <a:avLst>
              <a:gd name="adj" fmla="val 6957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0625328" y="1792224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關鍵判斷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10643616" y="2084832"/>
            <a:ext cx="713232" cy="0"/>
          </a:xfrm>
          <a:prstGeom prst="line">
            <a:avLst/>
          </a:prstGeom>
          <a:noFill/>
          <a:ln w="12700">
            <a:solidFill>
              <a:srgbClr val="D6D0C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588752" y="2240280"/>
            <a:ext cx="8412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8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痛點不是單一工具問題，而是流程分層失衡
</a:t>
            </a:r>
            <a:endParaRPr lang="en-US" sz="1080" dirty="0"/>
          </a:p>
          <a:p>
            <a:pPr indent="0" marL="0">
              <a:buNone/>
            </a:pPr>
            <a:r>
              <a:rPr lang="en-US" sz="108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8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最適合導入的位置在「整理 + 初稿 + 可追溯輸出」
</a:t>
            </a:r>
            <a:endParaRPr lang="en-US" sz="1080" dirty="0"/>
          </a:p>
          <a:p>
            <a:pPr indent="0" marL="0">
              <a:buNone/>
            </a:pPr>
            <a:r>
              <a:rPr lang="en-US" sz="108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8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不建議一步到位全自動；應採 AI 輔助 + 人工覆核</a:t>
            </a:r>
            <a:endParaRPr lang="en-US" sz="10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108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5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PCF HOTSPOT 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PCF 拆解後的痛點熱區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923544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8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L2 / L3 活動對照時間、品質、可追溯性，找出最值得 AI 介入的段落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10835640" cy="0"/>
          </a:xfrm>
          <a:prstGeom prst="line">
            <a:avLst/>
          </a:prstGeom>
          <a:noFill/>
          <a:ln w="12700">
            <a:solidFill>
              <a:srgbClr val="D6D0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420624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155680" y="4297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9808" y="1664208"/>
            <a:ext cx="1216152" cy="34747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700784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965960" y="1664208"/>
            <a:ext cx="1280160" cy="34747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17007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L2 / L3 活動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1664208"/>
            <a:ext cx="1417320" cy="347472"/>
          </a:xfrm>
          <a:prstGeom prst="rect">
            <a:avLst/>
          </a:prstGeom>
          <a:solidFill>
            <a:srgbClr val="5E7C76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7007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時間耗損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664208"/>
            <a:ext cx="1325880" cy="347472"/>
          </a:xfrm>
          <a:prstGeom prst="rect">
            <a:avLst/>
          </a:prstGeom>
          <a:solidFill>
            <a:srgbClr val="5E7C76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70078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品質波動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89320" y="1664208"/>
            <a:ext cx="1216152" cy="347472"/>
          </a:xfrm>
          <a:prstGeom prst="rect">
            <a:avLst/>
          </a:prstGeom>
          <a:solidFill>
            <a:srgbClr val="5E7C76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700784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可追溯性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05472" y="1664208"/>
            <a:ext cx="1344168" cy="347472"/>
          </a:xfrm>
          <a:prstGeom prst="rect">
            <a:avLst/>
          </a:prstGeom>
          <a:solidFill>
            <a:srgbClr val="B9904F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5472" y="1700784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自動化適配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549640" y="1664208"/>
            <a:ext cx="1280160" cy="347472"/>
          </a:xfrm>
          <a:prstGeom prst="rect">
            <a:avLst/>
          </a:prstGeom>
          <a:solidFill>
            <a:srgbClr val="B9904F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17007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主要症狀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829800" y="1664208"/>
            <a:ext cx="1097280" cy="347472"/>
          </a:xfrm>
          <a:prstGeom prst="rect">
            <a:avLst/>
          </a:prstGeom>
          <a:solidFill>
            <a:srgbClr val="B9904F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29800" y="17007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優先級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49808" y="2048256"/>
            <a:ext cx="1216152" cy="493776"/>
          </a:xfrm>
          <a:prstGeom prst="rect">
            <a:avLst/>
          </a:prstGeom>
          <a:solidFill>
            <a:srgbClr val="FFFDF9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65960" y="2048256"/>
            <a:ext cx="1280160" cy="493776"/>
          </a:xfrm>
          <a:prstGeom prst="rect">
            <a:avLst/>
          </a:prstGeom>
          <a:solidFill>
            <a:srgbClr val="FFFDF9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2048256"/>
            <a:ext cx="1417320" cy="493776"/>
          </a:xfrm>
          <a:prstGeom prst="rect">
            <a:avLst/>
          </a:prstGeom>
          <a:solidFill>
            <a:srgbClr val="FFFDF9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2048256"/>
            <a:ext cx="1325880" cy="493776"/>
          </a:xfrm>
          <a:prstGeom prst="rect">
            <a:avLst/>
          </a:prstGeom>
          <a:solidFill>
            <a:srgbClr val="FFFDF9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89320" y="2048256"/>
            <a:ext cx="1216152" cy="493776"/>
          </a:xfrm>
          <a:prstGeom prst="rect">
            <a:avLst/>
          </a:prstGeom>
          <a:solidFill>
            <a:srgbClr val="FFFDF9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05472" y="2048256"/>
            <a:ext cx="1344168" cy="493776"/>
          </a:xfrm>
          <a:prstGeom prst="rect">
            <a:avLst/>
          </a:prstGeom>
          <a:solidFill>
            <a:srgbClr val="FFFDF9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49640" y="2048256"/>
            <a:ext cx="1280160" cy="493776"/>
          </a:xfrm>
          <a:prstGeom prst="rect">
            <a:avLst/>
          </a:prstGeom>
          <a:solidFill>
            <a:srgbClr val="FFFDF9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29800" y="2048256"/>
            <a:ext cx="1097280" cy="493776"/>
          </a:xfrm>
          <a:prstGeom prst="rect">
            <a:avLst/>
          </a:prstGeom>
          <a:solidFill>
            <a:srgbClr val="FFFDF9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2203704"/>
            <a:ext cx="1069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資料準備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039112" y="2167128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收集 / 清理 / 對帳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3557016" y="2240280"/>
            <a:ext cx="128016" cy="128016"/>
          </a:xfrm>
          <a:prstGeom prst="ellipse">
            <a:avLst/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58184" y="2240280"/>
            <a:ext cx="128016" cy="128016"/>
          </a:xfrm>
          <a:prstGeom prst="ellipse">
            <a:avLst/>
          </a:prstGeom>
          <a:solidFill>
            <a:srgbClr val="D89E46"/>
          </a:solidFill>
          <a:ln w="12700">
            <a:solidFill>
              <a:srgbClr val="D89E46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59352" y="2240280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74336" y="2240280"/>
            <a:ext cx="128016" cy="128016"/>
          </a:xfrm>
          <a:prstGeom prst="ellipse">
            <a:avLst/>
          </a:prstGeom>
          <a:solidFill>
            <a:srgbClr val="D89E46"/>
          </a:solidFill>
          <a:ln w="12700">
            <a:solidFill>
              <a:srgbClr val="D89E46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75504" y="2240280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76672" y="2240280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76672" y="2240280"/>
            <a:ext cx="128016" cy="128016"/>
          </a:xfrm>
          <a:prstGeom prst="ellipse">
            <a:avLst/>
          </a:prstGeom>
          <a:solidFill>
            <a:srgbClr val="FFFDF9"/>
          </a:solidFill>
          <a:ln w="12700">
            <a:solidFill>
              <a:srgbClr val="D6D0C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00216" y="2240280"/>
            <a:ext cx="128016" cy="128016"/>
          </a:xfrm>
          <a:prstGeom prst="ellipse">
            <a:avLst/>
          </a:prstGeom>
          <a:solidFill>
            <a:srgbClr val="D89E46"/>
          </a:solidFill>
          <a:ln w="12700">
            <a:solidFill>
              <a:srgbClr val="D89E46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01384" y="2240280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02552" y="2240280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02552" y="2240280"/>
            <a:ext cx="128016" cy="128016"/>
          </a:xfrm>
          <a:prstGeom prst="ellipse">
            <a:avLst/>
          </a:prstGeom>
          <a:solidFill>
            <a:srgbClr val="FFFDF9"/>
          </a:solidFill>
          <a:ln w="12700">
            <a:solidFill>
              <a:srgbClr val="D6D0C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16368" y="2240280"/>
            <a:ext cx="128016" cy="128016"/>
          </a:xfrm>
          <a:prstGeom prst="ellipse">
            <a:avLst/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17536" y="2240280"/>
            <a:ext cx="128016" cy="128016"/>
          </a:xfrm>
          <a:prstGeom prst="ellipse">
            <a:avLst/>
          </a:prstGeom>
          <a:solidFill>
            <a:srgbClr val="D89E46"/>
          </a:solidFill>
          <a:ln w="12700">
            <a:solidFill>
              <a:srgbClr val="D89E46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18704" y="2240280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22792" y="214884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欄位對不齊、缺資料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0158984" y="2167128"/>
            <a:ext cx="438912" cy="246888"/>
          </a:xfrm>
          <a:prstGeom prst="roundRect">
            <a:avLst>
              <a:gd name="adj" fmla="val 44444"/>
            </a:avLst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158984" y="217627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49808" y="2560320"/>
            <a:ext cx="1216152" cy="493776"/>
          </a:xfrm>
          <a:prstGeom prst="rect">
            <a:avLst/>
          </a:prstGeom>
          <a:solidFill>
            <a:srgbClr val="FBFAF7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65960" y="2560320"/>
            <a:ext cx="1280160" cy="493776"/>
          </a:xfrm>
          <a:prstGeom prst="rect">
            <a:avLst/>
          </a:prstGeom>
          <a:solidFill>
            <a:srgbClr val="FBFAF7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46120" y="2560320"/>
            <a:ext cx="1417320" cy="493776"/>
          </a:xfrm>
          <a:prstGeom prst="rect">
            <a:avLst/>
          </a:prstGeom>
          <a:solidFill>
            <a:srgbClr val="FBFAF7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63440" y="2560320"/>
            <a:ext cx="1325880" cy="493776"/>
          </a:xfrm>
          <a:prstGeom prst="rect">
            <a:avLst/>
          </a:prstGeom>
          <a:solidFill>
            <a:srgbClr val="FBFAF7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89320" y="2560320"/>
            <a:ext cx="1216152" cy="493776"/>
          </a:xfrm>
          <a:prstGeom prst="rect">
            <a:avLst/>
          </a:prstGeom>
          <a:solidFill>
            <a:srgbClr val="FBFAF7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205472" y="2560320"/>
            <a:ext cx="1344168" cy="493776"/>
          </a:xfrm>
          <a:prstGeom prst="rect">
            <a:avLst/>
          </a:prstGeom>
          <a:solidFill>
            <a:srgbClr val="FBFAF7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549640" y="2560320"/>
            <a:ext cx="1280160" cy="493776"/>
          </a:xfrm>
          <a:prstGeom prst="rect">
            <a:avLst/>
          </a:prstGeom>
          <a:solidFill>
            <a:srgbClr val="FBFAF7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829800" y="2560320"/>
            <a:ext cx="1097280" cy="493776"/>
          </a:xfrm>
          <a:prstGeom prst="rect">
            <a:avLst/>
          </a:prstGeom>
          <a:solidFill>
            <a:srgbClr val="FBFAF7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2960" y="2715768"/>
            <a:ext cx="1069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資料準備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2039112" y="267919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 KPI 口徑</a:t>
            </a:r>
            <a:endParaRPr lang="en-US" sz="1020" dirty="0"/>
          </a:p>
        </p:txBody>
      </p:sp>
      <p:sp>
        <p:nvSpPr>
          <p:cNvPr id="63" name="Shape 61"/>
          <p:cNvSpPr/>
          <p:nvPr/>
        </p:nvSpPr>
        <p:spPr>
          <a:xfrm>
            <a:off x="3557016" y="2752344"/>
            <a:ext cx="128016" cy="128016"/>
          </a:xfrm>
          <a:prstGeom prst="ellipse">
            <a:avLst/>
          </a:prstGeom>
          <a:solidFill>
            <a:srgbClr val="D89E46"/>
          </a:solidFill>
          <a:ln w="12700">
            <a:solidFill>
              <a:srgbClr val="D89E46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758184" y="2752344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959352" y="2752344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959352" y="2752344"/>
            <a:ext cx="128016" cy="128016"/>
          </a:xfrm>
          <a:prstGeom prst="ellipse">
            <a:avLst/>
          </a:prstGeom>
          <a:solidFill>
            <a:srgbClr val="FBFAF7"/>
          </a:solidFill>
          <a:ln w="12700">
            <a:solidFill>
              <a:srgbClr val="D6D0C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974336" y="2752344"/>
            <a:ext cx="128016" cy="128016"/>
          </a:xfrm>
          <a:prstGeom prst="ellipse">
            <a:avLst/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175504" y="2752344"/>
            <a:ext cx="128016" cy="128016"/>
          </a:xfrm>
          <a:prstGeom prst="ellipse">
            <a:avLst/>
          </a:prstGeom>
          <a:solidFill>
            <a:srgbClr val="D89E46"/>
          </a:solidFill>
          <a:ln w="12700">
            <a:solidFill>
              <a:srgbClr val="D89E46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376672" y="2752344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00216" y="2752344"/>
            <a:ext cx="128016" cy="128016"/>
          </a:xfrm>
          <a:prstGeom prst="ellipse">
            <a:avLst/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501384" y="2752344"/>
            <a:ext cx="128016" cy="128016"/>
          </a:xfrm>
          <a:prstGeom prst="ellipse">
            <a:avLst/>
          </a:prstGeom>
          <a:solidFill>
            <a:srgbClr val="D89E46"/>
          </a:solidFill>
          <a:ln w="12700">
            <a:solidFill>
              <a:srgbClr val="D89E46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702552" y="2752344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16368" y="2752344"/>
            <a:ext cx="128016" cy="128016"/>
          </a:xfrm>
          <a:prstGeom prst="ellipse">
            <a:avLst/>
          </a:prstGeom>
          <a:solidFill>
            <a:srgbClr val="D89E46"/>
          </a:solidFill>
          <a:ln w="12700">
            <a:solidFill>
              <a:srgbClr val="D89E46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717536" y="2752344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918704" y="2752344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918704" y="2752344"/>
            <a:ext cx="128016" cy="128016"/>
          </a:xfrm>
          <a:prstGeom prst="ellipse">
            <a:avLst/>
          </a:prstGeom>
          <a:solidFill>
            <a:srgbClr val="FBFAF7"/>
          </a:solidFill>
          <a:ln w="12700">
            <a:solidFill>
              <a:srgbClr val="D6D0C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622792" y="266090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同名指標不同算法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0158984" y="2679192"/>
            <a:ext cx="438912" cy="246888"/>
          </a:xfrm>
          <a:prstGeom prst="roundRect">
            <a:avLst>
              <a:gd name="adj" fmla="val 44444"/>
            </a:avLst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158984" y="268833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749808" y="3072384"/>
            <a:ext cx="1216152" cy="493776"/>
          </a:xfrm>
          <a:prstGeom prst="rect">
            <a:avLst/>
          </a:prstGeom>
          <a:solidFill>
            <a:srgbClr val="FFFDF9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965960" y="3072384"/>
            <a:ext cx="1280160" cy="493776"/>
          </a:xfrm>
          <a:prstGeom prst="rect">
            <a:avLst/>
          </a:prstGeom>
          <a:solidFill>
            <a:srgbClr val="FFFDF9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46120" y="3072384"/>
            <a:ext cx="1417320" cy="493776"/>
          </a:xfrm>
          <a:prstGeom prst="rect">
            <a:avLst/>
          </a:prstGeom>
          <a:solidFill>
            <a:srgbClr val="FFFDF9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663440" y="3072384"/>
            <a:ext cx="1325880" cy="493776"/>
          </a:xfrm>
          <a:prstGeom prst="rect">
            <a:avLst/>
          </a:prstGeom>
          <a:solidFill>
            <a:srgbClr val="FFFDF9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989320" y="3072384"/>
            <a:ext cx="1216152" cy="493776"/>
          </a:xfrm>
          <a:prstGeom prst="rect">
            <a:avLst/>
          </a:prstGeom>
          <a:solidFill>
            <a:srgbClr val="FFFDF9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205472" y="3072384"/>
            <a:ext cx="1344168" cy="493776"/>
          </a:xfrm>
          <a:prstGeom prst="rect">
            <a:avLst/>
          </a:prstGeom>
          <a:solidFill>
            <a:srgbClr val="FFFDF9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549640" y="3072384"/>
            <a:ext cx="1280160" cy="493776"/>
          </a:xfrm>
          <a:prstGeom prst="rect">
            <a:avLst/>
          </a:prstGeom>
          <a:solidFill>
            <a:srgbClr val="FFFDF9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829800" y="3072384"/>
            <a:ext cx="1097280" cy="493776"/>
          </a:xfrm>
          <a:prstGeom prst="rect">
            <a:avLst/>
          </a:prstGeom>
          <a:solidFill>
            <a:srgbClr val="FFFDF9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2960" y="3227832"/>
            <a:ext cx="1069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洞察生成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2039112" y="3191256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異常偵測與摘要</a:t>
            </a:r>
            <a:endParaRPr lang="en-US" sz="1020" dirty="0"/>
          </a:p>
        </p:txBody>
      </p:sp>
      <p:sp>
        <p:nvSpPr>
          <p:cNvPr id="90" name="Shape 88"/>
          <p:cNvSpPr/>
          <p:nvPr/>
        </p:nvSpPr>
        <p:spPr>
          <a:xfrm>
            <a:off x="3557016" y="3264408"/>
            <a:ext cx="128016" cy="128016"/>
          </a:xfrm>
          <a:prstGeom prst="ellipse">
            <a:avLst/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758184" y="3264408"/>
            <a:ext cx="128016" cy="128016"/>
          </a:xfrm>
          <a:prstGeom prst="ellipse">
            <a:avLst/>
          </a:prstGeom>
          <a:solidFill>
            <a:srgbClr val="D89E46"/>
          </a:solidFill>
          <a:ln w="12700">
            <a:solidFill>
              <a:srgbClr val="D89E46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959352" y="3264408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974336" y="3264408"/>
            <a:ext cx="128016" cy="128016"/>
          </a:xfrm>
          <a:prstGeom prst="ellipse">
            <a:avLst/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175504" y="3264408"/>
            <a:ext cx="128016" cy="128016"/>
          </a:xfrm>
          <a:prstGeom prst="ellipse">
            <a:avLst/>
          </a:prstGeom>
          <a:solidFill>
            <a:srgbClr val="D89E46"/>
          </a:solidFill>
          <a:ln w="12700">
            <a:solidFill>
              <a:srgbClr val="D89E46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376672" y="3264408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00216" y="3264408"/>
            <a:ext cx="128016" cy="128016"/>
          </a:xfrm>
          <a:prstGeom prst="ellipse">
            <a:avLst/>
          </a:prstGeom>
          <a:solidFill>
            <a:srgbClr val="D89E46"/>
          </a:solidFill>
          <a:ln w="12700">
            <a:solidFill>
              <a:srgbClr val="D89E46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501384" y="3264408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02552" y="3264408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702552" y="3264408"/>
            <a:ext cx="128016" cy="128016"/>
          </a:xfrm>
          <a:prstGeom prst="ellipse">
            <a:avLst/>
          </a:prstGeom>
          <a:solidFill>
            <a:srgbClr val="FFFDF9"/>
          </a:solidFill>
          <a:ln w="12700">
            <a:solidFill>
              <a:srgbClr val="D6D0C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516368" y="3264408"/>
            <a:ext cx="128016" cy="128016"/>
          </a:xfrm>
          <a:prstGeom prst="ellipse">
            <a:avLst/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717536" y="3264408"/>
            <a:ext cx="128016" cy="128016"/>
          </a:xfrm>
          <a:prstGeom prst="ellipse">
            <a:avLst/>
          </a:prstGeom>
          <a:solidFill>
            <a:srgbClr val="D89E46"/>
          </a:solidFill>
          <a:ln w="12700">
            <a:solidFill>
              <a:srgbClr val="D89E46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918704" y="3264408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622792" y="317296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靠人工掃表、遺漏訊號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10158984" y="3191256"/>
            <a:ext cx="438912" cy="246888"/>
          </a:xfrm>
          <a:prstGeom prst="roundRect">
            <a:avLst>
              <a:gd name="adj" fmla="val 44444"/>
            </a:avLst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0158984" y="3200400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749808" y="3584448"/>
            <a:ext cx="1216152" cy="493776"/>
          </a:xfrm>
          <a:prstGeom prst="rect">
            <a:avLst/>
          </a:prstGeom>
          <a:solidFill>
            <a:srgbClr val="FBFAF7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965960" y="3584448"/>
            <a:ext cx="1280160" cy="493776"/>
          </a:xfrm>
          <a:prstGeom prst="rect">
            <a:avLst/>
          </a:prstGeom>
          <a:solidFill>
            <a:srgbClr val="FBFAF7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246120" y="3584448"/>
            <a:ext cx="1417320" cy="493776"/>
          </a:xfrm>
          <a:prstGeom prst="rect">
            <a:avLst/>
          </a:prstGeom>
          <a:solidFill>
            <a:srgbClr val="FBFAF7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663440" y="3584448"/>
            <a:ext cx="1325880" cy="493776"/>
          </a:xfrm>
          <a:prstGeom prst="rect">
            <a:avLst/>
          </a:prstGeom>
          <a:solidFill>
            <a:srgbClr val="FBFAF7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989320" y="3584448"/>
            <a:ext cx="1216152" cy="493776"/>
          </a:xfrm>
          <a:prstGeom prst="rect">
            <a:avLst/>
          </a:prstGeom>
          <a:solidFill>
            <a:srgbClr val="FBFAF7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205472" y="3584448"/>
            <a:ext cx="1344168" cy="493776"/>
          </a:xfrm>
          <a:prstGeom prst="rect">
            <a:avLst/>
          </a:prstGeom>
          <a:solidFill>
            <a:srgbClr val="FBFAF7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549640" y="3584448"/>
            <a:ext cx="1280160" cy="493776"/>
          </a:xfrm>
          <a:prstGeom prst="rect">
            <a:avLst/>
          </a:prstGeom>
          <a:solidFill>
            <a:srgbClr val="FBFAF7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829800" y="3584448"/>
            <a:ext cx="1097280" cy="493776"/>
          </a:xfrm>
          <a:prstGeom prst="rect">
            <a:avLst/>
          </a:prstGeom>
          <a:solidFill>
            <a:srgbClr val="FBFAF7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22960" y="3739896"/>
            <a:ext cx="1069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洞察生成</a:t>
            </a:r>
            <a:endParaRPr lang="en-US" sz="1050" dirty="0"/>
          </a:p>
        </p:txBody>
      </p:sp>
      <p:sp>
        <p:nvSpPr>
          <p:cNvPr id="115" name="Text 113"/>
          <p:cNvSpPr/>
          <p:nvPr/>
        </p:nvSpPr>
        <p:spPr>
          <a:xfrm>
            <a:off x="2039112" y="3703320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撰寫解讀段落</a:t>
            </a:r>
            <a:endParaRPr lang="en-US" sz="1020" dirty="0"/>
          </a:p>
        </p:txBody>
      </p:sp>
      <p:sp>
        <p:nvSpPr>
          <p:cNvPr id="116" name="Shape 114"/>
          <p:cNvSpPr/>
          <p:nvPr/>
        </p:nvSpPr>
        <p:spPr>
          <a:xfrm>
            <a:off x="3557016" y="3776472"/>
            <a:ext cx="128016" cy="128016"/>
          </a:xfrm>
          <a:prstGeom prst="ellipse">
            <a:avLst/>
          </a:prstGeom>
          <a:solidFill>
            <a:srgbClr val="D89E46"/>
          </a:solidFill>
          <a:ln w="12700">
            <a:solidFill>
              <a:srgbClr val="D89E46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758184" y="3776472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959352" y="3776472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959352" y="3776472"/>
            <a:ext cx="128016" cy="128016"/>
          </a:xfrm>
          <a:prstGeom prst="ellipse">
            <a:avLst/>
          </a:prstGeom>
          <a:solidFill>
            <a:srgbClr val="FBFAF7"/>
          </a:solidFill>
          <a:ln w="12700">
            <a:solidFill>
              <a:srgbClr val="D6D0C4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974336" y="3776472"/>
            <a:ext cx="128016" cy="128016"/>
          </a:xfrm>
          <a:prstGeom prst="ellipse">
            <a:avLst/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175504" y="3776472"/>
            <a:ext cx="128016" cy="128016"/>
          </a:xfrm>
          <a:prstGeom prst="ellipse">
            <a:avLst/>
          </a:prstGeom>
          <a:solidFill>
            <a:srgbClr val="D89E46"/>
          </a:solidFill>
          <a:ln w="12700">
            <a:solidFill>
              <a:srgbClr val="D89E46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376672" y="3776472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300216" y="3776472"/>
            <a:ext cx="128016" cy="128016"/>
          </a:xfrm>
          <a:prstGeom prst="ellipse">
            <a:avLst/>
          </a:prstGeom>
          <a:solidFill>
            <a:srgbClr val="D89E46"/>
          </a:solidFill>
          <a:ln w="12700">
            <a:solidFill>
              <a:srgbClr val="D89E46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501384" y="3776472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702552" y="3776472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702552" y="3776472"/>
            <a:ext cx="128016" cy="128016"/>
          </a:xfrm>
          <a:prstGeom prst="ellipse">
            <a:avLst/>
          </a:prstGeom>
          <a:solidFill>
            <a:srgbClr val="FBFAF7"/>
          </a:solidFill>
          <a:ln w="12700">
            <a:solidFill>
              <a:srgbClr val="D6D0C4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516368" y="3776472"/>
            <a:ext cx="128016" cy="128016"/>
          </a:xfrm>
          <a:prstGeom prst="ellipse">
            <a:avLst/>
          </a:prstGeom>
          <a:solidFill>
            <a:srgbClr val="D89E46"/>
          </a:solidFill>
          <a:ln w="12700">
            <a:solidFill>
              <a:srgbClr val="D89E4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717536" y="3776472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918704" y="3776472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918704" y="3776472"/>
            <a:ext cx="128016" cy="128016"/>
          </a:xfrm>
          <a:prstGeom prst="ellipse">
            <a:avLst/>
          </a:prstGeom>
          <a:solidFill>
            <a:srgbClr val="FBFAF7"/>
          </a:solidFill>
          <a:ln w="12700">
            <a:solidFill>
              <a:srgbClr val="D6D0C4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622792" y="3685032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文字品質靠個人經驗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10158984" y="3703320"/>
            <a:ext cx="438912" cy="246888"/>
          </a:xfrm>
          <a:prstGeom prst="roundRect">
            <a:avLst>
              <a:gd name="adj" fmla="val 44444"/>
            </a:avLst>
          </a:prstGeom>
          <a:solidFill>
            <a:srgbClr val="D89E46"/>
          </a:solidFill>
          <a:ln w="12700">
            <a:solidFill>
              <a:srgbClr val="D89E46">
                <a:alpha val="0"/>
              </a:srgbClr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0158984" y="3712464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749808" y="4096512"/>
            <a:ext cx="1216152" cy="493776"/>
          </a:xfrm>
          <a:prstGeom prst="rect">
            <a:avLst/>
          </a:prstGeom>
          <a:solidFill>
            <a:srgbClr val="FFFDF9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965960" y="4096512"/>
            <a:ext cx="1280160" cy="493776"/>
          </a:xfrm>
          <a:prstGeom prst="rect">
            <a:avLst/>
          </a:prstGeom>
          <a:solidFill>
            <a:srgbClr val="FFFDF9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246120" y="4096512"/>
            <a:ext cx="1417320" cy="493776"/>
          </a:xfrm>
          <a:prstGeom prst="rect">
            <a:avLst/>
          </a:prstGeom>
          <a:solidFill>
            <a:srgbClr val="FFFDF9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663440" y="4096512"/>
            <a:ext cx="1325880" cy="493776"/>
          </a:xfrm>
          <a:prstGeom prst="rect">
            <a:avLst/>
          </a:prstGeom>
          <a:solidFill>
            <a:srgbClr val="FFFDF9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989320" y="4096512"/>
            <a:ext cx="1216152" cy="493776"/>
          </a:xfrm>
          <a:prstGeom prst="rect">
            <a:avLst/>
          </a:prstGeom>
          <a:solidFill>
            <a:srgbClr val="FFFDF9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205472" y="4096512"/>
            <a:ext cx="1344168" cy="493776"/>
          </a:xfrm>
          <a:prstGeom prst="rect">
            <a:avLst/>
          </a:prstGeom>
          <a:solidFill>
            <a:srgbClr val="FFFDF9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549640" y="4096512"/>
            <a:ext cx="1280160" cy="493776"/>
          </a:xfrm>
          <a:prstGeom prst="rect">
            <a:avLst/>
          </a:prstGeom>
          <a:solidFill>
            <a:srgbClr val="FFFDF9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829800" y="4096512"/>
            <a:ext cx="1097280" cy="493776"/>
          </a:xfrm>
          <a:prstGeom prst="rect">
            <a:avLst/>
          </a:prstGeom>
          <a:solidFill>
            <a:srgbClr val="FFFDF9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22960" y="4251960"/>
            <a:ext cx="1069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審核交付</a:t>
            </a:r>
            <a:endParaRPr lang="en-US" sz="1050" dirty="0"/>
          </a:p>
        </p:txBody>
      </p:sp>
      <p:sp>
        <p:nvSpPr>
          <p:cNvPr id="143" name="Text 141"/>
          <p:cNvSpPr/>
          <p:nvPr/>
        </p:nvSpPr>
        <p:spPr>
          <a:xfrm>
            <a:off x="2039112" y="421538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主管修訂 / 定稿</a:t>
            </a:r>
            <a:endParaRPr lang="en-US" sz="1020" dirty="0"/>
          </a:p>
        </p:txBody>
      </p:sp>
      <p:sp>
        <p:nvSpPr>
          <p:cNvPr id="144" name="Shape 142"/>
          <p:cNvSpPr/>
          <p:nvPr/>
        </p:nvSpPr>
        <p:spPr>
          <a:xfrm>
            <a:off x="3557016" y="4288536"/>
            <a:ext cx="128016" cy="128016"/>
          </a:xfrm>
          <a:prstGeom prst="ellipse">
            <a:avLst/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758184" y="4288536"/>
            <a:ext cx="128016" cy="128016"/>
          </a:xfrm>
          <a:prstGeom prst="ellipse">
            <a:avLst/>
          </a:prstGeom>
          <a:solidFill>
            <a:srgbClr val="D89E46"/>
          </a:solidFill>
          <a:ln w="12700">
            <a:solidFill>
              <a:srgbClr val="D89E46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959352" y="4288536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974336" y="4288536"/>
            <a:ext cx="128016" cy="128016"/>
          </a:xfrm>
          <a:prstGeom prst="ellipse">
            <a:avLst/>
          </a:prstGeom>
          <a:solidFill>
            <a:srgbClr val="D89E46"/>
          </a:solidFill>
          <a:ln w="12700">
            <a:solidFill>
              <a:srgbClr val="D89E46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175504" y="4288536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376672" y="4288536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376672" y="4288536"/>
            <a:ext cx="128016" cy="128016"/>
          </a:xfrm>
          <a:prstGeom prst="ellipse">
            <a:avLst/>
          </a:prstGeom>
          <a:solidFill>
            <a:srgbClr val="FFFDF9"/>
          </a:solidFill>
          <a:ln w="12700">
            <a:solidFill>
              <a:srgbClr val="D6D0C4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300216" y="4288536"/>
            <a:ext cx="128016" cy="128016"/>
          </a:xfrm>
          <a:prstGeom prst="ellipse">
            <a:avLst/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501384" y="4288536"/>
            <a:ext cx="128016" cy="128016"/>
          </a:xfrm>
          <a:prstGeom prst="ellipse">
            <a:avLst/>
          </a:prstGeom>
          <a:solidFill>
            <a:srgbClr val="D89E46"/>
          </a:solidFill>
          <a:ln w="12700">
            <a:solidFill>
              <a:srgbClr val="D89E46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702552" y="4288536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516368" y="4288536"/>
            <a:ext cx="128016" cy="128016"/>
          </a:xfrm>
          <a:prstGeom prst="ellipse">
            <a:avLst/>
          </a:prstGeom>
          <a:solidFill>
            <a:srgbClr val="D89E46"/>
          </a:solidFill>
          <a:ln w="12700">
            <a:solidFill>
              <a:srgbClr val="D89E46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717536" y="4288536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918704" y="4288536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918704" y="4288536"/>
            <a:ext cx="128016" cy="128016"/>
          </a:xfrm>
          <a:prstGeom prst="ellipse">
            <a:avLst/>
          </a:prstGeom>
          <a:solidFill>
            <a:srgbClr val="FFFDF9"/>
          </a:solidFill>
          <a:ln w="12700">
            <a:solidFill>
              <a:srgbClr val="D6D0C4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8622792" y="4197096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版本來回、缺審核紀錄</a:t>
            </a:r>
            <a:endParaRPr lang="en-US" sz="1000" dirty="0"/>
          </a:p>
        </p:txBody>
      </p:sp>
      <p:sp>
        <p:nvSpPr>
          <p:cNvPr id="159" name="Shape 157"/>
          <p:cNvSpPr/>
          <p:nvPr/>
        </p:nvSpPr>
        <p:spPr>
          <a:xfrm>
            <a:off x="10158984" y="4215384"/>
            <a:ext cx="438912" cy="246888"/>
          </a:xfrm>
          <a:prstGeom prst="roundRect">
            <a:avLst>
              <a:gd name="adj" fmla="val 44444"/>
            </a:avLst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0158984" y="422452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950" dirty="0"/>
          </a:p>
        </p:txBody>
      </p:sp>
      <p:sp>
        <p:nvSpPr>
          <p:cNvPr id="161" name="Shape 159"/>
          <p:cNvSpPr/>
          <p:nvPr/>
        </p:nvSpPr>
        <p:spPr>
          <a:xfrm>
            <a:off x="749808" y="4608576"/>
            <a:ext cx="1216152" cy="493776"/>
          </a:xfrm>
          <a:prstGeom prst="rect">
            <a:avLst/>
          </a:prstGeom>
          <a:solidFill>
            <a:srgbClr val="FBFAF7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965960" y="4608576"/>
            <a:ext cx="1280160" cy="493776"/>
          </a:xfrm>
          <a:prstGeom prst="rect">
            <a:avLst/>
          </a:prstGeom>
          <a:solidFill>
            <a:srgbClr val="FBFAF7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3246120" y="4608576"/>
            <a:ext cx="1417320" cy="493776"/>
          </a:xfrm>
          <a:prstGeom prst="rect">
            <a:avLst/>
          </a:prstGeom>
          <a:solidFill>
            <a:srgbClr val="FBFAF7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4663440" y="4608576"/>
            <a:ext cx="1325880" cy="493776"/>
          </a:xfrm>
          <a:prstGeom prst="rect">
            <a:avLst/>
          </a:prstGeom>
          <a:solidFill>
            <a:srgbClr val="FBFAF7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989320" y="4608576"/>
            <a:ext cx="1216152" cy="493776"/>
          </a:xfrm>
          <a:prstGeom prst="rect">
            <a:avLst/>
          </a:prstGeom>
          <a:solidFill>
            <a:srgbClr val="FBFAF7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205472" y="4608576"/>
            <a:ext cx="1344168" cy="493776"/>
          </a:xfrm>
          <a:prstGeom prst="rect">
            <a:avLst/>
          </a:prstGeom>
          <a:solidFill>
            <a:srgbClr val="FBFAF7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549640" y="4608576"/>
            <a:ext cx="1280160" cy="493776"/>
          </a:xfrm>
          <a:prstGeom prst="rect">
            <a:avLst/>
          </a:prstGeom>
          <a:solidFill>
            <a:srgbClr val="FBFAF7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9829800" y="4608576"/>
            <a:ext cx="1097280" cy="493776"/>
          </a:xfrm>
          <a:prstGeom prst="rect">
            <a:avLst/>
          </a:prstGeom>
          <a:solidFill>
            <a:srgbClr val="FBFAF7"/>
          </a:solidFill>
          <a:ln w="10160">
            <a:solidFill>
              <a:srgbClr val="D6D0C4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822960" y="4764024"/>
            <a:ext cx="1069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審核交付</a:t>
            </a:r>
            <a:endParaRPr lang="en-US" sz="1050" dirty="0"/>
          </a:p>
        </p:txBody>
      </p:sp>
      <p:sp>
        <p:nvSpPr>
          <p:cNvPr id="170" name="Text 168"/>
          <p:cNvSpPr/>
          <p:nvPr/>
        </p:nvSpPr>
        <p:spPr>
          <a:xfrm>
            <a:off x="2039112" y="4727448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發送 / 留存 / 回查</a:t>
            </a:r>
            <a:endParaRPr lang="en-US" sz="1020" dirty="0"/>
          </a:p>
        </p:txBody>
      </p:sp>
      <p:sp>
        <p:nvSpPr>
          <p:cNvPr id="171" name="Shape 169"/>
          <p:cNvSpPr/>
          <p:nvPr/>
        </p:nvSpPr>
        <p:spPr>
          <a:xfrm>
            <a:off x="3557016" y="4800600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3758184" y="4800600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3959352" y="4800600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3758184" y="4800600"/>
            <a:ext cx="128016" cy="128016"/>
          </a:xfrm>
          <a:prstGeom prst="ellipse">
            <a:avLst/>
          </a:prstGeom>
          <a:solidFill>
            <a:srgbClr val="FBFAF7"/>
          </a:solidFill>
          <a:ln w="12700">
            <a:solidFill>
              <a:srgbClr val="D6D0C4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3959352" y="4800600"/>
            <a:ext cx="128016" cy="128016"/>
          </a:xfrm>
          <a:prstGeom prst="ellipse">
            <a:avLst/>
          </a:prstGeom>
          <a:solidFill>
            <a:srgbClr val="FBFAF7"/>
          </a:solidFill>
          <a:ln w="12700">
            <a:solidFill>
              <a:srgbClr val="D6D0C4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4974336" y="4800600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175504" y="4800600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5376672" y="4800600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5175504" y="4800600"/>
            <a:ext cx="128016" cy="128016"/>
          </a:xfrm>
          <a:prstGeom prst="ellipse">
            <a:avLst/>
          </a:prstGeom>
          <a:solidFill>
            <a:srgbClr val="FBFAF7"/>
          </a:solidFill>
          <a:ln w="12700">
            <a:solidFill>
              <a:srgbClr val="D6D0C4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5376672" y="4800600"/>
            <a:ext cx="128016" cy="128016"/>
          </a:xfrm>
          <a:prstGeom prst="ellipse">
            <a:avLst/>
          </a:prstGeom>
          <a:solidFill>
            <a:srgbClr val="FBFAF7"/>
          </a:solidFill>
          <a:ln w="12700">
            <a:solidFill>
              <a:srgbClr val="D6D0C4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300216" y="4800600"/>
            <a:ext cx="128016" cy="128016"/>
          </a:xfrm>
          <a:prstGeom prst="ellipse">
            <a:avLst/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501384" y="4800600"/>
            <a:ext cx="128016" cy="128016"/>
          </a:xfrm>
          <a:prstGeom prst="ellipse">
            <a:avLst/>
          </a:prstGeom>
          <a:solidFill>
            <a:srgbClr val="D89E46"/>
          </a:solidFill>
          <a:ln w="12700">
            <a:solidFill>
              <a:srgbClr val="D89E46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702552" y="4800600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516368" y="4800600"/>
            <a:ext cx="128016" cy="128016"/>
          </a:xfrm>
          <a:prstGeom prst="ellipse">
            <a:avLst/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717536" y="4800600"/>
            <a:ext cx="128016" cy="128016"/>
          </a:xfrm>
          <a:prstGeom prst="ellipse">
            <a:avLst/>
          </a:prstGeom>
          <a:solidFill>
            <a:srgbClr val="D89E46"/>
          </a:solidFill>
          <a:ln w="12700">
            <a:solidFill>
              <a:srgbClr val="D89E46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918704" y="4800600"/>
            <a:ext cx="128016" cy="128016"/>
          </a:xfrm>
          <a:prstGeom prst="ellipse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8622792" y="470916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事後難追來源</a:t>
            </a:r>
            <a:endParaRPr lang="en-US" sz="1000" dirty="0"/>
          </a:p>
        </p:txBody>
      </p:sp>
      <p:sp>
        <p:nvSpPr>
          <p:cNvPr id="188" name="Shape 186"/>
          <p:cNvSpPr/>
          <p:nvPr/>
        </p:nvSpPr>
        <p:spPr>
          <a:xfrm>
            <a:off x="10158984" y="4727448"/>
            <a:ext cx="438912" cy="246888"/>
          </a:xfrm>
          <a:prstGeom prst="roundRect">
            <a:avLst>
              <a:gd name="adj" fmla="val 44444"/>
            </a:avLst>
          </a:prstGeom>
          <a:solidFill>
            <a:srgbClr val="D89E46"/>
          </a:solidFill>
          <a:ln w="12700">
            <a:solidFill>
              <a:srgbClr val="D89E46">
                <a:alpha val="0"/>
              </a:srgbClr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10158984" y="473659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950" dirty="0"/>
          </a:p>
        </p:txBody>
      </p:sp>
      <p:sp>
        <p:nvSpPr>
          <p:cNvPr id="190" name="Shape 188"/>
          <p:cNvSpPr/>
          <p:nvPr/>
        </p:nvSpPr>
        <p:spPr>
          <a:xfrm>
            <a:off x="749808" y="5074920"/>
            <a:ext cx="5623560" cy="91440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191" name="Shape 189"/>
          <p:cNvSpPr/>
          <p:nvPr/>
        </p:nvSpPr>
        <p:spPr>
          <a:xfrm>
            <a:off x="749808" y="5074920"/>
            <a:ext cx="5623560" cy="20116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877824" y="5093208"/>
            <a:ext cx="5367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熱區解讀</a:t>
            </a:r>
            <a:endParaRPr lang="en-US" sz="1150" dirty="0"/>
          </a:p>
        </p:txBody>
      </p:sp>
      <p:sp>
        <p:nvSpPr>
          <p:cNvPr id="193" name="Text 191"/>
          <p:cNvSpPr/>
          <p:nvPr/>
        </p:nvSpPr>
        <p:spPr>
          <a:xfrm>
            <a:off x="914400" y="5376672"/>
            <a:ext cx="5230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級熱區都出現在「資料定義不明」或「需要人工判讀」的環節。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若先把來源、口徑、輸出格式標準化，後續 AI 介入成功率會大幅提升。</a:t>
            </a:r>
            <a:endParaRPr lang="en-US" sz="1200" dirty="0"/>
          </a:p>
        </p:txBody>
      </p:sp>
      <p:sp>
        <p:nvSpPr>
          <p:cNvPr id="194" name="Shape 192"/>
          <p:cNvSpPr/>
          <p:nvPr/>
        </p:nvSpPr>
        <p:spPr>
          <a:xfrm>
            <a:off x="6565392" y="507492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195" name="Shape 193"/>
          <p:cNvSpPr/>
          <p:nvPr/>
        </p:nvSpPr>
        <p:spPr>
          <a:xfrm>
            <a:off x="6565392" y="5074920"/>
            <a:ext cx="4892040" cy="201168"/>
          </a:xfrm>
          <a:prstGeom prst="rect">
            <a:avLst/>
          </a:prstGeom>
          <a:solidFill>
            <a:srgbClr val="B9904F"/>
          </a:solidFill>
          <a:ln w="12700">
            <a:solidFill>
              <a:srgbClr val="B9904F">
                <a:alpha val="0"/>
              </a:srgbClr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6693408" y="5093208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判斷結論</a:t>
            </a:r>
            <a:endParaRPr lang="en-US" sz="1150" dirty="0"/>
          </a:p>
        </p:txBody>
      </p:sp>
      <p:sp>
        <p:nvSpPr>
          <p:cNvPr id="197" name="Text 195"/>
          <p:cNvSpPr/>
          <p:nvPr/>
        </p:nvSpPr>
        <p:spPr>
          <a:xfrm>
            <a:off x="6729984" y="5376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優先切入：資料對齊、異常摘要、可追溯初稿。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暫不切入：完全自動決策、無人工覆核之對外發布。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108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5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ROOT CAUSE TO OPPORTUNITY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根因分析：從痛點走到 AI 設計機會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923544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8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不是每個痛點都要用模型解；先辨識根因，才能知道該做資料治理、AI 輔助，還是流程重設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10835640" cy="0"/>
          </a:xfrm>
          <a:prstGeom prst="line">
            <a:avLst/>
          </a:prstGeom>
          <a:noFill/>
          <a:ln w="12700">
            <a:solidFill>
              <a:srgbClr val="D6D0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420624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155680" y="4297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6384" y="1783080"/>
            <a:ext cx="1627632" cy="1417320"/>
          </a:xfrm>
          <a:prstGeom prst="roundRect">
            <a:avLst>
              <a:gd name="adj" fmla="val 5161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05256" y="199339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來源分散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896112" y="2313432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檔案、郵件、紀要分落各處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2761488" y="1783080"/>
            <a:ext cx="1627632" cy="1417320"/>
          </a:xfrm>
          <a:prstGeom prst="roundRect">
            <a:avLst>
              <a:gd name="adj" fmla="val 5161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80360" y="199339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規則未外顯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2871216" y="2313432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口徑與判讀準則隱含在資深同仁經驗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4736592" y="1783080"/>
            <a:ext cx="1627632" cy="1417320"/>
          </a:xfrm>
          <a:prstGeom prst="roundRect">
            <a:avLst>
              <a:gd name="adj" fmla="val 5161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55464" y="199339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輸出未標準化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4846320" y="2313432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不同主管、不同場合需要不同說法與格式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711696" y="1783080"/>
            <a:ext cx="1627632" cy="1417320"/>
          </a:xfrm>
          <a:prstGeom prst="roundRect">
            <a:avLst>
              <a:gd name="adj" fmla="val 5161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30568" y="199339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版本治理不足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6821424" y="2313432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誰改了什麼、依據何在，難留下軌跡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8686800" y="1783080"/>
            <a:ext cx="1627632" cy="1417320"/>
          </a:xfrm>
          <a:prstGeom prst="roundRect">
            <a:avLst>
              <a:gd name="adj" fmla="val 5161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805672" y="199339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回饋未閉環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8796528" y="2313432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每週修正沒有沉澱成新規則與知識庫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1234440" y="4096512"/>
            <a:ext cx="2029968" cy="1307592"/>
          </a:xfrm>
          <a:prstGeom prst="roundRect">
            <a:avLst>
              <a:gd name="adj" fmla="val 5594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234440" y="4096512"/>
            <a:ext cx="2029968" cy="20116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62456" y="4114800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統一輸入層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380744" y="44622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資料連接器、欄位映射、權限與版本管理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3794760" y="4096512"/>
            <a:ext cx="2029968" cy="1307592"/>
          </a:xfrm>
          <a:prstGeom prst="roundRect">
            <a:avLst>
              <a:gd name="adj" fmla="val 5594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794760" y="4096512"/>
            <a:ext cx="2029968" cy="201168"/>
          </a:xfrm>
          <a:prstGeom prst="rect">
            <a:avLst/>
          </a:prstGeom>
          <a:solidFill>
            <a:srgbClr val="5E7C76"/>
          </a:solidFill>
          <a:ln w="12700">
            <a:solidFill>
              <a:srgbClr val="5E7C7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22776" y="4114800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可追溯 AI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941064" y="44622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來源連結、提示模板、規則庫與引用機制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6355080" y="4096512"/>
            <a:ext cx="2029968" cy="1307592"/>
          </a:xfrm>
          <a:prstGeom prst="roundRect">
            <a:avLst>
              <a:gd name="adj" fmla="val 5594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55080" y="4096512"/>
            <a:ext cx="2029968" cy="201168"/>
          </a:xfrm>
          <a:prstGeom prst="rect">
            <a:avLst/>
          </a:prstGeom>
          <a:solidFill>
            <a:srgbClr val="B9904F"/>
          </a:solidFill>
          <a:ln w="12700">
            <a:solidFill>
              <a:srgbClr val="B9904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83096" y="4114800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Human-in-the-loop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501384" y="44622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先出草稿，人員負責判斷、修正與核准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8915400" y="4096512"/>
            <a:ext cx="2029968" cy="1307592"/>
          </a:xfrm>
          <a:prstGeom prst="roundRect">
            <a:avLst>
              <a:gd name="adj" fmla="val 5594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915400" y="4096512"/>
            <a:ext cx="2029968" cy="201168"/>
          </a:xfrm>
          <a:prstGeom prst="rect">
            <a:avLst/>
          </a:prstGeom>
          <a:solidFill>
            <a:srgbClr val="224A71"/>
          </a:solidFill>
          <a:ln w="12700">
            <a:solidFill>
              <a:srgbClr val="224A71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43416" y="4114800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評估閉環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061704" y="44622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記錄修改、量測品質、把回饋回寫到規則與測試集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1600200" y="3218688"/>
            <a:ext cx="649224" cy="640080"/>
          </a:xfrm>
          <a:prstGeom prst="line">
            <a:avLst/>
          </a:prstGeom>
          <a:noFill/>
          <a:ln w="15240">
            <a:solidFill>
              <a:srgbClr val="D6D0C4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575304" y="3218688"/>
            <a:ext cx="-1325880" cy="640080"/>
          </a:xfrm>
          <a:prstGeom prst="line">
            <a:avLst/>
          </a:prstGeom>
          <a:noFill/>
          <a:ln w="15240">
            <a:solidFill>
              <a:srgbClr val="D6D0C4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550408" y="3218688"/>
            <a:ext cx="-740664" cy="640080"/>
          </a:xfrm>
          <a:prstGeom prst="line">
            <a:avLst/>
          </a:prstGeom>
          <a:noFill/>
          <a:ln w="15240">
            <a:solidFill>
              <a:srgbClr val="D6D0C4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525512" y="3218688"/>
            <a:ext cx="-155448" cy="640080"/>
          </a:xfrm>
          <a:prstGeom prst="line">
            <a:avLst/>
          </a:prstGeom>
          <a:noFill/>
          <a:ln w="15240">
            <a:solidFill>
              <a:srgbClr val="D6D0C4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500616" y="3218688"/>
            <a:ext cx="429768" cy="640080"/>
          </a:xfrm>
          <a:prstGeom prst="line">
            <a:avLst/>
          </a:prstGeom>
          <a:noFill/>
          <a:ln w="15240">
            <a:solidFill>
              <a:srgbClr val="D6D0C4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22960" y="5623560"/>
            <a:ext cx="10835640" cy="566928"/>
          </a:xfrm>
          <a:prstGeom prst="roundRect">
            <a:avLst>
              <a:gd name="adj" fmla="val 12903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024128" y="5797296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設計原則：先把「資料與規則」變成可管理的資產，再讓 AI 介入重複、耗時、可追溯的工作；保留關鍵判斷給人。</a:t>
            </a:r>
            <a:endParaRPr lang="en-US" sz="13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108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7C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CANVAS | INPUT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Canvas｜Input 評估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923544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8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盤點資料來源、格式、治理與可取得性，確認 PoC 是否有足夠的燃料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10835640" cy="0"/>
          </a:xfrm>
          <a:prstGeom prst="line">
            <a:avLst/>
          </a:prstGeom>
          <a:noFill/>
          <a:ln w="12700">
            <a:solidFill>
              <a:srgbClr val="D6D0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420624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5E7C76"/>
          </a:solidFill>
          <a:ln w="12700">
            <a:solidFill>
              <a:srgbClr val="5E7C76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155680" y="4297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9808" y="1645920"/>
            <a:ext cx="2057400" cy="2834640"/>
          </a:xfrm>
          <a:prstGeom prst="roundRect">
            <a:avLst>
              <a:gd name="adj" fmla="val 3556"/>
            </a:avLst>
          </a:prstGeom>
          <a:solidFill>
            <a:srgbClr val="DCE7F3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645920"/>
            <a:ext cx="2057400" cy="20116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16642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結構化資料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96112" y="2057400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ERP / CRM / BI 匯出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交易資料、KPI 指標、維度表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1261872" y="2706624"/>
            <a:ext cx="1024128" cy="246888"/>
          </a:xfrm>
          <a:prstGeom prst="roundRect">
            <a:avLst>
              <a:gd name="adj" fmla="val 44444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1872" y="271576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可用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32688" y="3154680"/>
            <a:ext cx="1691640" cy="0"/>
          </a:xfrm>
          <a:prstGeom prst="line">
            <a:avLst/>
          </a:prstGeom>
          <a:noFill/>
          <a:ln w="12700">
            <a:solidFill>
              <a:srgbClr val="D6D0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346704"/>
            <a:ext cx="17190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2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欄位標準可建立
</a:t>
            </a:r>
            <a:endParaRPr lang="en-US" sz="1020" dirty="0"/>
          </a:p>
          <a:p>
            <a:pPr indent="0" marL="0">
              <a:buNone/>
            </a:pPr>
            <a:r>
              <a:rPr lang="en-US" sz="102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2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適合做對齊 / 清理 / 比對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3639312" y="1645920"/>
            <a:ext cx="2057400" cy="2834640"/>
          </a:xfrm>
          <a:prstGeom prst="roundRect">
            <a:avLst>
              <a:gd name="adj" fmla="val 3556"/>
            </a:avLst>
          </a:prstGeom>
          <a:solidFill>
            <a:srgbClr val="DCEAE7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39312" y="1645920"/>
            <a:ext cx="2057400" cy="201168"/>
          </a:xfrm>
          <a:prstGeom prst="rect">
            <a:avLst/>
          </a:prstGeom>
          <a:solidFill>
            <a:srgbClr val="5E7C76"/>
          </a:solidFill>
          <a:ln w="12700">
            <a:solidFill>
              <a:srgbClr val="5E7C7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67328" y="16642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非結構化文件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785616" y="2057400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Email、會議紀要、週報範本、簡報草稿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4151376" y="2706624"/>
            <a:ext cx="1024128" cy="246888"/>
          </a:xfrm>
          <a:prstGeom prst="roundRect">
            <a:avLst>
              <a:gd name="adj" fmla="val 44444"/>
            </a:avLst>
          </a:prstGeom>
          <a:solidFill>
            <a:srgbClr val="5E7C76"/>
          </a:solidFill>
          <a:ln w="12700">
            <a:solidFill>
              <a:srgbClr val="5E7C7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51376" y="271576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可用但需整理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22192" y="3154680"/>
            <a:ext cx="1691640" cy="0"/>
          </a:xfrm>
          <a:prstGeom prst="line">
            <a:avLst/>
          </a:prstGeom>
          <a:noFill/>
          <a:ln w="12700">
            <a:solidFill>
              <a:srgbClr val="D6D0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03904" y="3346704"/>
            <a:ext cx="17190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2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需分段、分類、去重
</a:t>
            </a:r>
            <a:endParaRPr lang="en-US" sz="1020" dirty="0"/>
          </a:p>
          <a:p>
            <a:pPr indent="0" marL="0">
              <a:buNone/>
            </a:pPr>
            <a:r>
              <a:rPr lang="en-US" sz="102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2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可作為來源引用與摘要素材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6528816" y="1645920"/>
            <a:ext cx="2057400" cy="2834640"/>
          </a:xfrm>
          <a:prstGeom prst="roundRect">
            <a:avLst>
              <a:gd name="adj" fmla="val 3556"/>
            </a:avLst>
          </a:prstGeom>
          <a:solidFill>
            <a:srgbClr val="F5E8D3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28816" y="1645920"/>
            <a:ext cx="2057400" cy="201168"/>
          </a:xfrm>
          <a:prstGeom prst="rect">
            <a:avLst/>
          </a:prstGeom>
          <a:solidFill>
            <a:srgbClr val="B9904F"/>
          </a:solidFill>
          <a:ln w="12700">
            <a:solidFill>
              <a:srgbClr val="B9904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6832" y="16642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隱性規則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675120" y="2057400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判讀邏輯、例外處理、主管偏好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7040880" y="2706624"/>
            <a:ext cx="1024128" cy="246888"/>
          </a:xfrm>
          <a:prstGeom prst="roundRect">
            <a:avLst>
              <a:gd name="adj" fmla="val 44444"/>
            </a:avLst>
          </a:prstGeom>
          <a:solidFill>
            <a:srgbClr val="B9904F"/>
          </a:solidFill>
          <a:ln w="12700">
            <a:solidFill>
              <a:srgbClr val="B9904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271576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需外顯化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11696" y="3154680"/>
            <a:ext cx="1691640" cy="0"/>
          </a:xfrm>
          <a:prstGeom prst="line">
            <a:avLst/>
          </a:prstGeom>
          <a:noFill/>
          <a:ln w="12700">
            <a:solidFill>
              <a:srgbClr val="D6D0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93408" y="3346704"/>
            <a:ext cx="17190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2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需建立規則字典
</a:t>
            </a:r>
            <a:endParaRPr lang="en-US" sz="1020" dirty="0"/>
          </a:p>
          <a:p>
            <a:pPr indent="0" marL="0">
              <a:buNone/>
            </a:pPr>
            <a:r>
              <a:rPr lang="en-US" sz="102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2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可轉為 prompt / policy / checklist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9418320" y="1645920"/>
            <a:ext cx="2057400" cy="2834640"/>
          </a:xfrm>
          <a:prstGeom prst="roundRect">
            <a:avLst>
              <a:gd name="adj" fmla="val 3556"/>
            </a:avLst>
          </a:prstGeom>
          <a:solidFill>
            <a:srgbClr val="F3D7D5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418320" y="1645920"/>
            <a:ext cx="2057400" cy="201168"/>
          </a:xfrm>
          <a:prstGeom prst="rect">
            <a:avLst/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46336" y="16642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治理與權限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564624" y="2057400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 owner、更新頻率、敏感欄位、版本控管</a:t>
            </a:r>
            <a:endParaRPr lang="en-US" sz="1070" dirty="0"/>
          </a:p>
        </p:txBody>
      </p:sp>
      <p:sp>
        <p:nvSpPr>
          <p:cNvPr id="38" name="Shape 36"/>
          <p:cNvSpPr/>
          <p:nvPr/>
        </p:nvSpPr>
        <p:spPr>
          <a:xfrm>
            <a:off x="9930384" y="2706624"/>
            <a:ext cx="1024128" cy="246888"/>
          </a:xfrm>
          <a:prstGeom prst="roundRect">
            <a:avLst>
              <a:gd name="adj" fmla="val 44444"/>
            </a:avLst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30384" y="271576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必須先定義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601200" y="3154680"/>
            <a:ext cx="1691640" cy="0"/>
          </a:xfrm>
          <a:prstGeom prst="line">
            <a:avLst/>
          </a:prstGeom>
          <a:noFill/>
          <a:ln w="12700">
            <a:solidFill>
              <a:srgbClr val="D6D0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82912" y="3346704"/>
            <a:ext cx="17190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2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 RBAC、遮罩、留痕
</a:t>
            </a:r>
            <a:endParaRPr lang="en-US" sz="1020" dirty="0"/>
          </a:p>
          <a:p>
            <a:pPr indent="0" marL="0">
              <a:buNone/>
            </a:pPr>
            <a:r>
              <a:rPr lang="en-US" sz="102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02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決定是否可進正式環境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749808" y="4754880"/>
            <a:ext cx="10972800" cy="1078992"/>
          </a:xfrm>
          <a:prstGeom prst="roundRect">
            <a:avLst>
              <a:gd name="adj" fmla="val 6780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49808" y="4754880"/>
            <a:ext cx="10972800" cy="20116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7824" y="4773168"/>
            <a:ext cx="10716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輸入結論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14400" y="5047488"/>
            <a:ext cx="3246120" cy="877824"/>
          </a:xfrm>
          <a:prstGeom prst="roundRect">
            <a:avLst>
              <a:gd name="adj" fmla="val 6250"/>
            </a:avLst>
          </a:prstGeom>
          <a:solidFill>
            <a:srgbClr val="FFFDF9"/>
          </a:solidFill>
          <a:ln w="13970">
            <a:solidFill>
              <a:srgbClr val="17324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4400" y="5047488"/>
            <a:ext cx="3246120" cy="14630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42416" y="5248656"/>
            <a:ext cx="3026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1｜先做資料對齊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42416" y="547725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13F"/>
                </a:solidFill>
              </a:rPr>
              <a:t>建立欄位映射、指標字典、資料更新規則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462272" y="5047488"/>
            <a:ext cx="3246120" cy="877824"/>
          </a:xfrm>
          <a:prstGeom prst="roundRect">
            <a:avLst>
              <a:gd name="adj" fmla="val 6250"/>
            </a:avLst>
          </a:prstGeom>
          <a:solidFill>
            <a:srgbClr val="FFFDF9"/>
          </a:solidFill>
          <a:ln w="13970">
            <a:solidFill>
              <a:srgbClr val="5E7C7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462272" y="5047488"/>
            <a:ext cx="3246120" cy="146304"/>
          </a:xfrm>
          <a:prstGeom prst="rect">
            <a:avLst/>
          </a:prstGeom>
          <a:solidFill>
            <a:srgbClr val="5E7C76"/>
          </a:solidFill>
          <a:ln w="12700">
            <a:solidFill>
              <a:srgbClr val="5E7C76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90288" y="5248656"/>
            <a:ext cx="3026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7C76"/>
                </a:solidFill>
              </a:rPr>
              <a:t>2｜再做規則外顯化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90288" y="547725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13F"/>
                </a:solidFill>
              </a:rPr>
              <a:t>把人工判讀準則整理成可維護的規則庫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010144" y="5047488"/>
            <a:ext cx="3246120" cy="877824"/>
          </a:xfrm>
          <a:prstGeom prst="roundRect">
            <a:avLst>
              <a:gd name="adj" fmla="val 6250"/>
            </a:avLst>
          </a:prstGeom>
          <a:solidFill>
            <a:srgbClr val="FFFDF9"/>
          </a:solidFill>
          <a:ln w="13970">
            <a:solidFill>
              <a:srgbClr val="B9904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10144" y="5047488"/>
            <a:ext cx="3246120" cy="146304"/>
          </a:xfrm>
          <a:prstGeom prst="rect">
            <a:avLst/>
          </a:prstGeom>
          <a:solidFill>
            <a:srgbClr val="B9904F"/>
          </a:solidFill>
          <a:ln w="12700">
            <a:solidFill>
              <a:srgbClr val="B9904F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38160" y="5248656"/>
            <a:ext cx="3026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9904F"/>
                </a:solidFill>
              </a:rPr>
              <a:t>3｜最後才串模型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138160" y="547725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13F"/>
                </a:solidFill>
              </a:rPr>
              <a:t>避免把髒資料與隱性知識直接丟給模型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108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7C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CANVAS | PROCESS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Canvas｜Process 評估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923544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8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將現行流程重寫為可被 AI 執行與可被人員覆核的步驟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10835640" cy="0"/>
          </a:xfrm>
          <a:prstGeom prst="line">
            <a:avLst/>
          </a:prstGeom>
          <a:noFill/>
          <a:ln w="12700">
            <a:solidFill>
              <a:srgbClr val="D6D0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420624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5E7C76"/>
          </a:solidFill>
          <a:ln w="12700">
            <a:solidFill>
              <a:srgbClr val="5E7C76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155680" y="4297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783080" y="3154680"/>
            <a:ext cx="1115568" cy="0"/>
          </a:xfrm>
          <a:prstGeom prst="line">
            <a:avLst/>
          </a:prstGeom>
          <a:noFill/>
          <a:ln w="20320">
            <a:solidFill>
              <a:srgbClr val="D6D0C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47872" y="3154680"/>
            <a:ext cx="1115568" cy="0"/>
          </a:xfrm>
          <a:prstGeom prst="line">
            <a:avLst/>
          </a:prstGeom>
          <a:noFill/>
          <a:ln w="20320">
            <a:solidFill>
              <a:srgbClr val="D6D0C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12664" y="3154680"/>
            <a:ext cx="1115568" cy="0"/>
          </a:xfrm>
          <a:prstGeom prst="line">
            <a:avLst/>
          </a:prstGeom>
          <a:noFill/>
          <a:ln w="20320">
            <a:solidFill>
              <a:srgbClr val="D6D0C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077456" y="3154680"/>
            <a:ext cx="1115568" cy="0"/>
          </a:xfrm>
          <a:prstGeom prst="line">
            <a:avLst/>
          </a:prstGeom>
          <a:noFill/>
          <a:ln w="20320">
            <a:solidFill>
              <a:srgbClr val="D6D0C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842248" y="3154680"/>
            <a:ext cx="1115568" cy="0"/>
          </a:xfrm>
          <a:prstGeom prst="line">
            <a:avLst/>
          </a:prstGeom>
          <a:noFill/>
          <a:ln w="20320">
            <a:solidFill>
              <a:srgbClr val="D6D0C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216152" y="4526280"/>
            <a:ext cx="9052560" cy="0"/>
          </a:xfrm>
          <a:prstGeom prst="line">
            <a:avLst/>
          </a:prstGeom>
          <a:noFill/>
          <a:ln w="15240">
            <a:solidFill>
              <a:srgbClr val="D6D0C4"/>
            </a:solidFill>
            <a:prstDash val="dash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216152" y="4526280"/>
            <a:ext cx="0" cy="-713232"/>
          </a:xfrm>
          <a:prstGeom prst="line">
            <a:avLst/>
          </a:prstGeom>
          <a:noFill/>
          <a:ln w="15240">
            <a:solidFill>
              <a:srgbClr val="D6D0C4"/>
            </a:solidFill>
            <a:prstDash val="dash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68680" y="2331720"/>
            <a:ext cx="1417320" cy="1517904"/>
          </a:xfrm>
          <a:prstGeom prst="roundRect">
            <a:avLst>
              <a:gd name="adj" fmla="val 5161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78408" y="2596896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1｜擷取與分類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978408" y="2980944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抓資料、辨識來源、去重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2633472" y="2331720"/>
            <a:ext cx="1417320" cy="1517904"/>
          </a:xfrm>
          <a:prstGeom prst="roundRect">
            <a:avLst>
              <a:gd name="adj" fmla="val 5161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0" y="2596896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24A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2｜欄位映射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2743200" y="2980944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套用 KPI 字典與轉換規則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4398264" y="2331720"/>
            <a:ext cx="1417320" cy="1517904"/>
          </a:xfrm>
          <a:prstGeom prst="roundRect">
            <a:avLst>
              <a:gd name="adj" fmla="val 5161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07992" y="2596896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5E7C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3｜摘要與比對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4507992" y="2980944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找異常、排序、抓關聯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6163056" y="2331720"/>
            <a:ext cx="1417320" cy="1517904"/>
          </a:xfrm>
          <a:prstGeom prst="roundRect">
            <a:avLst>
              <a:gd name="adj" fmla="val 5161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72784" y="2596896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B99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4｜洞察初稿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6272784" y="2980944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生成摘要、原因假設與敘事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7927848" y="2331720"/>
            <a:ext cx="1417320" cy="1517904"/>
          </a:xfrm>
          <a:prstGeom prst="roundRect">
            <a:avLst>
              <a:gd name="adj" fmla="val 5161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037576" y="2596896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C85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5｜人工覆核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8037576" y="2980944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確認數字、補充上下文、修正語氣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9692640" y="2331720"/>
            <a:ext cx="1417320" cy="1517904"/>
          </a:xfrm>
          <a:prstGeom prst="roundRect">
            <a:avLst>
              <a:gd name="adj" fmla="val 5161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802368" y="2596896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5F8F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6｜輸出交付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9802368" y="2980944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產出簡報、行動清單與回查鏈結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868680" y="1627632"/>
            <a:ext cx="10561320" cy="457200"/>
          </a:xfrm>
          <a:prstGeom prst="roundRect">
            <a:avLst>
              <a:gd name="adj" fmla="val 16000"/>
            </a:avLst>
          </a:prstGeom>
          <a:solidFill>
            <a:srgbClr val="EFF1F3"/>
          </a:solidFill>
          <a:ln w="15240">
            <a:solidFill>
              <a:srgbClr val="EFF1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128" y="179222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可自動處理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927848" y="179222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85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人保留最後判斷責任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68680" y="4873752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68680" y="4873752"/>
            <a:ext cx="10972800" cy="201168"/>
          </a:xfrm>
          <a:prstGeom prst="rect">
            <a:avLst/>
          </a:prstGeom>
          <a:solidFill>
            <a:srgbClr val="5E7C76"/>
          </a:solidFill>
          <a:ln w="12700">
            <a:solidFill>
              <a:srgbClr val="5E7C76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6696" y="4892040"/>
            <a:ext cx="10716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 設計原則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051560" y="5193792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每一步都要有可觀察輸入 / 輸出；避免把大任務直接丟給單一 prompt。
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高風險節點（異常解釋、對外發布）需保留人工 gate。
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每次人工修改都要被記錄，作為下一輪規則與評估樣本。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108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7C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CANVAS | OUTPUT AND RISK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Canvas｜Output / Risk 評估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923544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8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輸出物要可被使用、可被驗證，也要可被治理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10835640" cy="0"/>
          </a:xfrm>
          <a:prstGeom prst="line">
            <a:avLst/>
          </a:prstGeom>
          <a:noFill/>
          <a:ln w="12700">
            <a:solidFill>
              <a:srgbClr val="D6D0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420624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5E7C76"/>
          </a:solidFill>
          <a:ln w="12700">
            <a:solidFill>
              <a:srgbClr val="5E7C76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155680" y="4297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1627632"/>
            <a:ext cx="5266944" cy="3977640"/>
          </a:xfrm>
          <a:prstGeom prst="roundRect">
            <a:avLst>
              <a:gd name="adj" fmla="val 1839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1627632"/>
            <a:ext cx="5266944" cy="20116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1645920"/>
            <a:ext cx="5010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Output 設計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69264" y="1993392"/>
            <a:ext cx="2148840" cy="877824"/>
          </a:xfrm>
          <a:prstGeom prst="roundRect">
            <a:avLst>
              <a:gd name="adj" fmla="val 6250"/>
            </a:avLst>
          </a:prstGeom>
          <a:solidFill>
            <a:srgbClr val="FFFDF9"/>
          </a:solidFill>
          <a:ln w="13970">
            <a:solidFill>
              <a:srgbClr val="1732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264" y="1993392"/>
            <a:ext cx="2148840" cy="14630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194560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管理摘要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2423160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13F"/>
                </a:solidFill>
              </a:rPr>
              <a:t>本週重點、異常事件、三句話結論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19856" y="1993392"/>
            <a:ext cx="2148840" cy="877824"/>
          </a:xfrm>
          <a:prstGeom prst="roundRect">
            <a:avLst>
              <a:gd name="adj" fmla="val 6250"/>
            </a:avLst>
          </a:prstGeom>
          <a:solidFill>
            <a:srgbClr val="FFFDF9"/>
          </a:solidFill>
          <a:ln w="13970">
            <a:solidFill>
              <a:srgbClr val="5E7C7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19856" y="1993392"/>
            <a:ext cx="2148840" cy="146304"/>
          </a:xfrm>
          <a:prstGeom prst="rect">
            <a:avLst/>
          </a:prstGeom>
          <a:solidFill>
            <a:srgbClr val="5E7C76"/>
          </a:solidFill>
          <a:ln w="12700">
            <a:solidFill>
              <a:srgbClr val="5E7C7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47872" y="2194560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7C76"/>
                </a:solidFill>
              </a:rPr>
              <a:t>洞察清單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47872" y="2423160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13F"/>
                </a:solidFill>
              </a:rPr>
              <a:t>關鍵指標變化、原因假設、需要追問事項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69264" y="3529584"/>
            <a:ext cx="2148840" cy="877824"/>
          </a:xfrm>
          <a:prstGeom prst="roundRect">
            <a:avLst>
              <a:gd name="adj" fmla="val 6250"/>
            </a:avLst>
          </a:prstGeom>
          <a:solidFill>
            <a:srgbClr val="FFFDF9"/>
          </a:solidFill>
          <a:ln w="13970">
            <a:solidFill>
              <a:srgbClr val="B990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9264" y="3529584"/>
            <a:ext cx="2148840" cy="146304"/>
          </a:xfrm>
          <a:prstGeom prst="rect">
            <a:avLst/>
          </a:prstGeom>
          <a:solidFill>
            <a:srgbClr val="B9904F"/>
          </a:solidFill>
          <a:ln w="12700">
            <a:solidFill>
              <a:srgbClr val="B9904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3730752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9904F"/>
                </a:solidFill>
              </a:rPr>
              <a:t>行動建議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3959352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13F"/>
                </a:solidFill>
              </a:rPr>
              <a:t>建議 owner、優先順序、待確認資訊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19856" y="3529584"/>
            <a:ext cx="2148840" cy="877824"/>
          </a:xfrm>
          <a:prstGeom prst="roundRect">
            <a:avLst>
              <a:gd name="adj" fmla="val 6250"/>
            </a:avLst>
          </a:prstGeom>
          <a:solidFill>
            <a:srgbClr val="FFFDF9"/>
          </a:solidFill>
          <a:ln w="13970">
            <a:solidFill>
              <a:srgbClr val="5F8F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19856" y="3529584"/>
            <a:ext cx="2148840" cy="146304"/>
          </a:xfrm>
          <a:prstGeom prst="rect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3730752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F8F6A"/>
                </a:solidFill>
              </a:rPr>
              <a:t>可追溯附錄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47872" y="3959352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13F"/>
                </a:solidFill>
              </a:rPr>
              <a:t>每段文字可回查原始資料與規則依據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87552" y="4773168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輸出不是只有一份報告，而是一組可復用的中介產物：摘要、清單、引用、任務。</a:t>
            </a:r>
            <a:endParaRPr lang="en-US" sz="1140" dirty="0"/>
          </a:p>
        </p:txBody>
      </p:sp>
      <p:sp>
        <p:nvSpPr>
          <p:cNvPr id="30" name="Shape 28"/>
          <p:cNvSpPr/>
          <p:nvPr/>
        </p:nvSpPr>
        <p:spPr>
          <a:xfrm>
            <a:off x="6245352" y="1627632"/>
            <a:ext cx="5157216" cy="3977640"/>
          </a:xfrm>
          <a:prstGeom prst="roundRect">
            <a:avLst>
              <a:gd name="adj" fmla="val 1839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45352" y="1627632"/>
            <a:ext cx="5157216" cy="201168"/>
          </a:xfrm>
          <a:prstGeom prst="rect">
            <a:avLst/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73368" y="1645920"/>
            <a:ext cx="4901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Risk 與控制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73952" y="2157984"/>
            <a:ext cx="256032" cy="0"/>
          </a:xfrm>
          <a:prstGeom prst="line">
            <a:avLst/>
          </a:prstGeom>
          <a:noFill/>
          <a:ln w="22860">
            <a:solidFill>
              <a:srgbClr val="C85C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29984" y="2048256"/>
            <a:ext cx="201168" cy="201168"/>
          </a:xfrm>
          <a:prstGeom prst="ellipse">
            <a:avLst/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9168" y="196596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幻覺 / 引用錯誤</a:t>
            </a:r>
            <a:endParaRPr lang="en-US" sz="1130" dirty="0"/>
          </a:p>
        </p:txBody>
      </p:sp>
      <p:sp>
        <p:nvSpPr>
          <p:cNvPr id="36" name="Text 34"/>
          <p:cNvSpPr/>
          <p:nvPr/>
        </p:nvSpPr>
        <p:spPr>
          <a:xfrm>
            <a:off x="8522208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所有敘述須附來源；高風險結論不允許無引用輸出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73952" y="2843784"/>
            <a:ext cx="256032" cy="0"/>
          </a:xfrm>
          <a:prstGeom prst="line">
            <a:avLst/>
          </a:prstGeom>
          <a:noFill/>
          <a:ln w="22860">
            <a:solidFill>
              <a:srgbClr val="C85C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29984" y="2734056"/>
            <a:ext cx="201168" cy="201168"/>
          </a:xfrm>
          <a:prstGeom prst="ellipse">
            <a:avLst/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59168" y="265176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資料外洩</a:t>
            </a:r>
            <a:endParaRPr lang="en-US" sz="1130" dirty="0"/>
          </a:p>
        </p:txBody>
      </p:sp>
      <p:sp>
        <p:nvSpPr>
          <p:cNvPr id="40" name="Text 38"/>
          <p:cNvSpPr/>
          <p:nvPr/>
        </p:nvSpPr>
        <p:spPr>
          <a:xfrm>
            <a:off x="8522208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權限分層、敏感欄位遮罩、外部模型前置脫敏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73952" y="3529584"/>
            <a:ext cx="256032" cy="0"/>
          </a:xfrm>
          <a:prstGeom prst="line">
            <a:avLst/>
          </a:prstGeom>
          <a:noFill/>
          <a:ln w="22860">
            <a:solidFill>
              <a:srgbClr val="C85C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29984" y="3419856"/>
            <a:ext cx="201168" cy="201168"/>
          </a:xfrm>
          <a:prstGeom prst="ellipse">
            <a:avLst/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59168" y="333756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口徑錯配</a:t>
            </a:r>
            <a:endParaRPr lang="en-US" sz="1130" dirty="0"/>
          </a:p>
        </p:txBody>
      </p:sp>
      <p:sp>
        <p:nvSpPr>
          <p:cNvPr id="44" name="Text 42"/>
          <p:cNvSpPr/>
          <p:nvPr/>
        </p:nvSpPr>
        <p:spPr>
          <a:xfrm>
            <a:off x="8522208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規則庫版本化，口徑變更需重新驗證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73952" y="4215384"/>
            <a:ext cx="256032" cy="0"/>
          </a:xfrm>
          <a:prstGeom prst="line">
            <a:avLst/>
          </a:prstGeom>
          <a:noFill/>
          <a:ln w="22860">
            <a:solidFill>
              <a:srgbClr val="C85C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29984" y="4105656"/>
            <a:ext cx="201168" cy="201168"/>
          </a:xfrm>
          <a:prstGeom prst="ellipse">
            <a:avLst/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59168" y="402336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流程失控</a:t>
            </a:r>
            <a:endParaRPr lang="en-US" sz="1130" dirty="0"/>
          </a:p>
        </p:txBody>
      </p:sp>
      <p:sp>
        <p:nvSpPr>
          <p:cNvPr id="48" name="Text 46"/>
          <p:cNvSpPr/>
          <p:nvPr/>
        </p:nvSpPr>
        <p:spPr>
          <a:xfrm>
            <a:off x="8522208" y="4023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每一步有 fallback 與人工接手機制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473952" y="4901184"/>
            <a:ext cx="256032" cy="0"/>
          </a:xfrm>
          <a:prstGeom prst="line">
            <a:avLst/>
          </a:prstGeom>
          <a:noFill/>
          <a:ln w="22860">
            <a:solidFill>
              <a:srgbClr val="C85C5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29984" y="4791456"/>
            <a:ext cx="201168" cy="201168"/>
          </a:xfrm>
          <a:prstGeom prst="ellipse">
            <a:avLst/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59168" y="470916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模型退化</a:t>
            </a:r>
            <a:endParaRPr lang="en-US" sz="1130" dirty="0"/>
          </a:p>
        </p:txBody>
      </p:sp>
      <p:sp>
        <p:nvSpPr>
          <p:cNvPr id="52" name="Text 50"/>
          <p:cNvSpPr/>
          <p:nvPr/>
        </p:nvSpPr>
        <p:spPr>
          <a:xfrm>
            <a:off x="8522208" y="4709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保留測試集，追蹤準確率、修改率、採納率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77240" y="5650992"/>
            <a:ext cx="10634472" cy="402336"/>
          </a:xfrm>
          <a:prstGeom prst="roundRect">
            <a:avLst>
              <a:gd name="adj" fmla="val 18182"/>
            </a:avLst>
          </a:prstGeom>
          <a:solidFill>
            <a:srgbClr val="F5E8D3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1024128" y="5769864"/>
            <a:ext cx="10149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建議驗收指標：數字正確率、引用覆蓋率、人工修改率、產出 lead time、使用者採納率。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108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9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BENEFIT 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效益評估｜四項導入指標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923544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8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4 個維度判斷這個場景值不值得做，以及要怎麼做才不會失敗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10835640" cy="0"/>
          </a:xfrm>
          <a:prstGeom prst="line">
            <a:avLst/>
          </a:prstGeom>
          <a:noFill/>
          <a:ln w="12700">
            <a:solidFill>
              <a:srgbClr val="D6D0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420624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B9904F"/>
          </a:solidFill>
          <a:ln w="12700">
            <a:solidFill>
              <a:srgbClr val="B9904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155680" y="4297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6384" y="1645920"/>
            <a:ext cx="10972800" cy="749808"/>
          </a:xfrm>
          <a:prstGeom prst="roundRect">
            <a:avLst>
              <a:gd name="adj" fmla="val 9756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24128" y="18562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整體判斷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514600" y="17099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9904F"/>
                </a:solidFill>
              </a:rPr>
              <a:t>16 / 20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498848" y="185623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適合以 PoC 形式切入；先做 AI 輔助，再逐步擴大自動化範圍。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68680" y="2697480"/>
            <a:ext cx="2505456" cy="2907792"/>
          </a:xfrm>
          <a:prstGeom prst="roundRect">
            <a:avLst>
              <a:gd name="adj" fmla="val 2920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709928" y="286207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324D"/>
                </a:solidFill>
              </a:rPr>
              <a:t>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051560" y="3584448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Automatable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188720" y="4069080"/>
            <a:ext cx="256032" cy="128016"/>
          </a:xfrm>
          <a:prstGeom prst="rect">
            <a:avLst/>
          </a:prstGeom>
          <a:solidFill>
            <a:srgbClr val="17324D"/>
          </a:solidFill>
          <a:ln w="7620">
            <a:solidFill>
              <a:srgbClr val="D6D0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36192" y="4069080"/>
            <a:ext cx="256032" cy="128016"/>
          </a:xfrm>
          <a:prstGeom prst="rect">
            <a:avLst/>
          </a:prstGeom>
          <a:solidFill>
            <a:srgbClr val="17324D"/>
          </a:solidFill>
          <a:ln w="7620">
            <a:solidFill>
              <a:srgbClr val="D6D0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83664" y="4069080"/>
            <a:ext cx="256032" cy="128016"/>
          </a:xfrm>
          <a:prstGeom prst="rect">
            <a:avLst/>
          </a:prstGeom>
          <a:solidFill>
            <a:srgbClr val="17324D"/>
          </a:solidFill>
          <a:ln w="7620">
            <a:solidFill>
              <a:srgbClr val="D6D0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31136" y="4069080"/>
            <a:ext cx="256032" cy="128016"/>
          </a:xfrm>
          <a:prstGeom prst="rect">
            <a:avLst/>
          </a:prstGeom>
          <a:solidFill>
            <a:srgbClr val="17324D"/>
          </a:solidFill>
          <a:ln w="7620">
            <a:solidFill>
              <a:srgbClr val="D6D0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78608" y="4069080"/>
            <a:ext cx="256032" cy="128016"/>
          </a:xfrm>
          <a:prstGeom prst="rect">
            <a:avLst/>
          </a:prstGeom>
          <a:solidFill>
            <a:srgbClr val="F1EEE8"/>
          </a:solidFill>
          <a:ln w="7620">
            <a:solidFill>
              <a:srgbClr val="D6D0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4370832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重複性高，且有明確產物與模板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48456" y="2697480"/>
            <a:ext cx="2505456" cy="2907792"/>
          </a:xfrm>
          <a:prstGeom prst="roundRect">
            <a:avLst>
              <a:gd name="adj" fmla="val 2920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89704" y="286207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9904F"/>
                </a:solidFill>
              </a:rPr>
              <a:t>5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3831336" y="3584448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99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Impactful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968496" y="4069080"/>
            <a:ext cx="256032" cy="128016"/>
          </a:xfrm>
          <a:prstGeom prst="rect">
            <a:avLst/>
          </a:prstGeom>
          <a:solidFill>
            <a:srgbClr val="B9904F"/>
          </a:solidFill>
          <a:ln w="7620">
            <a:solidFill>
              <a:srgbClr val="D6D0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15968" y="4069080"/>
            <a:ext cx="256032" cy="128016"/>
          </a:xfrm>
          <a:prstGeom prst="rect">
            <a:avLst/>
          </a:prstGeom>
          <a:solidFill>
            <a:srgbClr val="B9904F"/>
          </a:solidFill>
          <a:ln w="7620">
            <a:solidFill>
              <a:srgbClr val="D6D0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4069080"/>
            <a:ext cx="256032" cy="128016"/>
          </a:xfrm>
          <a:prstGeom prst="rect">
            <a:avLst/>
          </a:prstGeom>
          <a:solidFill>
            <a:srgbClr val="B9904F"/>
          </a:solidFill>
          <a:ln w="7620">
            <a:solidFill>
              <a:srgbClr val="D6D0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10912" y="4069080"/>
            <a:ext cx="256032" cy="128016"/>
          </a:xfrm>
          <a:prstGeom prst="rect">
            <a:avLst/>
          </a:prstGeom>
          <a:solidFill>
            <a:srgbClr val="B9904F"/>
          </a:solidFill>
          <a:ln w="7620">
            <a:solidFill>
              <a:srgbClr val="D6D0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58384" y="4069080"/>
            <a:ext cx="256032" cy="128016"/>
          </a:xfrm>
          <a:prstGeom prst="rect">
            <a:avLst/>
          </a:prstGeom>
          <a:solidFill>
            <a:srgbClr val="B9904F"/>
          </a:solidFill>
          <a:ln w="7620">
            <a:solidFill>
              <a:srgbClr val="D6D0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13048" y="4370832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直接影響週期速度、管理品質與擴充能力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28232" y="2697480"/>
            <a:ext cx="2505456" cy="2907792"/>
          </a:xfrm>
          <a:prstGeom prst="roundRect">
            <a:avLst>
              <a:gd name="adj" fmla="val 2920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269480" y="286207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7C76"/>
                </a:solidFill>
              </a:rPr>
              <a:t>3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6611112" y="3584448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E7C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 readiness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748272" y="4069080"/>
            <a:ext cx="256032" cy="128016"/>
          </a:xfrm>
          <a:prstGeom prst="rect">
            <a:avLst/>
          </a:prstGeom>
          <a:solidFill>
            <a:srgbClr val="5E7C76"/>
          </a:solidFill>
          <a:ln w="7620">
            <a:solidFill>
              <a:srgbClr val="D6D0C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95744" y="4069080"/>
            <a:ext cx="256032" cy="128016"/>
          </a:xfrm>
          <a:prstGeom prst="rect">
            <a:avLst/>
          </a:prstGeom>
          <a:solidFill>
            <a:srgbClr val="5E7C76"/>
          </a:solidFill>
          <a:ln w="7620">
            <a:solidFill>
              <a:srgbClr val="D6D0C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43216" y="4069080"/>
            <a:ext cx="256032" cy="128016"/>
          </a:xfrm>
          <a:prstGeom prst="rect">
            <a:avLst/>
          </a:prstGeom>
          <a:solidFill>
            <a:srgbClr val="5E7C76"/>
          </a:solidFill>
          <a:ln w="7620">
            <a:solidFill>
              <a:srgbClr val="D6D0C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90688" y="4069080"/>
            <a:ext cx="256032" cy="128016"/>
          </a:xfrm>
          <a:prstGeom prst="rect">
            <a:avLst/>
          </a:prstGeom>
          <a:solidFill>
            <a:srgbClr val="F1EEE8"/>
          </a:solidFill>
          <a:ln w="7620">
            <a:solidFill>
              <a:srgbClr val="D6D0C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38160" y="4069080"/>
            <a:ext cx="256032" cy="128016"/>
          </a:xfrm>
          <a:prstGeom prst="rect">
            <a:avLst/>
          </a:prstGeom>
          <a:solidFill>
            <a:srgbClr val="F1EEE8"/>
          </a:solidFill>
          <a:ln w="7620">
            <a:solidFill>
              <a:srgbClr val="D6D0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92824" y="4370832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資料存在，但需做欄位標準與治理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208008" y="2697480"/>
            <a:ext cx="2505456" cy="2907792"/>
          </a:xfrm>
          <a:prstGeom prst="roundRect">
            <a:avLst>
              <a:gd name="adj" fmla="val 2920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0049256" y="286207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8F6A"/>
                </a:solidFill>
              </a:rPr>
              <a:t>4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9390888" y="3584448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F8F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Evaluability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9528048" y="4069080"/>
            <a:ext cx="256032" cy="128016"/>
          </a:xfrm>
          <a:prstGeom prst="rect">
            <a:avLst/>
          </a:prstGeom>
          <a:solidFill>
            <a:srgbClr val="5F8F6A"/>
          </a:solidFill>
          <a:ln w="7620">
            <a:solidFill>
              <a:srgbClr val="D6D0C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875520" y="4069080"/>
            <a:ext cx="256032" cy="128016"/>
          </a:xfrm>
          <a:prstGeom prst="rect">
            <a:avLst/>
          </a:prstGeom>
          <a:solidFill>
            <a:srgbClr val="5F8F6A"/>
          </a:solidFill>
          <a:ln w="7620">
            <a:solidFill>
              <a:srgbClr val="D6D0C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222992" y="4069080"/>
            <a:ext cx="256032" cy="128016"/>
          </a:xfrm>
          <a:prstGeom prst="rect">
            <a:avLst/>
          </a:prstGeom>
          <a:solidFill>
            <a:srgbClr val="5F8F6A"/>
          </a:solidFill>
          <a:ln w="7620">
            <a:solidFill>
              <a:srgbClr val="D6D0C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570464" y="4069080"/>
            <a:ext cx="256032" cy="128016"/>
          </a:xfrm>
          <a:prstGeom prst="rect">
            <a:avLst/>
          </a:prstGeom>
          <a:solidFill>
            <a:srgbClr val="5F8F6A"/>
          </a:solidFill>
          <a:ln w="7620">
            <a:solidFill>
              <a:srgbClr val="D6D0C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917936" y="4069080"/>
            <a:ext cx="256032" cy="128016"/>
          </a:xfrm>
          <a:prstGeom prst="rect">
            <a:avLst/>
          </a:prstGeom>
          <a:solidFill>
            <a:srgbClr val="F1EEE8"/>
          </a:solidFill>
          <a:ln w="7620">
            <a:solidFill>
              <a:srgbClr val="D6D0C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72600" y="4370832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可量測 lead time、修改率、引用率、採納率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68680" y="5742432"/>
            <a:ext cx="10881360" cy="420624"/>
          </a:xfrm>
          <a:prstGeom prst="roundRect">
            <a:avLst>
              <a:gd name="adj" fmla="val 17391"/>
            </a:avLst>
          </a:prstGeom>
          <a:solidFill>
            <a:srgbClr val="EFF1F3"/>
          </a:solidFill>
          <a:ln w="15240">
            <a:solidFill>
              <a:srgbClr val="EFF1F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5840" y="5870448"/>
            <a:ext cx="10607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最強優勢：Impact 與 Evaluability；主要前置條件：補齊資料治理與規則外顯化。</a:t>
            </a:r>
            <a:endParaRPr lang="en-US" sz="11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108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9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BENEFIT 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效益評估｜優先場景與導入順序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923544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8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把候選 AI 場景放進價值 × 可落地矩陣，決定先做什麼、暫緩什麼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10835640" cy="0"/>
          </a:xfrm>
          <a:prstGeom prst="line">
            <a:avLst/>
          </a:prstGeom>
          <a:noFill/>
          <a:ln w="12700">
            <a:solidFill>
              <a:srgbClr val="D6D0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420624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B9904F"/>
          </a:solidFill>
          <a:ln w="12700">
            <a:solidFill>
              <a:srgbClr val="B9904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155680" y="4297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1664208"/>
            <a:ext cx="6400800" cy="4389120"/>
          </a:xfrm>
          <a:prstGeom prst="roundRect">
            <a:avLst>
              <a:gd name="adj" fmla="val 1667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25880" y="5504688"/>
            <a:ext cx="5166360" cy="0"/>
          </a:xfrm>
          <a:prstGeom prst="line">
            <a:avLst/>
          </a:prstGeom>
          <a:noFill/>
          <a:ln w="19050">
            <a:solidFill>
              <a:srgbClr val="17324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325880" y="5504688"/>
            <a:ext cx="0" cy="-3337560"/>
          </a:xfrm>
          <a:prstGeom prst="line">
            <a:avLst/>
          </a:prstGeom>
          <a:noFill/>
          <a:ln w="19050">
            <a:solidFill>
              <a:srgbClr val="17324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325880" y="3831336"/>
            <a:ext cx="5166360" cy="0"/>
          </a:xfrm>
          <a:prstGeom prst="line">
            <a:avLst/>
          </a:prstGeom>
          <a:noFill/>
          <a:ln w="12700">
            <a:solidFill>
              <a:srgbClr val="D6D0C4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913632" y="5504688"/>
            <a:ext cx="0" cy="-3337560"/>
          </a:xfrm>
          <a:prstGeom prst="line">
            <a:avLst/>
          </a:prstGeom>
          <a:noFill/>
          <a:ln w="12700">
            <a:solidFill>
              <a:srgbClr val="D6D0C4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060704" y="1938528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Impact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1060704" y="51389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5897880" y="559612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 readiness 高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1325880" y="55961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074920" y="4526280"/>
            <a:ext cx="566928" cy="566928"/>
          </a:xfrm>
          <a:prstGeom prst="ellipse">
            <a:avLst/>
          </a:prstGeom>
          <a:solidFill>
            <a:srgbClr val="17324D">
              <a:alpha val="75000"/>
            </a:srgbClr>
          </a:solidFill>
          <a:ln w="12700">
            <a:solidFill>
              <a:srgbClr val="17324D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697480"/>
            <a:ext cx="786384" cy="786384"/>
          </a:xfrm>
          <a:prstGeom prst="ellipse">
            <a:avLst/>
          </a:prstGeom>
          <a:solidFill>
            <a:srgbClr val="B9904F">
              <a:alpha val="75000"/>
            </a:srgbClr>
          </a:solidFill>
          <a:ln w="12700">
            <a:solidFill>
              <a:srgbClr val="B9904F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2880360"/>
            <a:ext cx="676656" cy="676656"/>
          </a:xfrm>
          <a:prstGeom prst="ellipse">
            <a:avLst/>
          </a:prstGeom>
          <a:solidFill>
            <a:srgbClr val="5E7C76">
              <a:alpha val="75000"/>
            </a:srgbClr>
          </a:solidFill>
          <a:ln w="12700">
            <a:solidFill>
              <a:srgbClr val="5E7C76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23160" y="2514600"/>
            <a:ext cx="548640" cy="548640"/>
          </a:xfrm>
          <a:prstGeom prst="ellipse">
            <a:avLst/>
          </a:prstGeom>
          <a:solidFill>
            <a:srgbClr val="C85C5C">
              <a:alpha val="75000"/>
            </a:srgbClr>
          </a:solidFill>
          <a:ln w="12700">
            <a:solidFill>
              <a:srgbClr val="C85C5C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72768" y="5111496"/>
            <a:ext cx="109728" cy="109728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0" y="5084064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A｜資料彙整與欄位對齊</a:t>
            </a:r>
            <a:endParaRPr lang="en-US" sz="910" dirty="0"/>
          </a:p>
        </p:txBody>
      </p:sp>
      <p:sp>
        <p:nvSpPr>
          <p:cNvPr id="25" name="Shape 23"/>
          <p:cNvSpPr/>
          <p:nvPr/>
        </p:nvSpPr>
        <p:spPr>
          <a:xfrm>
            <a:off x="1572768" y="5330952"/>
            <a:ext cx="109728" cy="109728"/>
          </a:xfrm>
          <a:prstGeom prst="ellipse">
            <a:avLst/>
          </a:prstGeom>
          <a:solidFill>
            <a:srgbClr val="B9904F"/>
          </a:solidFill>
          <a:ln w="12700">
            <a:solidFill>
              <a:srgbClr val="B9904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37360" y="5303520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B｜異常摘要與週報初稿</a:t>
            </a:r>
            <a:endParaRPr lang="en-US" sz="910" dirty="0"/>
          </a:p>
        </p:txBody>
      </p:sp>
      <p:sp>
        <p:nvSpPr>
          <p:cNvPr id="27" name="Shape 25"/>
          <p:cNvSpPr/>
          <p:nvPr/>
        </p:nvSpPr>
        <p:spPr>
          <a:xfrm>
            <a:off x="4187952" y="5111496"/>
            <a:ext cx="109728" cy="109728"/>
          </a:xfrm>
          <a:prstGeom prst="ellipse">
            <a:avLst/>
          </a:prstGeom>
          <a:solidFill>
            <a:srgbClr val="5E7C76"/>
          </a:solidFill>
          <a:ln w="12700">
            <a:solidFill>
              <a:srgbClr val="5E7C7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52544" y="5084064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C｜主管問答 / 可追溯查詢</a:t>
            </a:r>
            <a:endParaRPr lang="en-US" sz="910" dirty="0"/>
          </a:p>
        </p:txBody>
      </p:sp>
      <p:sp>
        <p:nvSpPr>
          <p:cNvPr id="29" name="Shape 27"/>
          <p:cNvSpPr/>
          <p:nvPr/>
        </p:nvSpPr>
        <p:spPr>
          <a:xfrm>
            <a:off x="4187952" y="5330952"/>
            <a:ext cx="109728" cy="109728"/>
          </a:xfrm>
          <a:prstGeom prst="ellipse">
            <a:avLst/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52544" y="5303520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D｜全自動決策 / 自動派工</a:t>
            </a:r>
            <a:endParaRPr lang="en-US" sz="910" dirty="0"/>
          </a:p>
        </p:txBody>
      </p:sp>
      <p:sp>
        <p:nvSpPr>
          <p:cNvPr id="31" name="Shape 29"/>
          <p:cNvSpPr/>
          <p:nvPr/>
        </p:nvSpPr>
        <p:spPr>
          <a:xfrm>
            <a:off x="7543800" y="1664208"/>
            <a:ext cx="4142232" cy="4389120"/>
          </a:xfrm>
          <a:prstGeom prst="roundRect">
            <a:avLst>
              <a:gd name="adj" fmla="val 1766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543800" y="1664208"/>
            <a:ext cx="4142232" cy="201168"/>
          </a:xfrm>
          <a:prstGeom prst="rect">
            <a:avLst/>
          </a:prstGeom>
          <a:solidFill>
            <a:srgbClr val="B9904F"/>
          </a:solidFill>
          <a:ln w="12700">
            <a:solidFill>
              <a:srgbClr val="B9904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71816" y="1682496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建議導入路徑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772400" y="1993392"/>
            <a:ext cx="3639312" cy="877824"/>
          </a:xfrm>
          <a:prstGeom prst="roundRect">
            <a:avLst>
              <a:gd name="adj" fmla="val 6250"/>
            </a:avLst>
          </a:prstGeom>
          <a:solidFill>
            <a:srgbClr val="FFFDF9"/>
          </a:solidFill>
          <a:ln w="13970">
            <a:solidFill>
              <a:srgbClr val="B9904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0" y="1993392"/>
            <a:ext cx="3639312" cy="146304"/>
          </a:xfrm>
          <a:prstGeom prst="rect">
            <a:avLst/>
          </a:prstGeom>
          <a:solidFill>
            <a:srgbClr val="B9904F"/>
          </a:solidFill>
          <a:ln w="12700">
            <a:solidFill>
              <a:srgbClr val="B9904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00416" y="2194560"/>
            <a:ext cx="3419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9904F"/>
                </a:solidFill>
              </a:rPr>
              <a:t>1｜Phase 1｜Quick win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900416" y="242316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13F"/>
                </a:solidFill>
              </a:rPr>
              <a:t>A 資料對齊 + B 異常摘要與週報初稿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772400" y="3035808"/>
            <a:ext cx="3639312" cy="877824"/>
          </a:xfrm>
          <a:prstGeom prst="roundRect">
            <a:avLst>
              <a:gd name="adj" fmla="val 6250"/>
            </a:avLst>
          </a:prstGeom>
          <a:solidFill>
            <a:srgbClr val="FFFDF9"/>
          </a:solidFill>
          <a:ln w="13970">
            <a:solidFill>
              <a:srgbClr val="5E7C7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3035808"/>
            <a:ext cx="3639312" cy="146304"/>
          </a:xfrm>
          <a:prstGeom prst="rect">
            <a:avLst/>
          </a:prstGeom>
          <a:solidFill>
            <a:srgbClr val="5E7C76"/>
          </a:solidFill>
          <a:ln w="12700">
            <a:solidFill>
              <a:srgbClr val="5E7C76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00416" y="3236976"/>
            <a:ext cx="3419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7C76"/>
                </a:solidFill>
              </a:rPr>
              <a:t>2｜Phase 2｜可追溯查詢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900416" y="346557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13F"/>
                </a:solidFill>
              </a:rPr>
              <a:t>把來源、規則、歷史版本納入問答檢索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772400" y="4078224"/>
            <a:ext cx="3639312" cy="877824"/>
          </a:xfrm>
          <a:prstGeom prst="roundRect">
            <a:avLst>
              <a:gd name="adj" fmla="val 6250"/>
            </a:avLst>
          </a:prstGeom>
          <a:solidFill>
            <a:srgbClr val="FFFDF9"/>
          </a:solidFill>
          <a:ln w="13970">
            <a:solidFill>
              <a:srgbClr val="17324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72400" y="4078224"/>
            <a:ext cx="3639312" cy="14630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00416" y="4279392"/>
            <a:ext cx="3419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3｜Phase 3｜半自動決策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900416" y="450799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13F"/>
                </a:solidFill>
              </a:rPr>
              <a:t>只在高資料成熟、高可評估場景逐步擴張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882128" y="5358384"/>
            <a:ext cx="3401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結論：首個 pilot 以「異常摘要 + 週報初稿」最平衡，兼具價值、可行性與可評估性。</a:t>
            </a:r>
            <a:endParaRPr lang="en-US" sz="11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108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TO-BE AI+ 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To-Be AI+ 流程設計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923544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8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AI 置於流程中間層：上接資料、下接輸出，中間保留人工決策節點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10835640" cy="0"/>
          </a:xfrm>
          <a:prstGeom prst="line">
            <a:avLst/>
          </a:prstGeom>
          <a:noFill/>
          <a:ln w="12700">
            <a:solidFill>
              <a:srgbClr val="D6D0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420624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155680" y="4297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6384" y="1645920"/>
            <a:ext cx="10972800" cy="4480560"/>
          </a:xfrm>
          <a:prstGeom prst="roundRect">
            <a:avLst>
              <a:gd name="adj" fmla="val 1633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32688" y="1920240"/>
            <a:ext cx="1143000" cy="1005840"/>
          </a:xfrm>
          <a:prstGeom prst="rect">
            <a:avLst/>
          </a:prstGeom>
          <a:solidFill>
            <a:srgbClr val="DCE7F3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276856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業務使用者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2176272" y="2999232"/>
            <a:ext cx="9345168" cy="0"/>
          </a:xfrm>
          <a:prstGeom prst="line">
            <a:avLst/>
          </a:prstGeom>
          <a:noFill/>
          <a:ln w="12700">
            <a:solidFill>
              <a:srgbClr val="D6D0C4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932688" y="3273552"/>
            <a:ext cx="1143000" cy="1005840"/>
          </a:xfrm>
          <a:prstGeom prst="rect">
            <a:avLst/>
          </a:prstGeom>
          <a:solidFill>
            <a:srgbClr val="DCEAE7"/>
          </a:solidFill>
          <a:ln w="12700">
            <a:solidFill>
              <a:srgbClr val="5E7C7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3630168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5E7C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編排層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2176272" y="4352544"/>
            <a:ext cx="9345168" cy="0"/>
          </a:xfrm>
          <a:prstGeom prst="line">
            <a:avLst/>
          </a:prstGeom>
          <a:noFill/>
          <a:ln w="12700">
            <a:solidFill>
              <a:srgbClr val="D6D0C4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32688" y="4626864"/>
            <a:ext cx="1143000" cy="1005840"/>
          </a:xfrm>
          <a:prstGeom prst="rect">
            <a:avLst/>
          </a:prstGeom>
          <a:solidFill>
            <a:srgbClr val="F5E8D3"/>
          </a:solidFill>
          <a:ln w="12700">
            <a:solidFill>
              <a:srgbClr val="B9904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498348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B99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企業資料 / 系統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3236976" y="2432304"/>
            <a:ext cx="685800" cy="0"/>
          </a:xfrm>
          <a:prstGeom prst="line">
            <a:avLst/>
          </a:prstGeom>
          <a:noFill/>
          <a:ln w="19050">
            <a:solidFill>
              <a:srgbClr val="17324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236976" y="3785616"/>
            <a:ext cx="685800" cy="0"/>
          </a:xfrm>
          <a:prstGeom prst="line">
            <a:avLst/>
          </a:prstGeom>
          <a:noFill/>
          <a:ln w="19050">
            <a:solidFill>
              <a:srgbClr val="5E7C7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837176" y="2432304"/>
            <a:ext cx="685800" cy="0"/>
          </a:xfrm>
          <a:prstGeom prst="line">
            <a:avLst/>
          </a:prstGeom>
          <a:noFill/>
          <a:ln w="19050">
            <a:solidFill>
              <a:srgbClr val="17324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837176" y="3785616"/>
            <a:ext cx="685800" cy="0"/>
          </a:xfrm>
          <a:prstGeom prst="line">
            <a:avLst/>
          </a:prstGeom>
          <a:noFill/>
          <a:ln w="19050">
            <a:solidFill>
              <a:srgbClr val="5E7C7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37376" y="2432304"/>
            <a:ext cx="685800" cy="0"/>
          </a:xfrm>
          <a:prstGeom prst="line">
            <a:avLst/>
          </a:prstGeom>
          <a:noFill/>
          <a:ln w="19050">
            <a:solidFill>
              <a:srgbClr val="17324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37376" y="3785616"/>
            <a:ext cx="685800" cy="0"/>
          </a:xfrm>
          <a:prstGeom prst="line">
            <a:avLst/>
          </a:prstGeom>
          <a:noFill/>
          <a:ln w="19050">
            <a:solidFill>
              <a:srgbClr val="5E7C7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37576" y="2432304"/>
            <a:ext cx="685800" cy="0"/>
          </a:xfrm>
          <a:prstGeom prst="line">
            <a:avLst/>
          </a:prstGeom>
          <a:noFill/>
          <a:ln w="19050">
            <a:solidFill>
              <a:srgbClr val="17324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037576" y="3785616"/>
            <a:ext cx="685800" cy="0"/>
          </a:xfrm>
          <a:prstGeom prst="line">
            <a:avLst/>
          </a:prstGeom>
          <a:noFill/>
          <a:ln w="19050">
            <a:solidFill>
              <a:srgbClr val="5E7C7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637776" y="2432304"/>
            <a:ext cx="685800" cy="0"/>
          </a:xfrm>
          <a:prstGeom prst="line">
            <a:avLst/>
          </a:prstGeom>
          <a:noFill/>
          <a:ln w="19050">
            <a:solidFill>
              <a:srgbClr val="17324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37776" y="3785616"/>
            <a:ext cx="685800" cy="0"/>
          </a:xfrm>
          <a:prstGeom prst="line">
            <a:avLst/>
          </a:prstGeom>
          <a:noFill/>
          <a:ln w="19050">
            <a:solidFill>
              <a:srgbClr val="5E7C7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798064" y="5129784"/>
            <a:ext cx="457200" cy="-896112"/>
          </a:xfrm>
          <a:prstGeom prst="line">
            <a:avLst/>
          </a:prstGeom>
          <a:noFill/>
          <a:ln w="15240">
            <a:solidFill>
              <a:srgbClr val="D6D0C4"/>
            </a:solidFill>
            <a:prstDash val="dash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398264" y="5129784"/>
            <a:ext cx="457200" cy="-896112"/>
          </a:xfrm>
          <a:prstGeom prst="line">
            <a:avLst/>
          </a:prstGeom>
          <a:noFill/>
          <a:ln w="15240">
            <a:solidFill>
              <a:srgbClr val="D6D0C4"/>
            </a:solidFill>
            <a:prstDash val="dash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998464" y="5129784"/>
            <a:ext cx="457200" cy="-896112"/>
          </a:xfrm>
          <a:prstGeom prst="line">
            <a:avLst/>
          </a:prstGeom>
          <a:noFill/>
          <a:ln w="15240">
            <a:solidFill>
              <a:srgbClr val="D6D0C4"/>
            </a:solidFill>
            <a:prstDash val="dash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598664" y="5129784"/>
            <a:ext cx="457200" cy="-896112"/>
          </a:xfrm>
          <a:prstGeom prst="line">
            <a:avLst/>
          </a:prstGeom>
          <a:noFill/>
          <a:ln w="15240">
            <a:solidFill>
              <a:srgbClr val="D6D0C4"/>
            </a:solidFill>
            <a:prstDash val="dash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198864" y="5129784"/>
            <a:ext cx="457200" cy="-896112"/>
          </a:xfrm>
          <a:prstGeom prst="line">
            <a:avLst/>
          </a:prstGeom>
          <a:noFill/>
          <a:ln w="15240">
            <a:solidFill>
              <a:srgbClr val="D6D0C4"/>
            </a:solidFill>
            <a:prstDash val="dash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799064" y="5129784"/>
            <a:ext cx="457200" cy="-896112"/>
          </a:xfrm>
          <a:prstGeom prst="line">
            <a:avLst/>
          </a:prstGeom>
          <a:noFill/>
          <a:ln w="15240">
            <a:solidFill>
              <a:srgbClr val="D6D0C4"/>
            </a:solidFill>
            <a:prstDash val="dash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377440" y="2157984"/>
            <a:ext cx="859536" cy="530352"/>
          </a:xfrm>
          <a:prstGeom prst="roundRect">
            <a:avLst>
              <a:gd name="adj" fmla="val 13793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23160" y="2331720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提出需求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2377440" y="3511296"/>
            <a:ext cx="859536" cy="530352"/>
          </a:xfrm>
          <a:prstGeom prst="roundRect">
            <a:avLst>
              <a:gd name="adj" fmla="val 13793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23160" y="3685032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5E7C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連接資料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2377440" y="4864608"/>
            <a:ext cx="859536" cy="530352"/>
          </a:xfrm>
          <a:prstGeom prst="roundRect">
            <a:avLst>
              <a:gd name="adj" fmla="val 13793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23160" y="5038344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99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ERP / CRM / BI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3977640" y="2157984"/>
            <a:ext cx="859536" cy="530352"/>
          </a:xfrm>
          <a:prstGeom prst="roundRect">
            <a:avLst>
              <a:gd name="adj" fmla="val 13793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23360" y="2331720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確認範圍</a:t>
            </a:r>
            <a:endParaRPr lang="en-US" sz="940" dirty="0"/>
          </a:p>
        </p:txBody>
      </p:sp>
      <p:sp>
        <p:nvSpPr>
          <p:cNvPr id="43" name="Shape 41"/>
          <p:cNvSpPr/>
          <p:nvPr/>
        </p:nvSpPr>
        <p:spPr>
          <a:xfrm>
            <a:off x="3977640" y="3511296"/>
            <a:ext cx="859536" cy="530352"/>
          </a:xfrm>
          <a:prstGeom prst="roundRect">
            <a:avLst>
              <a:gd name="adj" fmla="val 13793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23360" y="3685032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5E7C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標準化</a:t>
            </a:r>
            <a:endParaRPr lang="en-US" sz="940" dirty="0"/>
          </a:p>
        </p:txBody>
      </p:sp>
      <p:sp>
        <p:nvSpPr>
          <p:cNvPr id="45" name="Shape 43"/>
          <p:cNvSpPr/>
          <p:nvPr/>
        </p:nvSpPr>
        <p:spPr>
          <a:xfrm>
            <a:off x="3977640" y="4864608"/>
            <a:ext cx="859536" cy="530352"/>
          </a:xfrm>
          <a:prstGeom prst="roundRect">
            <a:avLst>
              <a:gd name="adj" fmla="val 13793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23360" y="5038344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99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 / 郵件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5577840" y="2157984"/>
            <a:ext cx="859536" cy="530352"/>
          </a:xfrm>
          <a:prstGeom prst="roundRect">
            <a:avLst>
              <a:gd name="adj" fmla="val 13793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23560" y="2331720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審閱洞察</a:t>
            </a:r>
            <a:endParaRPr lang="en-US" sz="940" dirty="0"/>
          </a:p>
        </p:txBody>
      </p:sp>
      <p:sp>
        <p:nvSpPr>
          <p:cNvPr id="49" name="Shape 47"/>
          <p:cNvSpPr/>
          <p:nvPr/>
        </p:nvSpPr>
        <p:spPr>
          <a:xfrm>
            <a:off x="5577840" y="3511296"/>
            <a:ext cx="859536" cy="530352"/>
          </a:xfrm>
          <a:prstGeom prst="roundRect">
            <a:avLst>
              <a:gd name="adj" fmla="val 13793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23560" y="3685032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5E7C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 / 排序</a:t>
            </a:r>
            <a:endParaRPr lang="en-US" sz="940" dirty="0"/>
          </a:p>
        </p:txBody>
      </p:sp>
      <p:sp>
        <p:nvSpPr>
          <p:cNvPr id="51" name="Shape 49"/>
          <p:cNvSpPr/>
          <p:nvPr/>
        </p:nvSpPr>
        <p:spPr>
          <a:xfrm>
            <a:off x="5577840" y="4864608"/>
            <a:ext cx="859536" cy="530352"/>
          </a:xfrm>
          <a:prstGeom prst="roundRect">
            <a:avLst>
              <a:gd name="adj" fmla="val 13793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23560" y="5038344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99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規則庫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7178040" y="2157984"/>
            <a:ext cx="859536" cy="530352"/>
          </a:xfrm>
          <a:prstGeom prst="roundRect">
            <a:avLst>
              <a:gd name="adj" fmla="val 13793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23760" y="2331720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補充上下文</a:t>
            </a:r>
            <a:endParaRPr lang="en-US" sz="940" dirty="0"/>
          </a:p>
        </p:txBody>
      </p:sp>
      <p:sp>
        <p:nvSpPr>
          <p:cNvPr id="55" name="Shape 53"/>
          <p:cNvSpPr/>
          <p:nvPr/>
        </p:nvSpPr>
        <p:spPr>
          <a:xfrm>
            <a:off x="7178040" y="3511296"/>
            <a:ext cx="859536" cy="530352"/>
          </a:xfrm>
          <a:prstGeom prst="roundRect">
            <a:avLst>
              <a:gd name="adj" fmla="val 13793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23760" y="3685032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5E7C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生成草稿</a:t>
            </a:r>
            <a:endParaRPr lang="en-US" sz="940" dirty="0"/>
          </a:p>
        </p:txBody>
      </p:sp>
      <p:sp>
        <p:nvSpPr>
          <p:cNvPr id="57" name="Shape 55"/>
          <p:cNvSpPr/>
          <p:nvPr/>
        </p:nvSpPr>
        <p:spPr>
          <a:xfrm>
            <a:off x="7178040" y="4864608"/>
            <a:ext cx="859536" cy="530352"/>
          </a:xfrm>
          <a:prstGeom prst="roundRect">
            <a:avLst>
              <a:gd name="adj" fmla="val 13793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23760" y="5038344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99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向量索引</a:t>
            </a:r>
            <a:endParaRPr lang="en-US" sz="920" dirty="0"/>
          </a:p>
        </p:txBody>
      </p:sp>
      <p:sp>
        <p:nvSpPr>
          <p:cNvPr id="59" name="Shape 57"/>
          <p:cNvSpPr/>
          <p:nvPr/>
        </p:nvSpPr>
        <p:spPr>
          <a:xfrm>
            <a:off x="8778240" y="2157984"/>
            <a:ext cx="859536" cy="530352"/>
          </a:xfrm>
          <a:prstGeom prst="roundRect">
            <a:avLst>
              <a:gd name="adj" fmla="val 13793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823960" y="2331720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核准輸出</a:t>
            </a:r>
            <a:endParaRPr lang="en-US" sz="940" dirty="0"/>
          </a:p>
        </p:txBody>
      </p:sp>
      <p:sp>
        <p:nvSpPr>
          <p:cNvPr id="61" name="Shape 59"/>
          <p:cNvSpPr/>
          <p:nvPr/>
        </p:nvSpPr>
        <p:spPr>
          <a:xfrm>
            <a:off x="8778240" y="3511296"/>
            <a:ext cx="859536" cy="530352"/>
          </a:xfrm>
          <a:prstGeom prst="roundRect">
            <a:avLst>
              <a:gd name="adj" fmla="val 13793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823960" y="3685032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5E7C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附上引用</a:t>
            </a:r>
            <a:endParaRPr lang="en-US" sz="940" dirty="0"/>
          </a:p>
        </p:txBody>
      </p:sp>
      <p:sp>
        <p:nvSpPr>
          <p:cNvPr id="63" name="Shape 61"/>
          <p:cNvSpPr/>
          <p:nvPr/>
        </p:nvSpPr>
        <p:spPr>
          <a:xfrm>
            <a:off x="8778240" y="4864608"/>
            <a:ext cx="859536" cy="530352"/>
          </a:xfrm>
          <a:prstGeom prst="roundRect">
            <a:avLst>
              <a:gd name="adj" fmla="val 13793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823960" y="5038344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99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版本 / 權限</a:t>
            </a:r>
            <a:endParaRPr lang="en-US" sz="920" dirty="0"/>
          </a:p>
        </p:txBody>
      </p:sp>
      <p:sp>
        <p:nvSpPr>
          <p:cNvPr id="65" name="Shape 63"/>
          <p:cNvSpPr/>
          <p:nvPr/>
        </p:nvSpPr>
        <p:spPr>
          <a:xfrm>
            <a:off x="10378440" y="2157984"/>
            <a:ext cx="859536" cy="530352"/>
          </a:xfrm>
          <a:prstGeom prst="roundRect">
            <a:avLst>
              <a:gd name="adj" fmla="val 13793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424160" y="2331720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使用結果</a:t>
            </a:r>
            <a:endParaRPr lang="en-US" sz="940" dirty="0"/>
          </a:p>
        </p:txBody>
      </p:sp>
      <p:sp>
        <p:nvSpPr>
          <p:cNvPr id="67" name="Shape 65"/>
          <p:cNvSpPr/>
          <p:nvPr/>
        </p:nvSpPr>
        <p:spPr>
          <a:xfrm>
            <a:off x="10378440" y="3511296"/>
            <a:ext cx="859536" cy="530352"/>
          </a:xfrm>
          <a:prstGeom prst="roundRect">
            <a:avLst>
              <a:gd name="adj" fmla="val 13793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424160" y="3685032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5E7C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回寫紀錄</a:t>
            </a:r>
            <a:endParaRPr lang="en-US" sz="940" dirty="0"/>
          </a:p>
        </p:txBody>
      </p:sp>
      <p:sp>
        <p:nvSpPr>
          <p:cNvPr id="69" name="Shape 67"/>
          <p:cNvSpPr/>
          <p:nvPr/>
        </p:nvSpPr>
        <p:spPr>
          <a:xfrm>
            <a:off x="10378440" y="4864608"/>
            <a:ext cx="859536" cy="530352"/>
          </a:xfrm>
          <a:prstGeom prst="roundRect">
            <a:avLst>
              <a:gd name="adj" fmla="val 13793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424160" y="5038344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99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 / 評估</a:t>
            </a:r>
            <a:endParaRPr lang="en-US" sz="920" dirty="0"/>
          </a:p>
        </p:txBody>
      </p:sp>
      <p:sp>
        <p:nvSpPr>
          <p:cNvPr id="71" name="Shape 69"/>
          <p:cNvSpPr/>
          <p:nvPr/>
        </p:nvSpPr>
        <p:spPr>
          <a:xfrm>
            <a:off x="786384" y="5650992"/>
            <a:ext cx="10972800" cy="420624"/>
          </a:xfrm>
          <a:prstGeom prst="roundRect">
            <a:avLst>
              <a:gd name="adj" fmla="val 17391"/>
            </a:avLst>
          </a:prstGeom>
          <a:solidFill>
            <a:srgbClr val="EFF1F3"/>
          </a:solidFill>
          <a:ln w="15240">
            <a:solidFill>
              <a:srgbClr val="EFF1F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05840" y="5788152"/>
            <a:ext cx="10561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核心差異：AI 不直接取代人，而是把「整理、對齊、初稿、留痕」從人手中拿走，讓人專注在判斷與決策。</a:t>
            </a:r>
            <a:endParaRPr lang="en-US" sz="11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108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AS-IS VS TO-BE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流程再造｜Before / After 比較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923544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8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比較前後流程，不只看速度，也看品質、可追溯性與可擴充性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10835640" cy="0"/>
          </a:xfrm>
          <a:prstGeom prst="line">
            <a:avLst/>
          </a:prstGeom>
          <a:noFill/>
          <a:ln w="12700">
            <a:solidFill>
              <a:srgbClr val="D6D0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420624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155680" y="4297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" y="1737360"/>
            <a:ext cx="5184648" cy="3886200"/>
          </a:xfrm>
          <a:prstGeom prst="roundRect">
            <a:avLst>
              <a:gd name="adj" fmla="val 1882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1737360"/>
            <a:ext cx="5184648" cy="201168"/>
          </a:xfrm>
          <a:prstGeom prst="rect">
            <a:avLst/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755648"/>
            <a:ext cx="4928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As-Is｜人工主導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9632" y="1737360"/>
            <a:ext cx="5184648" cy="3886200"/>
          </a:xfrm>
          <a:prstGeom prst="roundRect">
            <a:avLst>
              <a:gd name="adj" fmla="val 1882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9632" y="1737360"/>
            <a:ext cx="5184648" cy="201168"/>
          </a:xfrm>
          <a:prstGeom prst="rect">
            <a:avLst/>
          </a:prstGeom>
          <a:solidFill>
            <a:srgbClr val="5E7C76"/>
          </a:solidFill>
          <a:ln w="12700">
            <a:solidFill>
              <a:srgbClr val="5E7C7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1755648"/>
            <a:ext cx="4928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To-Be｜AI+ 人工覆核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9264" y="22128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啟動方式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1975104" y="2212848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收到需求後再手動找資料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364224" y="22128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5E7C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啟動方式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7370064" y="2212848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由模板 / 指令觸發，自動拉取既有來源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950976" y="2569464"/>
            <a:ext cx="4828032" cy="0"/>
          </a:xfrm>
          <a:prstGeom prst="line">
            <a:avLst/>
          </a:prstGeom>
          <a:noFill/>
          <a:ln w="10160">
            <a:solidFill>
              <a:srgbClr val="D6D0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45936" y="2569464"/>
            <a:ext cx="4828032" cy="0"/>
          </a:xfrm>
          <a:prstGeom prst="line">
            <a:avLst/>
          </a:prstGeom>
          <a:noFill/>
          <a:ln w="10160">
            <a:solidFill>
              <a:srgbClr val="D6D0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29626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資料處理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1975104" y="296265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人工整併與對帳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6364224" y="29626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5E7C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資料處理</a:t>
            </a:r>
            <a:endParaRPr lang="en-US" sz="1140" dirty="0"/>
          </a:p>
        </p:txBody>
      </p:sp>
      <p:sp>
        <p:nvSpPr>
          <p:cNvPr id="25" name="Text 23"/>
          <p:cNvSpPr/>
          <p:nvPr/>
        </p:nvSpPr>
        <p:spPr>
          <a:xfrm>
            <a:off x="7370064" y="296265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欄位映射 + 規則庫自動對齊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950976" y="3319272"/>
            <a:ext cx="4828032" cy="0"/>
          </a:xfrm>
          <a:prstGeom prst="line">
            <a:avLst/>
          </a:prstGeom>
          <a:noFill/>
          <a:ln w="10160">
            <a:solidFill>
              <a:srgbClr val="D6D0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45936" y="3319272"/>
            <a:ext cx="4828032" cy="0"/>
          </a:xfrm>
          <a:prstGeom prst="line">
            <a:avLst/>
          </a:prstGeom>
          <a:noFill/>
          <a:ln w="10160">
            <a:solidFill>
              <a:srgbClr val="D6D0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9264" y="37124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洞察形成</a:t>
            </a:r>
            <a:endParaRPr lang="en-US" sz="1140" dirty="0"/>
          </a:p>
        </p:txBody>
      </p:sp>
      <p:sp>
        <p:nvSpPr>
          <p:cNvPr id="29" name="Text 27"/>
          <p:cNvSpPr/>
          <p:nvPr/>
        </p:nvSpPr>
        <p:spPr>
          <a:xfrm>
            <a:off x="1975104" y="3712464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靠分析師逐表掃描、整理重點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6364224" y="37124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5E7C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洞察形成</a:t>
            </a:r>
            <a:endParaRPr lang="en-US" sz="1140" dirty="0"/>
          </a:p>
        </p:txBody>
      </p:sp>
      <p:sp>
        <p:nvSpPr>
          <p:cNvPr id="31" name="Text 29"/>
          <p:cNvSpPr/>
          <p:nvPr/>
        </p:nvSpPr>
        <p:spPr>
          <a:xfrm>
            <a:off x="7370064" y="3712464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先產出異常排序與初稿，人做判斷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950976" y="4069080"/>
            <a:ext cx="4828032" cy="0"/>
          </a:xfrm>
          <a:prstGeom prst="line">
            <a:avLst/>
          </a:prstGeom>
          <a:noFill/>
          <a:ln w="10160">
            <a:solidFill>
              <a:srgbClr val="D6D0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45936" y="4069080"/>
            <a:ext cx="4828032" cy="0"/>
          </a:xfrm>
          <a:prstGeom prst="line">
            <a:avLst/>
          </a:prstGeom>
          <a:noFill/>
          <a:ln w="10160">
            <a:solidFill>
              <a:srgbClr val="D6D0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9264" y="44622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審核交付</a:t>
            </a:r>
            <a:endParaRPr lang="en-US" sz="1140" dirty="0"/>
          </a:p>
        </p:txBody>
      </p:sp>
      <p:sp>
        <p:nvSpPr>
          <p:cNvPr id="35" name="Text 33"/>
          <p:cNvSpPr/>
          <p:nvPr/>
        </p:nvSpPr>
        <p:spPr>
          <a:xfrm>
            <a:off x="1975104" y="4462272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版本來回，差異難追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6364224" y="44622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5E7C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審核交付</a:t>
            </a:r>
            <a:endParaRPr lang="en-US" sz="1140" dirty="0"/>
          </a:p>
        </p:txBody>
      </p:sp>
      <p:sp>
        <p:nvSpPr>
          <p:cNvPr id="37" name="Text 35"/>
          <p:cNvSpPr/>
          <p:nvPr/>
        </p:nvSpPr>
        <p:spPr>
          <a:xfrm>
            <a:off x="7370064" y="4462272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每次修改可留痕並附引用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950976" y="4818888"/>
            <a:ext cx="4828032" cy="0"/>
          </a:xfrm>
          <a:prstGeom prst="line">
            <a:avLst/>
          </a:prstGeom>
          <a:noFill/>
          <a:ln w="10160">
            <a:solidFill>
              <a:srgbClr val="D6D0C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45936" y="4818888"/>
            <a:ext cx="4828032" cy="0"/>
          </a:xfrm>
          <a:prstGeom prst="line">
            <a:avLst/>
          </a:prstGeom>
          <a:noFill/>
          <a:ln w="10160">
            <a:solidFill>
              <a:srgbClr val="D6D0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9264" y="52120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擴充能力</a:t>
            </a:r>
            <a:endParaRPr lang="en-US" sz="1140" dirty="0"/>
          </a:p>
        </p:txBody>
      </p:sp>
      <p:sp>
        <p:nvSpPr>
          <p:cNvPr id="41" name="Text 39"/>
          <p:cNvSpPr/>
          <p:nvPr/>
        </p:nvSpPr>
        <p:spPr>
          <a:xfrm>
            <a:off x="1975104" y="5212080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高度依賴少數資深人員</a:t>
            </a:r>
            <a:endParaRPr lang="en-US" sz="1080" dirty="0"/>
          </a:p>
        </p:txBody>
      </p:sp>
      <p:sp>
        <p:nvSpPr>
          <p:cNvPr id="42" name="Text 40"/>
          <p:cNvSpPr/>
          <p:nvPr/>
        </p:nvSpPr>
        <p:spPr>
          <a:xfrm>
            <a:off x="6364224" y="52120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5E7C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擴充能力</a:t>
            </a:r>
            <a:endParaRPr lang="en-US" sz="1140" dirty="0"/>
          </a:p>
        </p:txBody>
      </p:sp>
      <p:sp>
        <p:nvSpPr>
          <p:cNvPr id="43" name="Text 41"/>
          <p:cNvSpPr/>
          <p:nvPr/>
        </p:nvSpPr>
        <p:spPr>
          <a:xfrm>
            <a:off x="7370064" y="5212080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可複製到更多報表與更多團隊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950976" y="5568696"/>
            <a:ext cx="4828032" cy="0"/>
          </a:xfrm>
          <a:prstGeom prst="line">
            <a:avLst/>
          </a:prstGeom>
          <a:noFill/>
          <a:ln w="10160">
            <a:solidFill>
              <a:srgbClr val="D6D0C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45936" y="5568696"/>
            <a:ext cx="4828032" cy="0"/>
          </a:xfrm>
          <a:prstGeom prst="line">
            <a:avLst/>
          </a:prstGeom>
          <a:noFill/>
          <a:ln w="10160">
            <a:solidFill>
              <a:srgbClr val="D6D0C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4672" y="5742432"/>
            <a:ext cx="10579608" cy="310896"/>
          </a:xfrm>
          <a:prstGeom prst="roundRect">
            <a:avLst>
              <a:gd name="adj" fmla="val 23529"/>
            </a:avLst>
          </a:prstGeom>
          <a:solidFill>
            <a:srgbClr val="F5E8D3"/>
          </a:solidFill>
          <a:ln w="15240">
            <a:solidFill>
              <a:srgbClr val="F5E8D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78992" y="5824728"/>
            <a:ext cx="10012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流程再造的本質不是「更快寫報告」，而是把流程變成可標準化、可回查、可持續優化的 AI-ready 工作系統。</a:t>
            </a:r>
            <a:endParaRPr lang="en-US" sz="12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108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OPERATING MODEL AND GOVERNANCE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新流程的營運機制與治理閉環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923544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8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導入 AI 之後，必須同步建立角色分工、版本治理與評估節奏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10835640" cy="0"/>
          </a:xfrm>
          <a:prstGeom prst="line">
            <a:avLst/>
          </a:prstGeom>
          <a:noFill/>
          <a:ln w="12700">
            <a:solidFill>
              <a:srgbClr val="D6D0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420624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155680" y="4297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0" y="3337560"/>
            <a:ext cx="1417320" cy="0"/>
          </a:xfrm>
          <a:prstGeom prst="line">
            <a:avLst/>
          </a:prstGeom>
          <a:noFill/>
          <a:ln w="20320">
            <a:solidFill>
              <a:srgbClr val="D6D0C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623560" y="3337560"/>
            <a:ext cx="1325880" cy="0"/>
          </a:xfrm>
          <a:prstGeom prst="line">
            <a:avLst/>
          </a:prstGeom>
          <a:noFill/>
          <a:ln w="20320">
            <a:solidFill>
              <a:srgbClr val="D6D0C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75320" y="3337560"/>
            <a:ext cx="1298448" cy="0"/>
          </a:xfrm>
          <a:prstGeom prst="line">
            <a:avLst/>
          </a:prstGeom>
          <a:noFill/>
          <a:ln w="20320">
            <a:solidFill>
              <a:srgbClr val="D6D0C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241280" y="3657600"/>
            <a:ext cx="-8046720" cy="1554480"/>
          </a:xfrm>
          <a:prstGeom prst="line">
            <a:avLst/>
          </a:prstGeom>
          <a:noFill/>
          <a:ln w="15240">
            <a:solidFill>
              <a:srgbClr val="D6D0C4"/>
            </a:solidFill>
            <a:prstDash val="dash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60120" y="2633472"/>
            <a:ext cx="1783080" cy="1325880"/>
          </a:xfrm>
          <a:prstGeom prst="roundRect">
            <a:avLst>
              <a:gd name="adj" fmla="val 5517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627632" y="2798064"/>
            <a:ext cx="438912" cy="438912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334670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 owner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1097280" y="36210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定義範圍、KPI、輸出模板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3840480" y="2633472"/>
            <a:ext cx="1783080" cy="1325880"/>
          </a:xfrm>
          <a:prstGeom prst="roundRect">
            <a:avLst>
              <a:gd name="adj" fmla="val 5517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07992" y="2798064"/>
            <a:ext cx="438912" cy="438912"/>
          </a:xfrm>
          <a:prstGeom prst="ellipse">
            <a:avLst/>
          </a:prstGeom>
          <a:solidFill>
            <a:srgbClr val="5E7C76"/>
          </a:solidFill>
          <a:ln w="12700">
            <a:solidFill>
              <a:srgbClr val="5E7C7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05072" y="334670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5E7C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服務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3977640" y="36210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執行擷取、對齊、摘要、草稿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6629400" y="2633472"/>
            <a:ext cx="1783080" cy="1325880"/>
          </a:xfrm>
          <a:prstGeom prst="roundRect">
            <a:avLst>
              <a:gd name="adj" fmla="val 5517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96912" y="2798064"/>
            <a:ext cx="438912" cy="438912"/>
          </a:xfrm>
          <a:prstGeom prst="ellipse">
            <a:avLst/>
          </a:prstGeom>
          <a:solidFill>
            <a:srgbClr val="B9904F"/>
          </a:solidFill>
          <a:ln w="12700">
            <a:solidFill>
              <a:srgbClr val="B9904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3992" y="334670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B990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審核者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6766560" y="36210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確認數字、修正判斷、核准對外版本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9372600" y="2633472"/>
            <a:ext cx="1783080" cy="1325880"/>
          </a:xfrm>
          <a:prstGeom prst="roundRect">
            <a:avLst>
              <a:gd name="adj" fmla="val 5517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040112" y="2798064"/>
            <a:ext cx="438912" cy="438912"/>
          </a:xfrm>
          <a:prstGeom prst="ellipse">
            <a:avLst/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37192" y="334670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C85C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 / 評估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9509760" y="36210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追蹤修改率、準確率、採納率與失敗案例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841248" y="4590288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1248" y="4590288"/>
            <a:ext cx="5394960" cy="20116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9264" y="4608576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治理要件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42416" y="4919472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規則庫 / prompt 版本化
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高風險輸出需審批
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權限、留痕、例外處理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82512" y="4590288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82512" y="4590288"/>
            <a:ext cx="5394960" cy="201168"/>
          </a:xfrm>
          <a:prstGeom prst="rect">
            <a:avLst/>
          </a:prstGeom>
          <a:solidFill>
            <a:srgbClr val="5E7C76"/>
          </a:solidFill>
          <a:ln w="12700">
            <a:solidFill>
              <a:srgbClr val="5E7C76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0528" y="4608576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評估節奏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583680" y="4919472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每週看採納率與失敗案例
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每月更新測試集與口徑
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每季決定是否擴大自動化範圍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41248" y="5943600"/>
            <a:ext cx="10936224" cy="201168"/>
          </a:xfrm>
          <a:prstGeom prst="roundRect">
            <a:avLst>
              <a:gd name="adj" fmla="val 36364"/>
            </a:avLst>
          </a:prstGeom>
          <a:solidFill>
            <a:srgbClr val="EFF1F3"/>
          </a:solidFill>
          <a:ln w="15240">
            <a:solidFill>
              <a:srgbClr val="EFF1F3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108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4A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SCENARIO HANDOFF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場景說明書｜業務 / 功能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923544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8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以下內容可直接提供技術端，作為 PoC 需求定義與功能切分依據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10835640" cy="0"/>
          </a:xfrm>
          <a:prstGeom prst="line">
            <a:avLst/>
          </a:prstGeom>
          <a:noFill/>
          <a:ln w="12700">
            <a:solidFill>
              <a:srgbClr val="D6D0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420624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224A71"/>
          </a:solidFill>
          <a:ln w="12700">
            <a:solidFill>
              <a:srgbClr val="224A7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155680" y="4297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6384" y="1645920"/>
            <a:ext cx="5532120" cy="4526280"/>
          </a:xfrm>
          <a:prstGeom prst="roundRect">
            <a:avLst>
              <a:gd name="adj" fmla="val 1616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1645920"/>
            <a:ext cx="5532120" cy="201168"/>
          </a:xfrm>
          <a:prstGeom prst="rect">
            <a:avLst/>
          </a:prstGeom>
          <a:solidFill>
            <a:srgbClr val="224A71"/>
          </a:solidFill>
          <a:ln w="12700">
            <a:solidFill>
              <a:srgbClr val="224A7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664208"/>
            <a:ext cx="5276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場景基本資料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87552" y="19933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224A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場景名稱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2139696" y="1993392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營運週報 AI 助理（資料彙整 + 異常摘要 + 初稿生成）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969264" y="2249424"/>
            <a:ext cx="5047488" cy="0"/>
          </a:xfrm>
          <a:prstGeom prst="line">
            <a:avLst/>
          </a:prstGeom>
          <a:noFill/>
          <a:ln w="10160">
            <a:solidFill>
              <a:srgbClr val="D6D0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252374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224A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業務目標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2139696" y="2523744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縮短週報產出時間，提升一致性與可追溯性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969264" y="2779776"/>
            <a:ext cx="5047488" cy="0"/>
          </a:xfrm>
          <a:prstGeom prst="line">
            <a:avLst/>
          </a:prstGeom>
          <a:noFill/>
          <a:ln w="10160">
            <a:solidFill>
              <a:srgbClr val="D6D0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05409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224A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2139696" y="3054096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分析師、部門主管、營運 PM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969264" y="3310128"/>
            <a:ext cx="5047488" cy="0"/>
          </a:xfrm>
          <a:prstGeom prst="line">
            <a:avLst/>
          </a:prstGeom>
          <a:noFill/>
          <a:ln w="10160">
            <a:solidFill>
              <a:srgbClr val="D6D0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358444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224A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觸發條件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2139696" y="358444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每週固定時點 / 使用者手動下達任務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969264" y="3840480"/>
            <a:ext cx="5047488" cy="0"/>
          </a:xfrm>
          <a:prstGeom prst="line">
            <a:avLst/>
          </a:prstGeom>
          <a:noFill/>
          <a:ln w="10160">
            <a:solidFill>
              <a:srgbClr val="D6D0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411480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224A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2139696" y="4114800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結構化 KPI、歷史週報、會議紀要、規則字典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969264" y="4370832"/>
            <a:ext cx="5047488" cy="0"/>
          </a:xfrm>
          <a:prstGeom prst="line">
            <a:avLst/>
          </a:prstGeom>
          <a:noFill/>
          <a:ln w="10160">
            <a:solidFill>
              <a:srgbClr val="D6D0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" y="464515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224A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2139696" y="4645152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摘要頁、異常清單、行動建議、來源引用附錄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969264" y="4901184"/>
            <a:ext cx="5047488" cy="0"/>
          </a:xfrm>
          <a:prstGeom prst="line">
            <a:avLst/>
          </a:prstGeom>
          <a:noFill/>
          <a:ln w="10160">
            <a:solidFill>
              <a:srgbClr val="D6D0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56248" y="1645920"/>
            <a:ext cx="4572000" cy="4526280"/>
          </a:xfrm>
          <a:prstGeom prst="roundRect">
            <a:avLst>
              <a:gd name="adj" fmla="val 1616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56248" y="1645920"/>
            <a:ext cx="4572000" cy="201168"/>
          </a:xfrm>
          <a:prstGeom prst="rect">
            <a:avLst/>
          </a:prstGeom>
          <a:solidFill>
            <a:srgbClr val="5E7C76"/>
          </a:solidFill>
          <a:ln w="12700">
            <a:solidFill>
              <a:srgbClr val="5E7C7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84264" y="1664208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功能規格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766560" y="1956816"/>
            <a:ext cx="4133088" cy="877824"/>
          </a:xfrm>
          <a:prstGeom prst="roundRect">
            <a:avLst>
              <a:gd name="adj" fmla="val 6250"/>
            </a:avLst>
          </a:prstGeom>
          <a:solidFill>
            <a:srgbClr val="FFFDF9"/>
          </a:solidFill>
          <a:ln w="13970">
            <a:solidFill>
              <a:srgbClr val="5E7C7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0" y="1956816"/>
            <a:ext cx="4133088" cy="146304"/>
          </a:xfrm>
          <a:prstGeom prst="rect">
            <a:avLst/>
          </a:prstGeom>
          <a:solidFill>
            <a:srgbClr val="5E7C76"/>
          </a:solidFill>
          <a:ln w="12700">
            <a:solidFill>
              <a:srgbClr val="5E7C76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94576" y="2157984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7C76"/>
                </a:solidFill>
              </a:rPr>
              <a:t>1｜必要功能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94576" y="2386584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13F"/>
                </a:solidFill>
              </a:rPr>
              <a:t>資料連接、欄位映射、規則載入、摘要生成、引用輸出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766560" y="3035808"/>
            <a:ext cx="4133088" cy="877824"/>
          </a:xfrm>
          <a:prstGeom prst="roundRect">
            <a:avLst>
              <a:gd name="adj" fmla="val 6250"/>
            </a:avLst>
          </a:prstGeom>
          <a:solidFill>
            <a:srgbClr val="FFFDF9"/>
          </a:solidFill>
          <a:ln w="13970">
            <a:solidFill>
              <a:srgbClr val="B9904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66560" y="3035808"/>
            <a:ext cx="4133088" cy="146304"/>
          </a:xfrm>
          <a:prstGeom prst="rect">
            <a:avLst/>
          </a:prstGeom>
          <a:solidFill>
            <a:srgbClr val="B9904F"/>
          </a:solidFill>
          <a:ln w="12700">
            <a:solidFill>
              <a:srgbClr val="B9904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94576" y="323697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9904F"/>
                </a:solidFill>
              </a:rPr>
              <a:t>2｜人工節點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94576" y="3465576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13F"/>
                </a:solidFill>
              </a:rPr>
              <a:t>數字確認、敘事修正、核准發布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766560" y="4114800"/>
            <a:ext cx="4133088" cy="877824"/>
          </a:xfrm>
          <a:prstGeom prst="roundRect">
            <a:avLst>
              <a:gd name="adj" fmla="val 6250"/>
            </a:avLst>
          </a:prstGeom>
          <a:solidFill>
            <a:srgbClr val="FFFDF9"/>
          </a:solidFill>
          <a:ln w="13970">
            <a:solidFill>
              <a:srgbClr val="17324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66560" y="4114800"/>
            <a:ext cx="4133088" cy="14630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94576" y="4315968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3｜成功指標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94576" y="454456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13F"/>
                </a:solidFill>
              </a:rPr>
              <a:t>lead time、人工修改率、引用覆蓋率、採納率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766560" y="5193792"/>
            <a:ext cx="4133088" cy="877824"/>
          </a:xfrm>
          <a:prstGeom prst="roundRect">
            <a:avLst>
              <a:gd name="adj" fmla="val 6250"/>
            </a:avLst>
          </a:prstGeom>
          <a:solidFill>
            <a:srgbClr val="FFFDF9"/>
          </a:solidFill>
          <a:ln w="13970">
            <a:solidFill>
              <a:srgbClr val="C85C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66560" y="5193792"/>
            <a:ext cx="4133088" cy="146304"/>
          </a:xfrm>
          <a:prstGeom prst="rect">
            <a:avLst/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94576" y="5394960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C85C5C"/>
                </a:solidFill>
              </a:rPr>
              <a:t>4｜非目標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894576" y="5623560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13F"/>
                </a:solidFill>
              </a:rPr>
              <a:t>不做全自動決策、不直接對外發布未審核內容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108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4A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SCENARIO HANDOFF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場景說明書｜技術 / 架構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923544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8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技術端可依此切模組、定介面、安排驗證與治理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10835640" cy="0"/>
          </a:xfrm>
          <a:prstGeom prst="line">
            <a:avLst/>
          </a:prstGeom>
          <a:noFill/>
          <a:ln w="12700">
            <a:solidFill>
              <a:srgbClr val="D6D0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0" y="420624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224A71"/>
          </a:solidFill>
          <a:ln w="12700">
            <a:solidFill>
              <a:srgbClr val="224A7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155680" y="4297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40280" y="3063240"/>
            <a:ext cx="1005840" cy="0"/>
          </a:xfrm>
          <a:prstGeom prst="line">
            <a:avLst/>
          </a:prstGeom>
          <a:noFill/>
          <a:ln w="20320">
            <a:solidFill>
              <a:srgbClr val="D6D0C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87952" y="3063240"/>
            <a:ext cx="987552" cy="0"/>
          </a:xfrm>
          <a:prstGeom prst="line">
            <a:avLst/>
          </a:prstGeom>
          <a:noFill/>
          <a:ln w="20320">
            <a:solidFill>
              <a:srgbClr val="D6D0C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144768" y="3063240"/>
            <a:ext cx="1005840" cy="0"/>
          </a:xfrm>
          <a:prstGeom prst="line">
            <a:avLst/>
          </a:prstGeom>
          <a:noFill/>
          <a:ln w="20320">
            <a:solidFill>
              <a:srgbClr val="D6D0C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092440" y="3063240"/>
            <a:ext cx="1005840" cy="0"/>
          </a:xfrm>
          <a:prstGeom prst="line">
            <a:avLst/>
          </a:prstGeom>
          <a:noFill/>
          <a:ln w="20320">
            <a:solidFill>
              <a:srgbClr val="D6D0C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50992" y="3858768"/>
            <a:ext cx="0" cy="932688"/>
          </a:xfrm>
          <a:prstGeom prst="line">
            <a:avLst/>
          </a:prstGeom>
          <a:noFill/>
          <a:ln w="15240">
            <a:solidFill>
              <a:srgbClr val="D6D0C4"/>
            </a:solidFill>
            <a:prstDash val="dash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89520" y="3858768"/>
            <a:ext cx="0" cy="932688"/>
          </a:xfrm>
          <a:prstGeom prst="line">
            <a:avLst/>
          </a:prstGeom>
          <a:noFill/>
          <a:ln w="15240">
            <a:solidFill>
              <a:srgbClr val="D6D0C4"/>
            </a:solidFill>
            <a:prstDash val="dash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77824" y="2450592"/>
            <a:ext cx="1444752" cy="1243584"/>
          </a:xfrm>
          <a:prstGeom prst="roundRect">
            <a:avLst>
              <a:gd name="adj" fmla="val 5882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7824" y="2450592"/>
            <a:ext cx="1444752" cy="20116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4688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87552" y="2907792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ERP / CRM / BI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 / 郵件 / 紀要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2825496" y="2450592"/>
            <a:ext cx="1444752" cy="1243584"/>
          </a:xfrm>
          <a:prstGeom prst="roundRect">
            <a:avLst>
              <a:gd name="adj" fmla="val 5882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825496" y="2450592"/>
            <a:ext cx="1444752" cy="201168"/>
          </a:xfrm>
          <a:prstGeom prst="rect">
            <a:avLst/>
          </a:prstGeom>
          <a:solidFill>
            <a:srgbClr val="5E7C76"/>
          </a:solidFill>
          <a:ln w="12700">
            <a:solidFill>
              <a:srgbClr val="5E7C7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53512" y="24688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 / ETL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935224" y="2907792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擷取、清理、權限、欄位映射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782312" y="2450592"/>
            <a:ext cx="1444752" cy="1243584"/>
          </a:xfrm>
          <a:prstGeom prst="roundRect">
            <a:avLst>
              <a:gd name="adj" fmla="val 5882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82312" y="2450592"/>
            <a:ext cx="1444752" cy="201168"/>
          </a:xfrm>
          <a:prstGeom prst="rect">
            <a:avLst/>
          </a:prstGeom>
          <a:solidFill>
            <a:srgbClr val="B9904F"/>
          </a:solidFill>
          <a:ln w="12700">
            <a:solidFill>
              <a:srgbClr val="B9904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24688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編排層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92040" y="2907792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workflow orchestration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/ policy / fallback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6739128" y="2450592"/>
            <a:ext cx="1444752" cy="1243584"/>
          </a:xfrm>
          <a:prstGeom prst="roundRect">
            <a:avLst>
              <a:gd name="adj" fmla="val 5882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39128" y="2450592"/>
            <a:ext cx="1444752" cy="201168"/>
          </a:xfrm>
          <a:prstGeom prst="rect">
            <a:avLst/>
          </a:prstGeom>
          <a:solidFill>
            <a:srgbClr val="224A71"/>
          </a:solidFill>
          <a:ln w="12700">
            <a:solidFill>
              <a:srgbClr val="224A71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67144" y="24688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服務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848856" y="2907792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LLM、摘要、檢索、異常排序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8686800" y="2450592"/>
            <a:ext cx="1444752" cy="1243584"/>
          </a:xfrm>
          <a:prstGeom prst="roundRect">
            <a:avLst>
              <a:gd name="adj" fmla="val 5882"/>
            </a:avLst>
          </a:prstGeom>
          <a:solidFill>
            <a:srgbClr val="FFFDF9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686800" y="2450592"/>
            <a:ext cx="1444752" cy="201168"/>
          </a:xfrm>
          <a:prstGeom prst="rect">
            <a:avLst/>
          </a:prstGeom>
          <a:solidFill>
            <a:srgbClr val="5F8F6A"/>
          </a:solidFill>
          <a:ln w="12700">
            <a:solidFill>
              <a:srgbClr val="5F8F6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14816" y="24688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 / 交付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796528" y="2907792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Reviewer UI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報告輸出 / 任務回寫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4681728" y="4773168"/>
            <a:ext cx="1938528" cy="749808"/>
          </a:xfrm>
          <a:prstGeom prst="roundRect">
            <a:avLst>
              <a:gd name="adj" fmla="val 9756"/>
            </a:avLst>
          </a:prstGeom>
          <a:solidFill>
            <a:srgbClr val="DCEAE7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81728" y="4773168"/>
            <a:ext cx="1938528" cy="201168"/>
          </a:xfrm>
          <a:prstGeom prst="rect">
            <a:avLst/>
          </a:prstGeom>
          <a:solidFill>
            <a:srgbClr val="5E7C76"/>
          </a:solidFill>
          <a:ln w="12700">
            <a:solidFill>
              <a:srgbClr val="5E7C76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9744" y="4791456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 / 知識庫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46320" y="5047488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字典、口徑、例外規則、歷史範本</a:t>
            </a:r>
            <a:endParaRPr lang="en-US" sz="1010" dirty="0"/>
          </a:p>
        </p:txBody>
      </p:sp>
      <p:sp>
        <p:nvSpPr>
          <p:cNvPr id="40" name="Shape 38"/>
          <p:cNvSpPr/>
          <p:nvPr/>
        </p:nvSpPr>
        <p:spPr>
          <a:xfrm>
            <a:off x="6620256" y="4773168"/>
            <a:ext cx="1938528" cy="749808"/>
          </a:xfrm>
          <a:prstGeom prst="roundRect">
            <a:avLst>
              <a:gd name="adj" fmla="val 9756"/>
            </a:avLst>
          </a:prstGeom>
          <a:solidFill>
            <a:srgbClr val="F3D7D5"/>
          </a:solidFill>
          <a:ln w="15240">
            <a:solidFill>
              <a:srgbClr val="D6D0C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620256" y="4773168"/>
            <a:ext cx="1938528" cy="201168"/>
          </a:xfrm>
          <a:prstGeom prst="rect">
            <a:avLst/>
          </a:prstGeom>
          <a:solidFill>
            <a:srgbClr val="C85C5C"/>
          </a:solidFill>
          <a:ln w="12700">
            <a:solidFill>
              <a:srgbClr val="C85C5C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48272" y="4791456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 / Eval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793992" y="5047488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243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準確率、修改率、採納率、失敗案例</a:t>
            </a:r>
            <a:endParaRPr lang="en-US" sz="1010" dirty="0"/>
          </a:p>
        </p:txBody>
      </p:sp>
      <p:sp>
        <p:nvSpPr>
          <p:cNvPr id="44" name="Shape 42"/>
          <p:cNvSpPr/>
          <p:nvPr/>
        </p:nvSpPr>
        <p:spPr>
          <a:xfrm>
            <a:off x="786384" y="5623560"/>
            <a:ext cx="10972800" cy="493776"/>
          </a:xfrm>
          <a:prstGeom prst="roundRect">
            <a:avLst>
              <a:gd name="adj" fmla="val 14815"/>
            </a:avLst>
          </a:prstGeom>
          <a:solidFill>
            <a:srgbClr val="EFF1F3"/>
          </a:solidFill>
          <a:ln w="15240">
            <a:solidFill>
              <a:srgbClr val="EFF1F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0120" y="5779008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技術端交付清單：資料契約、API / connector、prompt template、規則庫 schema、權限策略、eval 套件、觀測儀表板。</a:t>
            </a:r>
            <a:endParaRPr lang="en-US" sz="11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AI+ 工作流程重構提案</dc:title>
  <dc:subject>AI+ workflow redesign proposal</dc:subject>
  <dc:creator>OpenAI</dc:creator>
  <cp:lastModifiedBy>OpenAI</cp:lastModifiedBy>
  <cp:revision>1</cp:revision>
  <dcterms:created xsi:type="dcterms:W3CDTF">2026-04-17T12:34:58Z</dcterms:created>
  <dcterms:modified xsi:type="dcterms:W3CDTF">2026-04-17T12:34:58Z</dcterms:modified>
</cp:coreProperties>
</file>