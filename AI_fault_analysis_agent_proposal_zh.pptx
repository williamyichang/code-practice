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Internal synthesis based on user requirements; no external sources.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5720"/>
            <a:ext cx="12188952" cy="5486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57416"/>
            <a:ext cx="12188952" cy="54864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PCF PAIN DISCOVERY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 PCF 盤點故障分析流程痛點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故障分析工作常卡在「資料散、判斷慢、經驗難複用」三件事。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450592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63440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76288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089136" y="26060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11480" y="1234440"/>
            <a:ext cx="2011680" cy="2971800"/>
          </a:xfrm>
          <a:prstGeom prst="roundRect">
            <a:avLst>
              <a:gd name="adj" fmla="val 3182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1380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01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48640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異常通報 / 分類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548640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Alarm、ticket、客訴或停機事件進線。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2660904"/>
            <a:ext cx="17373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807208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48640" y="30906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欄位不完整；缺少 lot / 機台 / 時間脈絡。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2624328" y="1234440"/>
            <a:ext cx="2011680" cy="2971800"/>
          </a:xfrm>
          <a:prstGeom prst="roundRect">
            <a:avLst>
              <a:gd name="adj" fmla="val 3182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1488" y="1380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761488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761488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資料蒐集 / 整併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2761488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拉取 log、SPC、recipe、維修與歷史 case。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761488" y="2660904"/>
            <a:ext cx="17373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61488" y="2807208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61488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61488" y="30906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資料跨系統；人工搬運；等待 IT 或工程師支援。</a:t>
            </a:r>
            <a:endParaRPr lang="en-US" sz="1070" dirty="0"/>
          </a:p>
        </p:txBody>
      </p:sp>
      <p:sp>
        <p:nvSpPr>
          <p:cNvPr id="29" name="Shape 27"/>
          <p:cNvSpPr/>
          <p:nvPr/>
        </p:nvSpPr>
        <p:spPr>
          <a:xfrm>
            <a:off x="4837176" y="1234440"/>
            <a:ext cx="2011680" cy="2971800"/>
          </a:xfrm>
          <a:prstGeom prst="roundRect">
            <a:avLst>
              <a:gd name="adj" fmla="val 3182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974336" y="1380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74336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74336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初判 / 案例比對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4974336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依經驗與既有 SOP 先做症狀判讀。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974336" y="2660904"/>
            <a:ext cx="17373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4974336" y="2807208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974336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4974336" y="30906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仰賴資深人員；同樣問題不同人有不同結論。</a:t>
            </a:r>
            <a:endParaRPr lang="en-US" sz="1070" dirty="0"/>
          </a:p>
        </p:txBody>
      </p:sp>
      <p:sp>
        <p:nvSpPr>
          <p:cNvPr id="38" name="Shape 36"/>
          <p:cNvSpPr/>
          <p:nvPr/>
        </p:nvSpPr>
        <p:spPr>
          <a:xfrm>
            <a:off x="7050024" y="1234440"/>
            <a:ext cx="2011680" cy="2971800"/>
          </a:xfrm>
          <a:prstGeom prst="roundRect">
            <a:avLst>
              <a:gd name="adj" fmla="val 3182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7187184" y="1380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87184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187184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根因追查 / 假設驗證</a:t>
            </a:r>
            <a:endParaRPr lang="en-US" sz="1450" dirty="0"/>
          </a:p>
        </p:txBody>
      </p:sp>
      <p:sp>
        <p:nvSpPr>
          <p:cNvPr id="42" name="Text 40"/>
          <p:cNvSpPr/>
          <p:nvPr/>
        </p:nvSpPr>
        <p:spPr>
          <a:xfrm>
            <a:off x="7187184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透過排除法建立可能原因與證據鏈。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7187184" y="2660904"/>
            <a:ext cx="17373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187184" y="2807208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87184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7187184" y="30906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分析迭代長；證據鏈分散；追查步驟不易復盤。</a:t>
            </a:r>
            <a:endParaRPr lang="en-US" sz="1070" dirty="0"/>
          </a:p>
        </p:txBody>
      </p:sp>
      <p:sp>
        <p:nvSpPr>
          <p:cNvPr id="47" name="Shape 45"/>
          <p:cNvSpPr/>
          <p:nvPr/>
        </p:nvSpPr>
        <p:spPr>
          <a:xfrm>
            <a:off x="9262872" y="1234440"/>
            <a:ext cx="2011680" cy="2971800"/>
          </a:xfrm>
          <a:prstGeom prst="roundRect">
            <a:avLst>
              <a:gd name="adj" fmla="val 3182"/>
            </a:avLst>
          </a:prstGeom>
          <a:solidFill>
            <a:srgbClr val="F2F1ED"/>
          </a:solidFill>
          <a:ln w="12700">
            <a:solidFill>
              <a:srgbClr val="5F738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400032" y="1380744"/>
            <a:ext cx="384048" cy="219456"/>
          </a:xfrm>
          <a:prstGeom prst="roundRect">
            <a:avLst>
              <a:gd name="adj" fmla="val 20833"/>
            </a:avLst>
          </a:prstGeom>
          <a:solidFill>
            <a:srgbClr val="5F7385"/>
          </a:solidFill>
          <a:ln w="12700">
            <a:solidFill>
              <a:srgbClr val="5F738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9400032" y="1399032"/>
            <a:ext cx="384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400032" y="170992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報告輸出 / 知識沉澱</a:t>
            </a:r>
            <a:endParaRPr lang="en-US" sz="1450" dirty="0"/>
          </a:p>
        </p:txBody>
      </p:sp>
      <p:sp>
        <p:nvSpPr>
          <p:cNvPr id="51" name="Text 49"/>
          <p:cNvSpPr/>
          <p:nvPr/>
        </p:nvSpPr>
        <p:spPr>
          <a:xfrm>
            <a:off x="9400032" y="2057400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產出報告、改善單，並回寫案例庫。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9400032" y="2660904"/>
            <a:ext cx="17373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00032" y="2807208"/>
            <a:ext cx="43891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400032" y="2825496"/>
            <a:ext cx="4389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痛點</a:t>
            </a:r>
            <a:endParaRPr lang="en-US" sz="900" dirty="0"/>
          </a:p>
        </p:txBody>
      </p:sp>
      <p:sp>
        <p:nvSpPr>
          <p:cNvPr id="55" name="Text 53"/>
          <p:cNvSpPr/>
          <p:nvPr/>
        </p:nvSpPr>
        <p:spPr>
          <a:xfrm>
            <a:off x="9400032" y="30906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報告格式不一；高價值經驗未被結構化保存。</a:t>
            </a:r>
            <a:endParaRPr lang="en-US" sz="1070" dirty="0"/>
          </a:p>
        </p:txBody>
      </p:sp>
      <p:sp>
        <p:nvSpPr>
          <p:cNvPr id="56" name="Shape 54"/>
          <p:cNvSpPr/>
          <p:nvPr/>
        </p:nvSpPr>
        <p:spPr>
          <a:xfrm>
            <a:off x="411480" y="4572000"/>
            <a:ext cx="11365992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21792" y="4773168"/>
            <a:ext cx="777240" cy="201168"/>
          </a:xfrm>
          <a:prstGeom prst="roundRect">
            <a:avLst>
              <a:gd name="adj" fmla="val 2272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21792" y="4791456"/>
            <a:ext cx="777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核心症狀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536192" y="4791456"/>
            <a:ext cx="4160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平均定位時間長、交班後資訊斷點、重複故障仍重做分析。</a:t>
            </a:r>
            <a:endParaRPr lang="en-US" sz="1110" dirty="0"/>
          </a:p>
        </p:txBody>
      </p:sp>
      <p:sp>
        <p:nvSpPr>
          <p:cNvPr id="60" name="Shape 58"/>
          <p:cNvSpPr/>
          <p:nvPr/>
        </p:nvSpPr>
        <p:spPr>
          <a:xfrm>
            <a:off x="5989320" y="4773168"/>
            <a:ext cx="822960" cy="201168"/>
          </a:xfrm>
          <a:prstGeom prst="roundRect">
            <a:avLst>
              <a:gd name="adj" fmla="val 22727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989320" y="479145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機會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6967728" y="4791456"/>
            <a:ext cx="4251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先把事件上下文、案例檢索與報告草稿做成標準能力，再交給工程師驗證與決策。</a:t>
            </a:r>
            <a:endParaRPr lang="en-US" sz="111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PCF HOTSPOT MAP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PCF 拆解後的痛點熱區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以流程分類框架拆解故障分析任務，辨識高摩擦、高等待與高不一致區段。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2560320" cy="384048"/>
          </a:xfrm>
          <a:prstGeom prst="roundRect">
            <a:avLst>
              <a:gd name="adj" fmla="val 1666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4632" y="1325880"/>
            <a:ext cx="2414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流程分類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026664" y="123444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9816" y="132588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人工投入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95928" y="123444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69080" y="132588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等待時間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965192" y="123444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38344" y="132588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資料分散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934456" y="123444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07608" y="132588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判斷一致性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903720" y="1234440"/>
            <a:ext cx="91440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976872" y="132588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可追溯性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872984" y="1234440"/>
            <a:ext cx="1234440" cy="384048"/>
          </a:xfrm>
          <a:prstGeom prst="roundRect">
            <a:avLst>
              <a:gd name="adj" fmla="val 16667"/>
            </a:avLst>
          </a:prstGeom>
          <a:solidFill>
            <a:srgbClr val="EFE9DE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46136" y="1325880"/>
            <a:ext cx="10881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設計優先級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11480" y="1709928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21208" y="181965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P1 事件接收與分類</a:t>
            </a:r>
            <a:endParaRPr lang="en-US" sz="1220" dirty="0"/>
          </a:p>
        </p:txBody>
      </p:sp>
      <p:sp>
        <p:nvSpPr>
          <p:cNvPr id="23" name="Shape 21"/>
          <p:cNvSpPr/>
          <p:nvPr/>
        </p:nvSpPr>
        <p:spPr>
          <a:xfrm>
            <a:off x="3026664" y="170992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026664" y="1764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3995928" y="170992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995928" y="1764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4965192" y="170992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65192" y="1764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5934456" y="170992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934456" y="1764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6903720" y="170992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03720" y="176479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872984" y="1709928"/>
            <a:ext cx="1234440" cy="438912"/>
          </a:xfrm>
          <a:prstGeom prst="roundRect">
            <a:avLst>
              <a:gd name="adj" fmla="val 14583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872984" y="181051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411480" y="2221992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1208" y="2331720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P2 資料整併與清理</a:t>
            </a:r>
            <a:endParaRPr lang="en-US" sz="1220" dirty="0"/>
          </a:p>
        </p:txBody>
      </p:sp>
      <p:sp>
        <p:nvSpPr>
          <p:cNvPr id="37" name="Shape 35"/>
          <p:cNvSpPr/>
          <p:nvPr/>
        </p:nvSpPr>
        <p:spPr>
          <a:xfrm>
            <a:off x="3026664" y="2221992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026664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39" name="Shape 37"/>
          <p:cNvSpPr/>
          <p:nvPr/>
        </p:nvSpPr>
        <p:spPr>
          <a:xfrm>
            <a:off x="3995928" y="2221992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995928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4965192" y="2221992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65192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5934456" y="2221992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934456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6903720" y="2221992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2276856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47" name="Shape 45"/>
          <p:cNvSpPr/>
          <p:nvPr/>
        </p:nvSpPr>
        <p:spPr>
          <a:xfrm>
            <a:off x="7872984" y="2221992"/>
            <a:ext cx="1234440" cy="438912"/>
          </a:xfrm>
          <a:prstGeom prst="roundRect">
            <a:avLst>
              <a:gd name="adj" fmla="val 14583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872984" y="2322576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411480" y="2734056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208" y="2843784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P3 症狀比對與案例檢索</a:t>
            </a:r>
            <a:endParaRPr lang="en-US" sz="1220" dirty="0"/>
          </a:p>
        </p:txBody>
      </p:sp>
      <p:sp>
        <p:nvSpPr>
          <p:cNvPr id="51" name="Shape 49"/>
          <p:cNvSpPr/>
          <p:nvPr/>
        </p:nvSpPr>
        <p:spPr>
          <a:xfrm>
            <a:off x="3026664" y="2734056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026664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3" name="Shape 51"/>
          <p:cNvSpPr/>
          <p:nvPr/>
        </p:nvSpPr>
        <p:spPr>
          <a:xfrm>
            <a:off x="3995928" y="2734056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995928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5" name="Shape 53"/>
          <p:cNvSpPr/>
          <p:nvPr/>
        </p:nvSpPr>
        <p:spPr>
          <a:xfrm>
            <a:off x="4965192" y="2734056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965192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934456" y="2734056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34456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59" name="Shape 57"/>
          <p:cNvSpPr/>
          <p:nvPr/>
        </p:nvSpPr>
        <p:spPr>
          <a:xfrm>
            <a:off x="6903720" y="2734056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903720" y="2788920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61" name="Shape 59"/>
          <p:cNvSpPr/>
          <p:nvPr/>
        </p:nvSpPr>
        <p:spPr>
          <a:xfrm>
            <a:off x="7872984" y="2734056"/>
            <a:ext cx="1234440" cy="438912"/>
          </a:xfrm>
          <a:prstGeom prst="roundRect">
            <a:avLst>
              <a:gd name="adj" fmla="val 14583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872984" y="2834640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411480" y="3246120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521208" y="3355848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P4 根因推論與假設驗證</a:t>
            </a:r>
            <a:endParaRPr lang="en-US" sz="1220" dirty="0"/>
          </a:p>
        </p:txBody>
      </p:sp>
      <p:sp>
        <p:nvSpPr>
          <p:cNvPr id="65" name="Shape 63"/>
          <p:cNvSpPr/>
          <p:nvPr/>
        </p:nvSpPr>
        <p:spPr>
          <a:xfrm>
            <a:off x="3026664" y="3246120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026664" y="33009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67" name="Shape 65"/>
          <p:cNvSpPr/>
          <p:nvPr/>
        </p:nvSpPr>
        <p:spPr>
          <a:xfrm>
            <a:off x="3995928" y="3246120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995928" y="33009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69" name="Shape 67"/>
          <p:cNvSpPr/>
          <p:nvPr/>
        </p:nvSpPr>
        <p:spPr>
          <a:xfrm>
            <a:off x="4965192" y="3246120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965192" y="33009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71" name="Shape 69"/>
          <p:cNvSpPr/>
          <p:nvPr/>
        </p:nvSpPr>
        <p:spPr>
          <a:xfrm>
            <a:off x="5934456" y="3246120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934456" y="33009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73" name="Shape 71"/>
          <p:cNvSpPr/>
          <p:nvPr/>
        </p:nvSpPr>
        <p:spPr>
          <a:xfrm>
            <a:off x="6903720" y="3246120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03720" y="3300984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75" name="Shape 73"/>
          <p:cNvSpPr/>
          <p:nvPr/>
        </p:nvSpPr>
        <p:spPr>
          <a:xfrm>
            <a:off x="7872984" y="3246120"/>
            <a:ext cx="1234440" cy="438912"/>
          </a:xfrm>
          <a:prstGeom prst="roundRect">
            <a:avLst>
              <a:gd name="adj" fmla="val 14583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872984" y="3346704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411480" y="3758184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521208" y="3867912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P5 處置建議與優先級判定</a:t>
            </a:r>
            <a:endParaRPr lang="en-US" sz="1220" dirty="0"/>
          </a:p>
        </p:txBody>
      </p:sp>
      <p:sp>
        <p:nvSpPr>
          <p:cNvPr id="79" name="Shape 77"/>
          <p:cNvSpPr/>
          <p:nvPr/>
        </p:nvSpPr>
        <p:spPr>
          <a:xfrm>
            <a:off x="3026664" y="3758184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3026664" y="3813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1" name="Shape 79"/>
          <p:cNvSpPr/>
          <p:nvPr/>
        </p:nvSpPr>
        <p:spPr>
          <a:xfrm>
            <a:off x="3995928" y="3758184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3995928" y="3813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3" name="Shape 81"/>
          <p:cNvSpPr/>
          <p:nvPr/>
        </p:nvSpPr>
        <p:spPr>
          <a:xfrm>
            <a:off x="4965192" y="3758184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965192" y="3813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5" name="Shape 83"/>
          <p:cNvSpPr/>
          <p:nvPr/>
        </p:nvSpPr>
        <p:spPr>
          <a:xfrm>
            <a:off x="5934456" y="3758184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934456" y="3813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7" name="Shape 85"/>
          <p:cNvSpPr/>
          <p:nvPr/>
        </p:nvSpPr>
        <p:spPr>
          <a:xfrm>
            <a:off x="6903720" y="3758184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903720" y="3813048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89" name="Shape 87"/>
          <p:cNvSpPr/>
          <p:nvPr/>
        </p:nvSpPr>
        <p:spPr>
          <a:xfrm>
            <a:off x="7872984" y="3758184"/>
            <a:ext cx="1234440" cy="438912"/>
          </a:xfrm>
          <a:prstGeom prst="roundRect">
            <a:avLst>
              <a:gd name="adj" fmla="val 14583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7872984" y="3858768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200" dirty="0"/>
          </a:p>
        </p:txBody>
      </p:sp>
      <p:sp>
        <p:nvSpPr>
          <p:cNvPr id="91" name="Shape 89"/>
          <p:cNvSpPr/>
          <p:nvPr/>
        </p:nvSpPr>
        <p:spPr>
          <a:xfrm>
            <a:off x="411480" y="4270248"/>
            <a:ext cx="256032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521208" y="4379976"/>
            <a:ext cx="234086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P6 報告輸出與知識沉澱</a:t>
            </a:r>
            <a:endParaRPr lang="en-US" sz="1220" dirty="0"/>
          </a:p>
        </p:txBody>
      </p:sp>
      <p:sp>
        <p:nvSpPr>
          <p:cNvPr id="93" name="Shape 91"/>
          <p:cNvSpPr/>
          <p:nvPr/>
        </p:nvSpPr>
        <p:spPr>
          <a:xfrm>
            <a:off x="3026664" y="427024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3026664" y="4325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95" name="Shape 93"/>
          <p:cNvSpPr/>
          <p:nvPr/>
        </p:nvSpPr>
        <p:spPr>
          <a:xfrm>
            <a:off x="3995928" y="427024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995928" y="4325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97" name="Shape 95"/>
          <p:cNvSpPr/>
          <p:nvPr/>
        </p:nvSpPr>
        <p:spPr>
          <a:xfrm>
            <a:off x="4965192" y="427024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4965192" y="4325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99" name="Shape 97"/>
          <p:cNvSpPr/>
          <p:nvPr/>
        </p:nvSpPr>
        <p:spPr>
          <a:xfrm>
            <a:off x="5934456" y="427024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934456" y="4325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101" name="Shape 99"/>
          <p:cNvSpPr/>
          <p:nvPr/>
        </p:nvSpPr>
        <p:spPr>
          <a:xfrm>
            <a:off x="6903720" y="4270248"/>
            <a:ext cx="914400" cy="438912"/>
          </a:xfrm>
          <a:prstGeom prst="roundRect">
            <a:avLst>
              <a:gd name="adj" fmla="val 14583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903720" y="4325112"/>
            <a:ext cx="914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800" dirty="0"/>
          </a:p>
        </p:txBody>
      </p:sp>
      <p:sp>
        <p:nvSpPr>
          <p:cNvPr id="103" name="Shape 101"/>
          <p:cNvSpPr/>
          <p:nvPr/>
        </p:nvSpPr>
        <p:spPr>
          <a:xfrm>
            <a:off x="7872984" y="4270248"/>
            <a:ext cx="1234440" cy="438912"/>
          </a:xfrm>
          <a:prstGeom prst="roundRect">
            <a:avLst>
              <a:gd name="adj" fmla="val 14583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872984" y="437083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200" dirty="0"/>
          </a:p>
        </p:txBody>
      </p:sp>
      <p:sp>
        <p:nvSpPr>
          <p:cNvPr id="105" name="Shape 103"/>
          <p:cNvSpPr/>
          <p:nvPr/>
        </p:nvSpPr>
        <p:spPr>
          <a:xfrm>
            <a:off x="411480" y="4736592"/>
            <a:ext cx="5715000" cy="1051560"/>
          </a:xfrm>
          <a:prstGeom prst="roundRect">
            <a:avLst>
              <a:gd name="adj" fmla="val 6087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66928" y="489204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熱點結論</a:t>
            </a:r>
            <a:endParaRPr lang="en-US" sz="1250" dirty="0"/>
          </a:p>
        </p:txBody>
      </p:sp>
      <p:sp>
        <p:nvSpPr>
          <p:cNvPr id="107" name="Text 105"/>
          <p:cNvSpPr/>
          <p:nvPr/>
        </p:nvSpPr>
        <p:spPr>
          <a:xfrm>
            <a:off x="566928" y="5138928"/>
            <a:ext cx="525780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最高價值區段集中在「資料整併」與「根因推論」兩段。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若先做事件標準化與案例檢索，可快速降低等待時間。</a:t>
            </a:r>
            <a:endParaRPr lang="en-US" sz="1120" dirty="0"/>
          </a:p>
          <a:p>
            <a:pPr marL="127000" indent="-127000">
              <a:buSzPct val="100000"/>
              <a:buChar char="•"/>
            </a:pPr>
            <a:r>
              <a:rPr lang="en-US" sz="11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知識沉澱雖非最痛，但決定 Agent 是否能越用越準。</a:t>
            </a:r>
            <a:endParaRPr lang="en-US" sz="1120" dirty="0"/>
          </a:p>
        </p:txBody>
      </p:sp>
      <p:sp>
        <p:nvSpPr>
          <p:cNvPr id="108" name="Shape 106"/>
          <p:cNvSpPr/>
          <p:nvPr/>
        </p:nvSpPr>
        <p:spPr>
          <a:xfrm>
            <a:off x="6309360" y="4736592"/>
            <a:ext cx="5468112" cy="1051560"/>
          </a:xfrm>
          <a:prstGeom prst="roundRect">
            <a:avLst>
              <a:gd name="adj" fmla="val 6087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6473952" y="4892040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圖例</a:t>
            </a:r>
            <a:endParaRPr lang="en-US" sz="1250" dirty="0"/>
          </a:p>
        </p:txBody>
      </p:sp>
      <p:sp>
        <p:nvSpPr>
          <p:cNvPr id="110" name="Text 108"/>
          <p:cNvSpPr/>
          <p:nvPr/>
        </p:nvSpPr>
        <p:spPr>
          <a:xfrm>
            <a:off x="6629400" y="52212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</a:t>
            </a:r>
            <a:endParaRPr lang="en-US" sz="1080" dirty="0"/>
          </a:p>
        </p:txBody>
      </p:sp>
      <p:sp>
        <p:nvSpPr>
          <p:cNvPr id="111" name="Text 109"/>
          <p:cNvSpPr/>
          <p:nvPr/>
        </p:nvSpPr>
        <p:spPr>
          <a:xfrm>
            <a:off x="7223760" y="52212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</a:t>
            </a:r>
            <a:endParaRPr lang="en-US" sz="1080" dirty="0"/>
          </a:p>
        </p:txBody>
      </p:sp>
      <p:sp>
        <p:nvSpPr>
          <p:cNvPr id="112" name="Text 110"/>
          <p:cNvSpPr/>
          <p:nvPr/>
        </p:nvSpPr>
        <p:spPr>
          <a:xfrm>
            <a:off x="7818120" y="5221224"/>
            <a:ext cx="2011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</a:t>
            </a:r>
            <a:endParaRPr lang="en-US" sz="1080" dirty="0"/>
          </a:p>
        </p:txBody>
      </p:sp>
      <p:sp>
        <p:nvSpPr>
          <p:cNvPr id="113" name="Text 111"/>
          <p:cNvSpPr/>
          <p:nvPr/>
        </p:nvSpPr>
        <p:spPr>
          <a:xfrm>
            <a:off x="8366760" y="5221224"/>
            <a:ext cx="2880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A：優先納入 MVP   B：第二階段納入</a:t>
            </a:r>
            <a:endParaRPr lang="en-US" sz="1090" dirty="0"/>
          </a:p>
        </p:txBody>
      </p:sp>
      <p:sp>
        <p:nvSpPr>
          <p:cNvPr id="114" name="Text 112"/>
          <p:cNvSpPr/>
          <p:nvPr/>
        </p:nvSpPr>
        <p:spPr>
          <a:xfrm>
            <a:off x="6464808" y="52120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300" dirty="0"/>
          </a:p>
        </p:txBody>
      </p:sp>
      <p:sp>
        <p:nvSpPr>
          <p:cNvPr id="115" name="Text 113"/>
          <p:cNvSpPr/>
          <p:nvPr/>
        </p:nvSpPr>
        <p:spPr>
          <a:xfrm>
            <a:off x="7059168" y="52120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7653528" y="5212080"/>
            <a:ext cx="128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ROOT CAUSE TO OPPORTUNITY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根因分析：從痛點走到 AI 設計機會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不是把整個流程都自動化，而是把最耗時、最易失真的節點交給 Agent。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03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380744" y="2240280"/>
            <a:ext cx="0" cy="10058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380744" y="3090672"/>
            <a:ext cx="0" cy="1097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392424" y="2240280"/>
            <a:ext cx="0" cy="10058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92424" y="3090672"/>
            <a:ext cx="0" cy="1097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04104" y="2240280"/>
            <a:ext cx="0" cy="10058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04104" y="3090672"/>
            <a:ext cx="0" cy="1097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15784" y="2240280"/>
            <a:ext cx="0" cy="10058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415784" y="3090672"/>
            <a:ext cx="0" cy="1097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427464" y="2240280"/>
            <a:ext cx="0" cy="100584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427464" y="3090672"/>
            <a:ext cx="0" cy="1097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1417320"/>
            <a:ext cx="1755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2648" y="15819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缺少事件上下文</a:t>
            </a:r>
            <a:endParaRPr lang="en-US" sz="1180" dirty="0"/>
          </a:p>
        </p:txBody>
      </p:sp>
      <p:sp>
        <p:nvSpPr>
          <p:cNvPr id="19" name="Shape 17"/>
          <p:cNvSpPr/>
          <p:nvPr/>
        </p:nvSpPr>
        <p:spPr>
          <a:xfrm>
            <a:off x="2514600" y="1417320"/>
            <a:ext cx="1755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24328" y="15819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找資料慢且散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4526280" y="1417320"/>
            <a:ext cx="1755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36008" y="15819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相似案例難查</a:t>
            </a:r>
            <a:endParaRPr lang="en-US" sz="1180" dirty="0"/>
          </a:p>
        </p:txBody>
      </p:sp>
      <p:sp>
        <p:nvSpPr>
          <p:cNvPr id="23" name="Shape 21"/>
          <p:cNvSpPr/>
          <p:nvPr/>
        </p:nvSpPr>
        <p:spPr>
          <a:xfrm>
            <a:off x="6537960" y="1417320"/>
            <a:ext cx="1755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647688" y="15819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根因假設不成鏈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8549640" y="1417320"/>
            <a:ext cx="1755648" cy="822960"/>
          </a:xfrm>
          <a:prstGeom prst="roundRect">
            <a:avLst>
              <a:gd name="adj" fmla="val 777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659368" y="1581912"/>
            <a:ext cx="15361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報告與知識回流弱</a:t>
            </a:r>
            <a:endParaRPr lang="en-US" sz="1180" dirty="0"/>
          </a:p>
        </p:txBody>
      </p:sp>
      <p:sp>
        <p:nvSpPr>
          <p:cNvPr id="27" name="Shape 25"/>
          <p:cNvSpPr/>
          <p:nvPr/>
        </p:nvSpPr>
        <p:spPr>
          <a:xfrm>
            <a:off x="429768" y="3200400"/>
            <a:ext cx="1901952" cy="1005840"/>
          </a:xfrm>
          <a:prstGeom prst="roundRect">
            <a:avLst>
              <a:gd name="adj" fmla="val 6364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39496" y="3401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事件摘要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自動補齊關鍵欄位</a:t>
            </a:r>
            <a:endParaRPr lang="en-US" sz="1180" dirty="0"/>
          </a:p>
        </p:txBody>
      </p:sp>
      <p:sp>
        <p:nvSpPr>
          <p:cNvPr id="29" name="Shape 27"/>
          <p:cNvSpPr/>
          <p:nvPr/>
        </p:nvSpPr>
        <p:spPr>
          <a:xfrm>
            <a:off x="2441448" y="3200400"/>
            <a:ext cx="1901952" cy="1005840"/>
          </a:xfrm>
          <a:prstGeom prst="roundRect">
            <a:avLst>
              <a:gd name="adj" fmla="val 6364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2551176" y="3401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多源資料整合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一鍵拉取關聯資訊</a:t>
            </a:r>
            <a:endParaRPr lang="en-US" sz="1180" dirty="0"/>
          </a:p>
        </p:txBody>
      </p:sp>
      <p:sp>
        <p:nvSpPr>
          <p:cNvPr id="31" name="Shape 29"/>
          <p:cNvSpPr/>
          <p:nvPr/>
        </p:nvSpPr>
        <p:spPr>
          <a:xfrm>
            <a:off x="4453128" y="3200400"/>
            <a:ext cx="1901952" cy="1005840"/>
          </a:xfrm>
          <a:prstGeom prst="roundRect">
            <a:avLst>
              <a:gd name="adj" fmla="val 6364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562856" y="3401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找相似故障</a:t>
            </a:r>
            <a:endParaRPr lang="en-US" sz="1180" dirty="0"/>
          </a:p>
        </p:txBody>
      </p:sp>
      <p:sp>
        <p:nvSpPr>
          <p:cNvPr id="33" name="Shape 31"/>
          <p:cNvSpPr/>
          <p:nvPr/>
        </p:nvSpPr>
        <p:spPr>
          <a:xfrm>
            <a:off x="6464808" y="3200400"/>
            <a:ext cx="1901952" cy="1005840"/>
          </a:xfrm>
          <a:prstGeom prst="roundRect">
            <a:avLst>
              <a:gd name="adj" fmla="val 6364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574536" y="3401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假設排序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附證據鏈與置信度</a:t>
            </a:r>
            <a:endParaRPr lang="en-US" sz="1180" dirty="0"/>
          </a:p>
        </p:txBody>
      </p:sp>
      <p:sp>
        <p:nvSpPr>
          <p:cNvPr id="35" name="Shape 33"/>
          <p:cNvSpPr/>
          <p:nvPr/>
        </p:nvSpPr>
        <p:spPr>
          <a:xfrm>
            <a:off x="8476488" y="3200400"/>
            <a:ext cx="1901952" cy="1005840"/>
          </a:xfrm>
          <a:prstGeom prst="roundRect">
            <a:avLst>
              <a:gd name="adj" fmla="val 6364"/>
            </a:avLst>
          </a:prstGeom>
          <a:solidFill>
            <a:srgbClr val="F2F1ED"/>
          </a:solidFill>
          <a:ln w="12700">
            <a:solidFill>
              <a:srgbClr val="5F738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8586216" y="3401568"/>
            <a:ext cx="16824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報告生成</a:t>
            </a:r>
            <a:endParaRPr lang="en-US" sz="1180" dirty="0"/>
          </a:p>
          <a:p>
            <a:pPr algn="ctr"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自動結構化回寫</a:t>
            </a:r>
            <a:endParaRPr lang="en-US" sz="1180" dirty="0"/>
          </a:p>
        </p:txBody>
      </p:sp>
      <p:sp>
        <p:nvSpPr>
          <p:cNvPr id="37" name="Shape 35"/>
          <p:cNvSpPr/>
          <p:nvPr/>
        </p:nvSpPr>
        <p:spPr>
          <a:xfrm>
            <a:off x="502920" y="4754880"/>
            <a:ext cx="11109960" cy="685800"/>
          </a:xfrm>
          <a:prstGeom prst="roundRect">
            <a:avLst>
              <a:gd name="adj" fmla="val 9333"/>
            </a:avLst>
          </a:prstGeom>
          <a:solidFill>
            <a:srgbClr val="FFFDF8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496519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設計前提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783080" y="4956048"/>
            <a:ext cx="9372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聚焦於「蒐集、檢索、判讀建議、輸出」四段；高風險決策（如停線、放行、參數變更）保留人工簽核。</a:t>
            </a:r>
            <a:endParaRPr lang="en-US" sz="11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 | INPUT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Canvas｜Input 評估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盤點故障分析 Agent 可用的資料來源，確認欄位完整性、權限與更新頻率。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2331720" cy="1600200"/>
          </a:xfrm>
          <a:prstGeom prst="roundRect">
            <a:avLst>
              <a:gd name="adj" fmla="val 4000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57784" y="1417320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5778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57784" y="17099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結構化資料</a:t>
            </a:r>
            <a:endParaRPr lang="en-US" sz="1360" dirty="0"/>
          </a:p>
        </p:txBody>
      </p:sp>
      <p:sp>
        <p:nvSpPr>
          <p:cNvPr id="11" name="Text 9"/>
          <p:cNvSpPr/>
          <p:nvPr/>
        </p:nvSpPr>
        <p:spPr>
          <a:xfrm>
            <a:off x="557784" y="20116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ticket、alarm code、機台 / lot / device id、工單、維修編碼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57784" y="2487168"/>
            <a:ext cx="2039112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" y="2606040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適合用於事件標準化與分案</a:t>
            </a:r>
            <a:endParaRPr lang="en-US" sz="1030" dirty="0"/>
          </a:p>
        </p:txBody>
      </p:sp>
      <p:sp>
        <p:nvSpPr>
          <p:cNvPr id="14" name="Shape 12"/>
          <p:cNvSpPr/>
          <p:nvPr/>
        </p:nvSpPr>
        <p:spPr>
          <a:xfrm>
            <a:off x="2880360" y="1280160"/>
            <a:ext cx="2331720" cy="1600200"/>
          </a:xfrm>
          <a:prstGeom prst="roundRect">
            <a:avLst>
              <a:gd name="adj" fmla="val 4000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026664" y="1417320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2666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026664" y="17099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半結構化資料</a:t>
            </a:r>
            <a:endParaRPr lang="en-US" sz="1360" dirty="0"/>
          </a:p>
        </p:txBody>
      </p:sp>
      <p:sp>
        <p:nvSpPr>
          <p:cNvPr id="18" name="Text 16"/>
          <p:cNvSpPr/>
          <p:nvPr/>
        </p:nvSpPr>
        <p:spPr>
          <a:xfrm>
            <a:off x="3026664" y="20116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log、CSV、SPC 摘要、sensor event、系統告警記錄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3026664" y="2487168"/>
            <a:ext cx="2039112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26664" y="2606040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需建立欄位對齊與時間戳正規化</a:t>
            </a:r>
            <a:endParaRPr lang="en-US" sz="1030" dirty="0"/>
          </a:p>
        </p:txBody>
      </p:sp>
      <p:sp>
        <p:nvSpPr>
          <p:cNvPr id="21" name="Shape 19"/>
          <p:cNvSpPr/>
          <p:nvPr/>
        </p:nvSpPr>
        <p:spPr>
          <a:xfrm>
            <a:off x="5349240" y="1280160"/>
            <a:ext cx="2331720" cy="1600200"/>
          </a:xfrm>
          <a:prstGeom prst="roundRect">
            <a:avLst>
              <a:gd name="adj" fmla="val 4000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95544" y="1417320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9554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495544" y="1709928"/>
            <a:ext cx="20391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非結構化資料</a:t>
            </a:r>
            <a:endParaRPr lang="en-US" sz="1360" dirty="0"/>
          </a:p>
        </p:txBody>
      </p:sp>
      <p:sp>
        <p:nvSpPr>
          <p:cNvPr id="25" name="Text 23"/>
          <p:cNvSpPr/>
          <p:nvPr/>
        </p:nvSpPr>
        <p:spPr>
          <a:xfrm>
            <a:off x="5495544" y="2011680"/>
            <a:ext cx="20391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維修紀錄、交班文字、客訴敘述、Email、8D 報告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5495544" y="2487168"/>
            <a:ext cx="2039112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95544" y="2606040"/>
            <a:ext cx="20391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可由 LLM 轉成事件摘要與證據片段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7818120" y="1280160"/>
            <a:ext cx="3044952" cy="1600200"/>
          </a:xfrm>
          <a:prstGeom prst="roundRect">
            <a:avLst>
              <a:gd name="adj" fmla="val 4000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964424" y="1417320"/>
            <a:ext cx="512064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64424" y="1435608"/>
            <a:ext cx="512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INPUT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64424" y="1709928"/>
            <a:ext cx="27523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知識來源</a:t>
            </a:r>
            <a:endParaRPr lang="en-US" sz="1360" dirty="0"/>
          </a:p>
        </p:txBody>
      </p:sp>
      <p:sp>
        <p:nvSpPr>
          <p:cNvPr id="32" name="Text 30"/>
          <p:cNvSpPr/>
          <p:nvPr/>
        </p:nvSpPr>
        <p:spPr>
          <a:xfrm>
            <a:off x="7964424" y="2011680"/>
            <a:ext cx="275234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SOP、FMEA、故障樹、歷史案例、FAQ、專家筆記</a:t>
            </a:r>
            <a:endParaRPr lang="en-US" sz="1080" dirty="0"/>
          </a:p>
        </p:txBody>
      </p:sp>
      <p:sp>
        <p:nvSpPr>
          <p:cNvPr id="33" name="Shape 31"/>
          <p:cNvSpPr/>
          <p:nvPr/>
        </p:nvSpPr>
        <p:spPr>
          <a:xfrm>
            <a:off x="7964424" y="2487168"/>
            <a:ext cx="2752344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964424" y="2606040"/>
            <a:ext cx="2752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i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適合建立檢索庫與建議規則</a:t>
            </a:r>
            <a:endParaRPr lang="en-US" sz="1030" dirty="0"/>
          </a:p>
        </p:txBody>
      </p:sp>
      <p:sp>
        <p:nvSpPr>
          <p:cNvPr id="35" name="Shape 33"/>
          <p:cNvSpPr/>
          <p:nvPr/>
        </p:nvSpPr>
        <p:spPr>
          <a:xfrm>
            <a:off x="411480" y="3200400"/>
            <a:ext cx="11365992" cy="1554480"/>
          </a:xfrm>
          <a:prstGeom prst="roundRect">
            <a:avLst>
              <a:gd name="adj" fmla="val 411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3504" y="3401568"/>
            <a:ext cx="1371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輸入成熟度檢查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40080" y="3730752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87552" y="3703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欄位標準化</a:t>
            </a:r>
            <a:endParaRPr lang="en-US" sz="1180" dirty="0"/>
          </a:p>
        </p:txBody>
      </p:sp>
      <p:sp>
        <p:nvSpPr>
          <p:cNvPr id="40" name="Text 38"/>
          <p:cNvSpPr/>
          <p:nvPr/>
        </p:nvSpPr>
        <p:spPr>
          <a:xfrm>
            <a:off x="640080" y="4005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至少要能穩定取得事件 id、設備 id、時間戳與故障代碼。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3383280" y="3730752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32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3730752" y="3703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權限與存取</a:t>
            </a:r>
            <a:endParaRPr lang="en-US" sz="1180" dirty="0"/>
          </a:p>
        </p:txBody>
      </p:sp>
      <p:sp>
        <p:nvSpPr>
          <p:cNvPr id="44" name="Text 42"/>
          <p:cNvSpPr/>
          <p:nvPr/>
        </p:nvSpPr>
        <p:spPr>
          <a:xfrm>
            <a:off x="3383280" y="4005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只讀取必要資料；敏感欄位需 masking 與 RBAC。</a:t>
            </a:r>
            <a:endParaRPr lang="en-US" sz="1060" dirty="0"/>
          </a:p>
        </p:txBody>
      </p:sp>
      <p:sp>
        <p:nvSpPr>
          <p:cNvPr id="45" name="Shape 43"/>
          <p:cNvSpPr/>
          <p:nvPr/>
        </p:nvSpPr>
        <p:spPr>
          <a:xfrm>
            <a:off x="6126480" y="3730752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1264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6473952" y="3703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資料新鮮度</a:t>
            </a:r>
            <a:endParaRPr lang="en-US" sz="1180" dirty="0"/>
          </a:p>
        </p:txBody>
      </p:sp>
      <p:sp>
        <p:nvSpPr>
          <p:cNvPr id="48" name="Text 46"/>
          <p:cNvSpPr/>
          <p:nvPr/>
        </p:nvSpPr>
        <p:spPr>
          <a:xfrm>
            <a:off x="6126480" y="4005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即時資料用於摘要；歷史資料用於檢索與比對。</a:t>
            </a:r>
            <a:endParaRPr lang="en-US" sz="1060" dirty="0"/>
          </a:p>
        </p:txBody>
      </p:sp>
      <p:sp>
        <p:nvSpPr>
          <p:cNvPr id="49" name="Shape 47"/>
          <p:cNvSpPr/>
          <p:nvPr/>
        </p:nvSpPr>
        <p:spPr>
          <a:xfrm>
            <a:off x="8869680" y="3730752"/>
            <a:ext cx="256032" cy="201168"/>
          </a:xfrm>
          <a:prstGeom prst="roundRect">
            <a:avLst>
              <a:gd name="adj" fmla="val 22727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869680" y="3749040"/>
            <a:ext cx="25603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9217152" y="37033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案例品質</a:t>
            </a:r>
            <a:endParaRPr lang="en-US" sz="1180" dirty="0"/>
          </a:p>
        </p:txBody>
      </p:sp>
      <p:sp>
        <p:nvSpPr>
          <p:cNvPr id="52" name="Text 50"/>
          <p:cNvSpPr/>
          <p:nvPr/>
        </p:nvSpPr>
        <p:spPr>
          <a:xfrm>
            <a:off x="8869680" y="4005072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歷史案例需標註結論、處置與是否驗證成功。</a:t>
            </a:r>
            <a:endParaRPr lang="en-US" sz="1060" dirty="0"/>
          </a:p>
        </p:txBody>
      </p:sp>
      <p:sp>
        <p:nvSpPr>
          <p:cNvPr id="53" name="Shape 51"/>
          <p:cNvSpPr/>
          <p:nvPr/>
        </p:nvSpPr>
        <p:spPr>
          <a:xfrm>
            <a:off x="411480" y="4983480"/>
            <a:ext cx="11365992" cy="420624"/>
          </a:xfrm>
          <a:prstGeom prst="roundRect">
            <a:avLst>
              <a:gd name="adj" fmla="val 15217"/>
            </a:avLst>
          </a:prstGeom>
          <a:solidFill>
            <a:srgbClr val="FFF7E8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4360" y="5102352"/>
            <a:ext cx="10927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結論：故障分析 Agent 的輸入不是單一表單，而是「結構化事件 + 非結構化案例知識 + 即時資料摘要」的組合。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 | PROCESS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Canvas｜Process 評估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以可分段、可驗證的方式設計 Agent 流程，避免一次做成黑盒判斷。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05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892808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538728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84648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30568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476488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122408" y="187452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02920" y="1417320"/>
            <a:ext cx="1325880" cy="14173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86968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94360" y="19019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事件標準化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612648" y="2212848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抽取關鍵欄位、補齊上下文</a:t>
            </a:r>
            <a:endParaRPr lang="en-US" sz="980" dirty="0"/>
          </a:p>
        </p:txBody>
      </p:sp>
      <p:sp>
        <p:nvSpPr>
          <p:cNvPr id="18" name="Shape 16"/>
          <p:cNvSpPr/>
          <p:nvPr/>
        </p:nvSpPr>
        <p:spPr>
          <a:xfrm>
            <a:off x="649224" y="2578608"/>
            <a:ext cx="1033272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" y="2596896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規則 + LLM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148840" y="1417320"/>
            <a:ext cx="1325880" cy="14173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32888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32888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240280" y="19019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資料蒐集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2258568" y="2212848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拉取 log / SPC / 工單 / 維修紀錄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2295144" y="2578608"/>
            <a:ext cx="1033272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295144" y="2596896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Tool calling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794760" y="1417320"/>
            <a:ext cx="1325880" cy="14173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178808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178808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3886200" y="19019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</a:t>
            </a:r>
            <a:endParaRPr lang="en-US" sz="1210" dirty="0"/>
          </a:p>
        </p:txBody>
      </p:sp>
      <p:sp>
        <p:nvSpPr>
          <p:cNvPr id="31" name="Text 29"/>
          <p:cNvSpPr/>
          <p:nvPr/>
        </p:nvSpPr>
        <p:spPr>
          <a:xfrm>
            <a:off x="3904488" y="2212848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找到相似故障與 SOP 片段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3941064" y="2578608"/>
            <a:ext cx="1033272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41064" y="2596896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/ 向量檢索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40680" y="1417320"/>
            <a:ext cx="1325880" cy="14173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824728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24728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5532120" y="19019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原因假設</a:t>
            </a:r>
            <a:endParaRPr lang="en-US" sz="1210" dirty="0"/>
          </a:p>
        </p:txBody>
      </p:sp>
      <p:sp>
        <p:nvSpPr>
          <p:cNvPr id="38" name="Text 36"/>
          <p:cNvSpPr/>
          <p:nvPr/>
        </p:nvSpPr>
        <p:spPr>
          <a:xfrm>
            <a:off x="5550408" y="2212848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 Top-N 根因與佐證</a:t>
            </a:r>
            <a:endParaRPr lang="en-US" sz="980" dirty="0"/>
          </a:p>
        </p:txBody>
      </p:sp>
      <p:sp>
        <p:nvSpPr>
          <p:cNvPr id="39" name="Shape 37"/>
          <p:cNvSpPr/>
          <p:nvPr/>
        </p:nvSpPr>
        <p:spPr>
          <a:xfrm>
            <a:off x="5586984" y="2578608"/>
            <a:ext cx="1033272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86984" y="2596896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 + reasoning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7086600" y="1417320"/>
            <a:ext cx="1325880" cy="14173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7470648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470648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178040" y="19019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風險排序</a:t>
            </a:r>
            <a:endParaRPr lang="en-US" sz="1210" dirty="0"/>
          </a:p>
        </p:txBody>
      </p:sp>
      <p:sp>
        <p:nvSpPr>
          <p:cNvPr id="45" name="Text 43"/>
          <p:cNvSpPr/>
          <p:nvPr/>
        </p:nvSpPr>
        <p:spPr>
          <a:xfrm>
            <a:off x="7196328" y="2212848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依影響度、頻率、可處置性排序</a:t>
            </a:r>
            <a:endParaRPr lang="en-US" sz="980" dirty="0"/>
          </a:p>
        </p:txBody>
      </p:sp>
      <p:sp>
        <p:nvSpPr>
          <p:cNvPr id="46" name="Shape 44"/>
          <p:cNvSpPr/>
          <p:nvPr/>
        </p:nvSpPr>
        <p:spPr>
          <a:xfrm>
            <a:off x="7232904" y="2578608"/>
            <a:ext cx="1033272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232904" y="2596896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Scoring / rule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8732520" y="1417320"/>
            <a:ext cx="1325880" cy="14173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9116568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16568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823960" y="19019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人工確認</a:t>
            </a:r>
            <a:endParaRPr lang="en-US" sz="1210" dirty="0"/>
          </a:p>
        </p:txBody>
      </p:sp>
      <p:sp>
        <p:nvSpPr>
          <p:cNvPr id="52" name="Text 50"/>
          <p:cNvSpPr/>
          <p:nvPr/>
        </p:nvSpPr>
        <p:spPr>
          <a:xfrm>
            <a:off x="8842248" y="2212848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工程師核對、補充現場資訊</a:t>
            </a:r>
            <a:endParaRPr lang="en-US" sz="980" dirty="0"/>
          </a:p>
        </p:txBody>
      </p:sp>
      <p:sp>
        <p:nvSpPr>
          <p:cNvPr id="53" name="Shape 51"/>
          <p:cNvSpPr/>
          <p:nvPr/>
        </p:nvSpPr>
        <p:spPr>
          <a:xfrm>
            <a:off x="8878824" y="2578608"/>
            <a:ext cx="1033272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878824" y="2596896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HITL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10378440" y="1417320"/>
            <a:ext cx="1325880" cy="1417320"/>
          </a:xfrm>
          <a:prstGeom prst="roundRect">
            <a:avLst>
              <a:gd name="adj" fmla="val 482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762488" y="1572768"/>
            <a:ext cx="548640" cy="210312"/>
          </a:xfrm>
          <a:prstGeom prst="roundRect">
            <a:avLst>
              <a:gd name="adj" fmla="val 21739"/>
            </a:avLst>
          </a:prstGeom>
          <a:solidFill>
            <a:srgbClr val="6E8E89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762488" y="1591056"/>
            <a:ext cx="548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7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0469880" y="1901952"/>
            <a:ext cx="1143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輸出封裝</a:t>
            </a:r>
            <a:endParaRPr lang="en-US" sz="1210" dirty="0"/>
          </a:p>
        </p:txBody>
      </p:sp>
      <p:sp>
        <p:nvSpPr>
          <p:cNvPr id="59" name="Text 57"/>
          <p:cNvSpPr/>
          <p:nvPr/>
        </p:nvSpPr>
        <p:spPr>
          <a:xfrm>
            <a:off x="10488168" y="2212848"/>
            <a:ext cx="11064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產出報告、行動建議、回寫案例</a:t>
            </a:r>
            <a:endParaRPr lang="en-US" sz="980" dirty="0"/>
          </a:p>
        </p:txBody>
      </p:sp>
      <p:sp>
        <p:nvSpPr>
          <p:cNvPr id="60" name="Shape 58"/>
          <p:cNvSpPr/>
          <p:nvPr/>
        </p:nvSpPr>
        <p:spPr>
          <a:xfrm>
            <a:off x="10524744" y="2578608"/>
            <a:ext cx="1033272" cy="164592"/>
          </a:xfrm>
          <a:prstGeom prst="roundRect">
            <a:avLst>
              <a:gd name="adj" fmla="val 27778"/>
            </a:avLst>
          </a:prstGeom>
          <a:solidFill>
            <a:srgbClr val="F2F1ED"/>
          </a:solidFill>
          <a:ln w="12700">
            <a:solidFill>
              <a:srgbClr val="F2F1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524744" y="2596896"/>
            <a:ext cx="103327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Template / API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411480" y="3337560"/>
            <a:ext cx="11365992" cy="1600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2648" y="3566160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Process 設計原則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1792" y="3886200"/>
            <a:ext cx="5577840" cy="7772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每一步都要可追溯：輸出須附上來源片段、時間戳與使用工具。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推論與檢索分開：先找證據，再做原因排序，降低幻覺風險。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保持 Human-in-the-loop：AI 可建議，不直接替代關鍵製程決策。</a:t>
            </a:r>
            <a:endParaRPr lang="en-US" sz="1130" dirty="0"/>
          </a:p>
          <a:p>
            <a:pPr marL="127000" indent="-127000">
              <a:buSzPct val="100000"/>
              <a:buChar char="•"/>
            </a:pPr>
            <a:r>
              <a:rPr lang="en-US" sz="113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所有結果可回寫：讓成功案例成為下一輪檢索與評估資料。</a:t>
            </a:r>
            <a:endParaRPr lang="en-US" sz="1130" dirty="0"/>
          </a:p>
        </p:txBody>
      </p:sp>
      <p:sp>
        <p:nvSpPr>
          <p:cNvPr id="65" name="Shape 63"/>
          <p:cNvSpPr/>
          <p:nvPr/>
        </p:nvSpPr>
        <p:spPr>
          <a:xfrm>
            <a:off x="6446520" y="3657600"/>
            <a:ext cx="5010912" cy="960120"/>
          </a:xfrm>
          <a:prstGeom prst="roundRect">
            <a:avLst>
              <a:gd name="adj" fmla="val 6667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56832" y="384048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人機協作邊界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656832" y="4133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負責蒐集、整理、檢索、排序；工程師保留驗證、放行、停線、參數變更與最終簽核。</a:t>
            </a:r>
            <a:endParaRPr lang="en-US" sz="10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 | OUTPUT / RISK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Canvas｜Output / Risk 評估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輸出要可被工程師直接使用；風險控制則必須與流程同步設計。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C65E5C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06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80160"/>
            <a:ext cx="6400800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1490472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Output 設計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1792" y="187452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0391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管理摘要</a:t>
            </a:r>
            <a:endParaRPr lang="en-US" sz="1230" dirty="0"/>
          </a:p>
        </p:txBody>
      </p:sp>
      <p:sp>
        <p:nvSpPr>
          <p:cNvPr id="11" name="Text 9"/>
          <p:cNvSpPr/>
          <p:nvPr/>
        </p:nvSpPr>
        <p:spPr>
          <a:xfrm>
            <a:off x="731520" y="231343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一句話說明症狀、影響範圍與當前狀態</a:t>
            </a:r>
            <a:endParaRPr lang="en-US" sz="1040" dirty="0"/>
          </a:p>
        </p:txBody>
      </p:sp>
      <p:sp>
        <p:nvSpPr>
          <p:cNvPr id="12" name="Shape 10"/>
          <p:cNvSpPr/>
          <p:nvPr/>
        </p:nvSpPr>
        <p:spPr>
          <a:xfrm>
            <a:off x="2697480" y="1874520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07208" y="2039112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原因排序</a:t>
            </a:r>
            <a:endParaRPr lang="en-US" sz="1230" dirty="0"/>
          </a:p>
        </p:txBody>
      </p:sp>
      <p:sp>
        <p:nvSpPr>
          <p:cNvPr id="14" name="Text 12"/>
          <p:cNvSpPr/>
          <p:nvPr/>
        </p:nvSpPr>
        <p:spPr>
          <a:xfrm>
            <a:off x="2807208" y="2313432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Top-N probable causes + 置信度 + 證據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4773168" y="1874520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2039112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行動建議</a:t>
            </a:r>
            <a:endParaRPr lang="en-US" sz="1230" dirty="0"/>
          </a:p>
        </p:txBody>
      </p:sp>
      <p:sp>
        <p:nvSpPr>
          <p:cNvPr id="17" name="Text 15"/>
          <p:cNvSpPr/>
          <p:nvPr/>
        </p:nvSpPr>
        <p:spPr>
          <a:xfrm>
            <a:off x="4882896" y="2313432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建議檢查點、下一步測試、升級條件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621792" y="3081528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1520" y="324612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報告草稿</a:t>
            </a:r>
            <a:endParaRPr lang="en-US" sz="1230" dirty="0"/>
          </a:p>
        </p:txBody>
      </p:sp>
      <p:sp>
        <p:nvSpPr>
          <p:cNvPr id="20" name="Text 18"/>
          <p:cNvSpPr/>
          <p:nvPr/>
        </p:nvSpPr>
        <p:spPr>
          <a:xfrm>
            <a:off x="731520" y="352044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8D / 異常報告 / 維修摘要自動成稿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2697480" y="3081528"/>
            <a:ext cx="1828800" cy="960120"/>
          </a:xfrm>
          <a:prstGeom prst="roundRect">
            <a:avLst>
              <a:gd name="adj" fmla="val 6667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807208" y="3246120"/>
            <a:ext cx="160934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知識回寫</a:t>
            </a:r>
            <a:endParaRPr lang="en-US" sz="1230" dirty="0"/>
          </a:p>
        </p:txBody>
      </p:sp>
      <p:sp>
        <p:nvSpPr>
          <p:cNvPr id="23" name="Text 21"/>
          <p:cNvSpPr/>
          <p:nvPr/>
        </p:nvSpPr>
        <p:spPr>
          <a:xfrm>
            <a:off x="2807208" y="3520440"/>
            <a:ext cx="16093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可將結案內容寫回案例庫與 FAQ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4773168" y="3081528"/>
            <a:ext cx="1783080" cy="960120"/>
          </a:xfrm>
          <a:prstGeom prst="roundRect">
            <a:avLst>
              <a:gd name="adj" fmla="val 6667"/>
            </a:avLst>
          </a:prstGeom>
          <a:solidFill>
            <a:srgbClr val="F2F1ED"/>
          </a:solidFill>
          <a:ln w="12700">
            <a:solidFill>
              <a:srgbClr val="5F738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82896" y="3246120"/>
            <a:ext cx="15636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3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介面形式</a:t>
            </a:r>
            <a:endParaRPr lang="en-US" sz="1230" dirty="0"/>
          </a:p>
        </p:txBody>
      </p:sp>
      <p:sp>
        <p:nvSpPr>
          <p:cNvPr id="26" name="Text 24"/>
          <p:cNvSpPr/>
          <p:nvPr/>
        </p:nvSpPr>
        <p:spPr>
          <a:xfrm>
            <a:off x="4882896" y="3520440"/>
            <a:ext cx="15636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Chat、工單側欄、Email、API 回傳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7059168" y="1280160"/>
            <a:ext cx="4718304" cy="3383280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149047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Risk 控制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498080" y="2039112"/>
            <a:ext cx="384048" cy="0"/>
          </a:xfrm>
          <a:prstGeom prst="line">
            <a:avLst/>
          </a:prstGeom>
          <a:noFill/>
          <a:ln w="12700">
            <a:solidFill>
              <a:srgbClr val="C65E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0336" y="1929384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635240" y="1856232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幻覺 / 錯引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8732520" y="1856232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答案必附來源片段與信心標示；低信心時改為「需補資料」。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7498080" y="2569464"/>
            <a:ext cx="384048" cy="0"/>
          </a:xfrm>
          <a:prstGeom prst="line">
            <a:avLst/>
          </a:prstGeom>
          <a:noFill/>
          <a:ln w="12700">
            <a:solidFill>
              <a:srgbClr val="C65E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60336" y="2459736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635240" y="2386584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錯誤優先級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8732520" y="2386584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以規則與影響分級雙重控制；高風險事件強制人工覆核。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7498080" y="3099816"/>
            <a:ext cx="384048" cy="0"/>
          </a:xfrm>
          <a:prstGeom prst="line">
            <a:avLst/>
          </a:prstGeom>
          <a:noFill/>
          <a:ln w="12700">
            <a:solidFill>
              <a:srgbClr val="C65E5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260336" y="299008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7635240" y="2916936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資料品質不穩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8732520" y="2916936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顯示資料新鮮度與缺欄提醒，避免用過期資料下結論。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7498080" y="3630168"/>
            <a:ext cx="384048" cy="0"/>
          </a:xfrm>
          <a:prstGeom prst="line">
            <a:avLst/>
          </a:prstGeom>
          <a:noFill/>
          <a:ln w="12700">
            <a:solidFill>
              <a:srgbClr val="C65E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60336" y="3520440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7635240" y="3447288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敏感資訊外洩</a:t>
            </a:r>
            <a:endParaRPr lang="en-US" sz="1160" dirty="0"/>
          </a:p>
        </p:txBody>
      </p:sp>
      <p:sp>
        <p:nvSpPr>
          <p:cNvPr id="44" name="Text 42"/>
          <p:cNvSpPr/>
          <p:nvPr/>
        </p:nvSpPr>
        <p:spPr>
          <a:xfrm>
            <a:off x="8732520" y="3447288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權限控管、欄位遮罩、操作審計與模型輸入最小化。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7498080" y="4160520"/>
            <a:ext cx="384048" cy="0"/>
          </a:xfrm>
          <a:prstGeom prst="line">
            <a:avLst/>
          </a:prstGeom>
          <a:noFill/>
          <a:ln w="12700">
            <a:solidFill>
              <a:srgbClr val="C65E5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260336" y="40507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●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635240" y="397764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過度依賴 AI</a:t>
            </a:r>
            <a:endParaRPr lang="en-US" sz="1160" dirty="0"/>
          </a:p>
        </p:txBody>
      </p:sp>
      <p:sp>
        <p:nvSpPr>
          <p:cNvPr id="48" name="Text 46"/>
          <p:cNvSpPr/>
          <p:nvPr/>
        </p:nvSpPr>
        <p:spPr>
          <a:xfrm>
            <a:off x="8732520" y="3977640"/>
            <a:ext cx="2697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建立反向驗證與抽查機制，保留專家挑戰權。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411480" y="4983480"/>
            <a:ext cx="11365992" cy="420624"/>
          </a:xfrm>
          <a:prstGeom prst="roundRect">
            <a:avLst>
              <a:gd name="adj" fmla="val 15217"/>
            </a:avLst>
          </a:prstGeom>
          <a:solidFill>
            <a:srgbClr val="FFF7E8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4360" y="5102352"/>
            <a:ext cx="10835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關鍵原則：輸出若不能直接支援工程決策，就是好看的摘要；風控若沒有嵌進流程，就只是會議上的提醒。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BENEFIT ASSESSMENT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效益評估｜四項導入指標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故障分析 Agent 兼具高影響與中高可評估性，適合做成可量測的 MVP。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07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11365992" cy="621792"/>
          </a:xfrm>
          <a:prstGeom prst="roundRect">
            <a:avLst>
              <a:gd name="adj" fmla="val 10294"/>
            </a:avLst>
          </a:prstGeom>
          <a:solidFill>
            <a:srgbClr val="FFFDF8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517904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整體評分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83480" y="140817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16 / 20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492240" y="1536192"/>
            <a:ext cx="4526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適合以 POC 驗證「事件摘要、案例檢索、初步原因排序」三項能力。</a:t>
            </a:r>
            <a:endParaRPr lang="en-US" sz="114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2240280" cy="1828800"/>
          </a:xfrm>
          <a:prstGeom prst="roundRect">
            <a:avLst>
              <a:gd name="adj" fmla="val 3500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/ 5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82296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Automatable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2552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資料蒐集、摘要、檢索與報告生成高度可自動化。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611880" y="2240280"/>
            <a:ext cx="2240280" cy="1828800"/>
          </a:xfrm>
          <a:prstGeom prst="roundRect">
            <a:avLst>
              <a:gd name="adj" fmla="val 3500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4904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 / 5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74904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Impactful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749040" y="32552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可直接縮短定位時間，降低重複分析與交班損失。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37960" y="2240280"/>
            <a:ext cx="2240280" cy="1828800"/>
          </a:xfrm>
          <a:prstGeom prst="roundRect">
            <a:avLst>
              <a:gd name="adj" fmla="val 3500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67512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 / 5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67512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Data readiness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675120" y="32552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資料多但分散；需先處理欄位標準與案例標註品質。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9464040" y="2240280"/>
            <a:ext cx="2240280" cy="1828800"/>
          </a:xfrm>
          <a:prstGeom prst="roundRect">
            <a:avLst>
              <a:gd name="adj" fmla="val 3500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9601200" y="2505456"/>
            <a:ext cx="868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 / 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9601200" y="2944368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Evaluability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9601200" y="3255264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可用命中率、時間節省、採納率與回覆品質量測。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11480" y="4389120"/>
            <a:ext cx="11365992" cy="777240"/>
          </a:xfrm>
          <a:prstGeom prst="roundRect">
            <a:avLst>
              <a:gd name="adj" fmla="val 8235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599432"/>
            <a:ext cx="1463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建議的量測 KPI：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2212848" y="4599432"/>
            <a:ext cx="8641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初判時間、Top-3 根因命中率、工程師採納率、報告完成時間、重複故障再發分析時間。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BENEFIT ASSESSMENT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效益評估｜優先場景與導入順序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先做高影響、可快速驗證的子任務，再擴充至根因排序與知識回寫。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B68B45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08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298448"/>
            <a:ext cx="5943600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15270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 × Automatable</a:t>
            </a:r>
            <a:endParaRPr lang="en-US" sz="1280" dirty="0"/>
          </a:p>
        </p:txBody>
      </p:sp>
      <p:sp>
        <p:nvSpPr>
          <p:cNvPr id="9" name="Shape 7"/>
          <p:cNvSpPr/>
          <p:nvPr/>
        </p:nvSpPr>
        <p:spPr>
          <a:xfrm>
            <a:off x="1051560" y="4892040"/>
            <a:ext cx="448056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51560" y="1874520"/>
            <a:ext cx="0" cy="301752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49560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Low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285232" y="4956048"/>
            <a:ext cx="457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High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2880360" y="502920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Impact</a:t>
            </a:r>
            <a:endParaRPr lang="en-US" sz="1020" dirty="0"/>
          </a:p>
        </p:txBody>
      </p:sp>
      <p:sp>
        <p:nvSpPr>
          <p:cNvPr id="14" name="Text 12"/>
          <p:cNvSpPr/>
          <p:nvPr/>
        </p:nvSpPr>
        <p:spPr>
          <a:xfrm rot="16200000">
            <a:off x="621792" y="1828800"/>
            <a:ext cx="3291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High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 rot="16200000">
            <a:off x="475488" y="3063240"/>
            <a:ext cx="32918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Automatable</a:t>
            </a:r>
            <a:endParaRPr lang="en-US" sz="1020" dirty="0"/>
          </a:p>
        </p:txBody>
      </p:sp>
      <p:sp>
        <p:nvSpPr>
          <p:cNvPr id="16" name="Shape 14"/>
          <p:cNvSpPr/>
          <p:nvPr/>
        </p:nvSpPr>
        <p:spPr>
          <a:xfrm>
            <a:off x="1965960" y="2743200"/>
            <a:ext cx="219456" cy="219456"/>
          </a:xfrm>
          <a:prstGeom prst="ellipse">
            <a:avLst/>
          </a:prstGeom>
          <a:solidFill>
            <a:srgbClr val="C65E5C">
              <a:alpha val="80000"/>
            </a:srgbClr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965960" y="2761488"/>
            <a:ext cx="21945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828800" y="301752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事件摘要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與分案</a:t>
            </a:r>
            <a:endParaRPr lang="en-US" sz="980" dirty="0"/>
          </a:p>
        </p:txBody>
      </p:sp>
      <p:sp>
        <p:nvSpPr>
          <p:cNvPr id="19" name="Shape 17"/>
          <p:cNvSpPr/>
          <p:nvPr/>
        </p:nvSpPr>
        <p:spPr>
          <a:xfrm>
            <a:off x="3154680" y="3246120"/>
            <a:ext cx="256032" cy="256032"/>
          </a:xfrm>
          <a:prstGeom prst="ellipse">
            <a:avLst/>
          </a:prstGeom>
          <a:solidFill>
            <a:srgbClr val="6E8E89">
              <a:alpha val="80000"/>
            </a:srgbClr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54680" y="3264408"/>
            <a:ext cx="25603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017520" y="355701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相似案例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檢索</a:t>
            </a:r>
            <a:endParaRPr lang="en-US" sz="980" dirty="0"/>
          </a:p>
        </p:txBody>
      </p:sp>
      <p:sp>
        <p:nvSpPr>
          <p:cNvPr id="22" name="Shape 20"/>
          <p:cNvSpPr/>
          <p:nvPr/>
        </p:nvSpPr>
        <p:spPr>
          <a:xfrm>
            <a:off x="4434840" y="2926080"/>
            <a:ext cx="310896" cy="310896"/>
          </a:xfrm>
          <a:prstGeom prst="ellipse">
            <a:avLst/>
          </a:prstGeom>
          <a:solidFill>
            <a:srgbClr val="B68B45">
              <a:alpha val="80000"/>
            </a:srgbClr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434840" y="2944368"/>
            <a:ext cx="310896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297680" y="329184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根因假設</a:t>
            </a:r>
            <a:endParaRPr lang="en-US" sz="980" dirty="0"/>
          </a:p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排序</a:t>
            </a:r>
            <a:endParaRPr lang="en-US" sz="980" dirty="0"/>
          </a:p>
        </p:txBody>
      </p:sp>
      <p:sp>
        <p:nvSpPr>
          <p:cNvPr id="25" name="Shape 23"/>
          <p:cNvSpPr/>
          <p:nvPr/>
        </p:nvSpPr>
        <p:spPr>
          <a:xfrm>
            <a:off x="5029200" y="4160520"/>
            <a:ext cx="201168" cy="201168"/>
          </a:xfrm>
          <a:prstGeom prst="ellipse">
            <a:avLst/>
          </a:prstGeom>
          <a:solidFill>
            <a:srgbClr val="17324D">
              <a:alpha val="80000"/>
            </a:srgbClr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4178808"/>
            <a:ext cx="20116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92040" y="441655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報告生成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6629400" y="1298448"/>
            <a:ext cx="5148072" cy="4160520"/>
          </a:xfrm>
          <a:prstGeom prst="roundRect">
            <a:avLst>
              <a:gd name="adj" fmla="val 1538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76288" y="1527048"/>
            <a:ext cx="1371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建議導入路徑</a:t>
            </a:r>
            <a:endParaRPr lang="en-US" sz="1280" dirty="0"/>
          </a:p>
        </p:txBody>
      </p:sp>
      <p:sp>
        <p:nvSpPr>
          <p:cNvPr id="30" name="Shape 28"/>
          <p:cNvSpPr/>
          <p:nvPr/>
        </p:nvSpPr>
        <p:spPr>
          <a:xfrm>
            <a:off x="6858000" y="1874520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59168" y="1984248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1｜Quick win</a:t>
            </a:r>
            <a:endParaRPr lang="en-US" sz="1160" dirty="0"/>
          </a:p>
        </p:txBody>
      </p:sp>
      <p:sp>
        <p:nvSpPr>
          <p:cNvPr id="32" name="Text 30"/>
          <p:cNvSpPr/>
          <p:nvPr/>
        </p:nvSpPr>
        <p:spPr>
          <a:xfrm>
            <a:off x="7059168" y="2185416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事件摘要 + 關聯資料拉取 + 相似案例檢索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059168" y="2386584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最短時間看到工程師採納與時間節省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858000" y="2862072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59168" y="2971800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2｜判讀輔助</a:t>
            </a:r>
            <a:endParaRPr lang="en-US" sz="1160" dirty="0"/>
          </a:p>
        </p:txBody>
      </p:sp>
      <p:sp>
        <p:nvSpPr>
          <p:cNvPr id="36" name="Text 34"/>
          <p:cNvSpPr/>
          <p:nvPr/>
        </p:nvSpPr>
        <p:spPr>
          <a:xfrm>
            <a:off x="7059168" y="3172968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根因假設排序 + 風險分級 + 行動建議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059168" y="3374136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建立可驗證的 Top-N 命中率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858000" y="3849624"/>
            <a:ext cx="4663440" cy="786384"/>
          </a:xfrm>
          <a:prstGeom prst="roundRect">
            <a:avLst>
              <a:gd name="adj" fmla="val 8140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059168" y="3959352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6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Phase 3｜知識閉環</a:t>
            </a:r>
            <a:endParaRPr lang="en-US" sz="1160" dirty="0"/>
          </a:p>
        </p:txBody>
      </p:sp>
      <p:sp>
        <p:nvSpPr>
          <p:cNvPr id="40" name="Text 38"/>
          <p:cNvSpPr/>
          <p:nvPr/>
        </p:nvSpPr>
        <p:spPr>
          <a:xfrm>
            <a:off x="7059168" y="4160520"/>
            <a:ext cx="4069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報告自動成稿 + 結案回寫 + 評估儀表板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059168" y="4361688"/>
            <a:ext cx="4069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讓 Agent 越用越準，支援跨班 / 跨廠複用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58000" y="4709160"/>
            <a:ext cx="4663440" cy="438912"/>
          </a:xfrm>
          <a:prstGeom prst="roundRect">
            <a:avLst>
              <a:gd name="adj" fmla="val 14583"/>
            </a:avLst>
          </a:prstGeom>
          <a:solidFill>
            <a:srgbClr val="FFF7E8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059168" y="4837176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評估基準：Top-3 命中率、採納率、初判時間、報告完成時間。</a:t>
            </a:r>
            <a:endParaRPr lang="en-US" sz="10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 AI+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 AI+ 流程設計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新流程不是取代工程師，而是讓 Agent 成為第一位分析助理。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09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417320"/>
            <a:ext cx="11365992" cy="713232"/>
          </a:xfrm>
          <a:prstGeom prst="roundRect">
            <a:avLst>
              <a:gd name="adj" fmla="val 8974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636776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現場 / 通報端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2395728"/>
            <a:ext cx="11365992" cy="713232"/>
          </a:xfrm>
          <a:prstGeom prst="roundRect">
            <a:avLst>
              <a:gd name="adj" fmla="val 8974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2615184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故障分析 Agent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11480" y="3374136"/>
            <a:ext cx="11365992" cy="713232"/>
          </a:xfrm>
          <a:prstGeom prst="roundRect">
            <a:avLst>
              <a:gd name="adj" fmla="val 8974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35935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68B4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工程師 / 主管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651760" y="1783080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51760" y="2761488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651760" y="3739896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0" y="1783080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0" y="2761488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3739896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1783080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77840" y="2761488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577840" y="3739896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040880" y="1783080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040880" y="2761488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040880" y="3739896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503920" y="1783080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503920" y="2761488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03920" y="3739896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66960" y="1783080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966960" y="2761488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966960" y="3739896"/>
            <a:ext cx="1188720" cy="0"/>
          </a:xfrm>
          <a:prstGeom prst="line">
            <a:avLst/>
          </a:prstGeom>
          <a:noFill/>
          <a:ln w="12700">
            <a:solidFill>
              <a:srgbClr val="5F738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65960" y="1554480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011680" y="168249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異常通報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3429000" y="1554480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474720" y="1682496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補充現場資訊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3429000" y="2532888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0" y="26609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事件標準化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4892040" y="2532888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26609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自動拉資料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6355080" y="2532888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26609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7818120" y="2532888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863840" y="26609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原因排序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9281160" y="2532888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326880" y="26609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產出建議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10744200" y="2532888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789920" y="2660904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生成草稿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6355080" y="3511296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400800" y="363931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核對證據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7818120" y="3511296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863840" y="363931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確認原因 / 風險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9281160" y="3511296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326880" y="363931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決定處置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10744200" y="3511296"/>
            <a:ext cx="868680" cy="402336"/>
          </a:xfrm>
          <a:prstGeom prst="roundRect">
            <a:avLst>
              <a:gd name="adj" fmla="val 15909"/>
            </a:avLst>
          </a:prstGeom>
          <a:solidFill>
            <a:srgbClr val="FFFFFF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789920" y="3639312"/>
            <a:ext cx="777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簽核結案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6793992" y="2935224"/>
            <a:ext cx="0" cy="5669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257032" y="2935224"/>
            <a:ext cx="0" cy="5669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720072" y="2935224"/>
            <a:ext cx="0" cy="5669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183112" y="2935224"/>
            <a:ext cx="0" cy="566928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411480" y="4663440"/>
            <a:ext cx="11365992" cy="676656"/>
          </a:xfrm>
          <a:prstGeom prst="roundRect">
            <a:avLst>
              <a:gd name="adj" fmla="val 9459"/>
            </a:avLst>
          </a:prstGeom>
          <a:solidFill>
            <a:srgbClr val="FFFDF8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12648" y="488289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新流程特徵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1783080" y="4873752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先由 Agent 完成事件整理與初步判讀，再由工程師做關鍵驗證與決策；因此資料流與決策流被清楚分離。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BEFORE / AFTER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流程再造｜Before / After 比較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AI+ 後的重點不是少一個人，而是少掉重複查找與不必要等待。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10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548640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91072" y="1325880"/>
            <a:ext cx="5486400" cy="4251960"/>
          </a:xfrm>
          <a:prstGeom prst="roundRect">
            <a:avLst>
              <a:gd name="adj" fmla="val 1505"/>
            </a:avLst>
          </a:prstGeom>
          <a:solidFill>
            <a:srgbClr val="FFFFFF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1536192"/>
            <a:ext cx="1234440" cy="219456"/>
          </a:xfrm>
          <a:prstGeom prst="roundRect">
            <a:avLst>
              <a:gd name="adj" fmla="val 20833"/>
            </a:avLst>
          </a:prstGeom>
          <a:solidFill>
            <a:srgbClr val="F8ECEA"/>
          </a:solidFill>
          <a:ln w="12700">
            <a:solidFill>
              <a:srgbClr val="F8EC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554480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As-Is｜人工主導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19672" y="1536192"/>
            <a:ext cx="1170432" cy="219456"/>
          </a:xfrm>
          <a:prstGeom prst="roundRect">
            <a:avLst>
              <a:gd name="adj" fmla="val 20833"/>
            </a:avLst>
          </a:prstGeom>
          <a:solidFill>
            <a:srgbClr val="EDF4F1"/>
          </a:solidFill>
          <a:ln w="12700">
            <a:solidFill>
              <a:srgbClr val="EDF4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19672" y="1554480"/>
            <a:ext cx="11704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To-Be｜AI+ 協作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94360" y="2322576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73952" y="2322576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1920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啟動方式</a:t>
            </a:r>
            <a:endParaRPr lang="en-US" sz="1140" dirty="0"/>
          </a:p>
        </p:txBody>
      </p:sp>
      <p:sp>
        <p:nvSpPr>
          <p:cNvPr id="16" name="Text 14"/>
          <p:cNvSpPr/>
          <p:nvPr/>
        </p:nvSpPr>
        <p:spPr>
          <a:xfrm>
            <a:off x="1691640" y="1920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靠人追問補資料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6519672" y="192024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啟動方式</a:t>
            </a:r>
            <a:endParaRPr lang="en-US" sz="1140" dirty="0"/>
          </a:p>
        </p:txBody>
      </p:sp>
      <p:sp>
        <p:nvSpPr>
          <p:cNvPr id="18" name="Text 16"/>
          <p:cNvSpPr/>
          <p:nvPr/>
        </p:nvSpPr>
        <p:spPr>
          <a:xfrm>
            <a:off x="7571232" y="1920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事件自動標準化並補齊欄位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594360" y="2880360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73952" y="2880360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24780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資料取得</a:t>
            </a:r>
            <a:endParaRPr lang="en-US" sz="1140" dirty="0"/>
          </a:p>
        </p:txBody>
      </p:sp>
      <p:sp>
        <p:nvSpPr>
          <p:cNvPr id="22" name="Text 20"/>
          <p:cNvSpPr/>
          <p:nvPr/>
        </p:nvSpPr>
        <p:spPr>
          <a:xfrm>
            <a:off x="1691640" y="24780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跨系統人工蒐集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6519672" y="2478024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資料取得</a:t>
            </a:r>
            <a:endParaRPr lang="en-US" sz="1140" dirty="0"/>
          </a:p>
        </p:txBody>
      </p:sp>
      <p:sp>
        <p:nvSpPr>
          <p:cNvPr id="24" name="Text 22"/>
          <p:cNvSpPr/>
          <p:nvPr/>
        </p:nvSpPr>
        <p:spPr>
          <a:xfrm>
            <a:off x="7571232" y="2478024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Agent 自動抓取關聯資料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594360" y="3438144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73952" y="3438144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" y="30358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判讀依據</a:t>
            </a:r>
            <a:endParaRPr lang="en-US" sz="1140" dirty="0"/>
          </a:p>
        </p:txBody>
      </p:sp>
      <p:sp>
        <p:nvSpPr>
          <p:cNvPr id="28" name="Text 26"/>
          <p:cNvSpPr/>
          <p:nvPr/>
        </p:nvSpPr>
        <p:spPr>
          <a:xfrm>
            <a:off x="1691640" y="3035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依資深經驗與 SOP</a:t>
            </a:r>
            <a:endParaRPr lang="en-US" sz="1080" dirty="0"/>
          </a:p>
        </p:txBody>
      </p:sp>
      <p:sp>
        <p:nvSpPr>
          <p:cNvPr id="29" name="Text 27"/>
          <p:cNvSpPr/>
          <p:nvPr/>
        </p:nvSpPr>
        <p:spPr>
          <a:xfrm>
            <a:off x="6519672" y="3035808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判讀依據</a:t>
            </a:r>
            <a:endParaRPr lang="en-US" sz="1140" dirty="0"/>
          </a:p>
        </p:txBody>
      </p:sp>
      <p:sp>
        <p:nvSpPr>
          <p:cNvPr id="30" name="Text 28"/>
          <p:cNvSpPr/>
          <p:nvPr/>
        </p:nvSpPr>
        <p:spPr>
          <a:xfrm>
            <a:off x="7571232" y="303580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 + 規則 + 工程師確認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594360" y="3995928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73952" y="3995928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35935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輸出形式</a:t>
            </a:r>
            <a:endParaRPr lang="en-US" sz="1140" dirty="0"/>
          </a:p>
        </p:txBody>
      </p:sp>
      <p:sp>
        <p:nvSpPr>
          <p:cNvPr id="34" name="Text 32"/>
          <p:cNvSpPr/>
          <p:nvPr/>
        </p:nvSpPr>
        <p:spPr>
          <a:xfrm>
            <a:off x="1691640" y="3593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手工整理、格式不一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6519672" y="3593592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輸出形式</a:t>
            </a:r>
            <a:endParaRPr lang="en-US" sz="1140" dirty="0"/>
          </a:p>
        </p:txBody>
      </p:sp>
      <p:sp>
        <p:nvSpPr>
          <p:cNvPr id="36" name="Text 34"/>
          <p:cNvSpPr/>
          <p:nvPr/>
        </p:nvSpPr>
        <p:spPr>
          <a:xfrm>
            <a:off x="7571232" y="3593592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自動生成摘要 / 報告草稿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594360" y="4553712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473952" y="4553712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41513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知識累積</a:t>
            </a:r>
            <a:endParaRPr lang="en-US" sz="1140" dirty="0"/>
          </a:p>
        </p:txBody>
      </p:sp>
      <p:sp>
        <p:nvSpPr>
          <p:cNvPr id="40" name="Text 38"/>
          <p:cNvSpPr/>
          <p:nvPr/>
        </p:nvSpPr>
        <p:spPr>
          <a:xfrm>
            <a:off x="1691640" y="4151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案例散落於文件與個人腦中</a:t>
            </a:r>
            <a:endParaRPr lang="en-US" sz="1080" dirty="0"/>
          </a:p>
        </p:txBody>
      </p:sp>
      <p:sp>
        <p:nvSpPr>
          <p:cNvPr id="41" name="Text 39"/>
          <p:cNvSpPr/>
          <p:nvPr/>
        </p:nvSpPr>
        <p:spPr>
          <a:xfrm>
            <a:off x="6519672" y="4151376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知識累積</a:t>
            </a:r>
            <a:endParaRPr lang="en-US" sz="1140" dirty="0"/>
          </a:p>
        </p:txBody>
      </p:sp>
      <p:sp>
        <p:nvSpPr>
          <p:cNvPr id="42" name="Text 40"/>
          <p:cNvSpPr/>
          <p:nvPr/>
        </p:nvSpPr>
        <p:spPr>
          <a:xfrm>
            <a:off x="7571232" y="4151376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結案內容可回寫案例庫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594360" y="5111496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473952" y="5111496"/>
            <a:ext cx="512064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" y="47091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整體週期</a:t>
            </a:r>
            <a:endParaRPr lang="en-US" sz="1140" dirty="0"/>
          </a:p>
        </p:txBody>
      </p:sp>
      <p:sp>
        <p:nvSpPr>
          <p:cNvPr id="46" name="Text 44"/>
          <p:cNvSpPr/>
          <p:nvPr/>
        </p:nvSpPr>
        <p:spPr>
          <a:xfrm>
            <a:off x="1691640" y="47091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長，且波動大</a:t>
            </a:r>
            <a:endParaRPr lang="en-US" sz="1080" dirty="0"/>
          </a:p>
        </p:txBody>
      </p:sp>
      <p:sp>
        <p:nvSpPr>
          <p:cNvPr id="47" name="Text 45"/>
          <p:cNvSpPr/>
          <p:nvPr/>
        </p:nvSpPr>
        <p:spPr>
          <a:xfrm>
            <a:off x="6519672" y="4709160"/>
            <a:ext cx="960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整體週期</a:t>
            </a:r>
            <a:endParaRPr lang="en-US" sz="1140" dirty="0"/>
          </a:p>
        </p:txBody>
      </p:sp>
      <p:sp>
        <p:nvSpPr>
          <p:cNvPr id="48" name="Text 46"/>
          <p:cNvSpPr/>
          <p:nvPr/>
        </p:nvSpPr>
        <p:spPr>
          <a:xfrm>
            <a:off x="7571232" y="470916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短，且更可預測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411480" y="5742432"/>
            <a:ext cx="11365992" cy="420624"/>
          </a:xfrm>
          <a:prstGeom prst="roundRect">
            <a:avLst>
              <a:gd name="adj" fmla="val 15217"/>
            </a:avLst>
          </a:prstGeom>
          <a:solidFill>
            <a:srgbClr val="FFF7E8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21792" y="5861304"/>
            <a:ext cx="10927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流程再造的真正收益在於：同一類故障可被更快、更一致、可追溯地處理，而不是把複雜判斷完全交給模型。</a:t>
            </a:r>
            <a:endParaRPr lang="en-US" sz="11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OPERATING MODEL &amp; GOVERNANCE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新流程的營運機制與治理閉環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要讓 Agent 長期可用，除了模型，也要設計 owner、知識更新與例外升級機制。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747772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152644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557516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332720" y="2121408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66928" y="1508760"/>
            <a:ext cx="2103120" cy="1325880"/>
          </a:xfrm>
          <a:prstGeom prst="roundRect">
            <a:avLst>
              <a:gd name="adj" fmla="val 4828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58368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流程 owner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4944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 KPI、例外流程、審核規則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2971800" y="1508760"/>
            <a:ext cx="2103120" cy="1325880"/>
          </a:xfrm>
          <a:prstGeom prst="roundRect">
            <a:avLst>
              <a:gd name="adj" fmla="val 4828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063240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協作層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099816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摘要、檢索、排序、輸出與記錄</a:t>
            </a:r>
            <a:endParaRPr lang="en-US" sz="1070" dirty="0"/>
          </a:p>
        </p:txBody>
      </p:sp>
      <p:sp>
        <p:nvSpPr>
          <p:cNvPr id="17" name="Shape 15"/>
          <p:cNvSpPr/>
          <p:nvPr/>
        </p:nvSpPr>
        <p:spPr>
          <a:xfrm>
            <a:off x="5376672" y="1508760"/>
            <a:ext cx="2103120" cy="1325880"/>
          </a:xfrm>
          <a:prstGeom prst="roundRect">
            <a:avLst>
              <a:gd name="adj" fmla="val 4828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68112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知識 / 評估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504688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案例庫、prompt、規則、評估集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7781544" y="1508760"/>
            <a:ext cx="2103120" cy="1325880"/>
          </a:xfrm>
          <a:prstGeom prst="roundRect">
            <a:avLst>
              <a:gd name="adj" fmla="val 4828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7872984" y="176479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風控 / 升級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909560" y="2167128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低信心升級、敏感事件、審計追蹤</a:t>
            </a:r>
            <a:endParaRPr lang="en-US" sz="1070" dirty="0"/>
          </a:p>
        </p:txBody>
      </p:sp>
      <p:sp>
        <p:nvSpPr>
          <p:cNvPr id="23" name="Shape 21"/>
          <p:cNvSpPr/>
          <p:nvPr/>
        </p:nvSpPr>
        <p:spPr>
          <a:xfrm>
            <a:off x="411480" y="3337560"/>
            <a:ext cx="5440680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1792" y="3557016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治理重點</a:t>
            </a:r>
            <a:endParaRPr lang="en-US" sz="1280" dirty="0"/>
          </a:p>
        </p:txBody>
      </p:sp>
      <p:sp>
        <p:nvSpPr>
          <p:cNvPr id="25" name="Text 23"/>
          <p:cNvSpPr/>
          <p:nvPr/>
        </p:nvSpPr>
        <p:spPr>
          <a:xfrm>
            <a:off x="640080" y="3858768"/>
            <a:ext cx="4892040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/>
          <a:lstStyle/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指定流程 owner：誰對 KPI、風險與例外處理負責。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建立知識更新節奏：結案後回寫，定期整理 high-value case。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定義低信心門檻：不足以建議時，Agent 應主動要求補資料或升級。</a:t>
            </a:r>
            <a:endParaRPr lang="en-US" sz="1110" dirty="0"/>
          </a:p>
          <a:p>
            <a:pPr marL="127000" indent="-127000">
              <a:buSzPct val="100000"/>
              <a:buChar char="•"/>
            </a:pPr>
            <a:r>
              <a:rPr lang="en-US" sz="111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用評估集監控品質：避免模型 / 知識更新後品質漂移。</a:t>
            </a:r>
            <a:endParaRPr lang="en-US" sz="1110" dirty="0"/>
          </a:p>
        </p:txBody>
      </p:sp>
      <p:sp>
        <p:nvSpPr>
          <p:cNvPr id="26" name="Shape 24"/>
          <p:cNvSpPr/>
          <p:nvPr/>
        </p:nvSpPr>
        <p:spPr>
          <a:xfrm>
            <a:off x="6126480" y="3337560"/>
            <a:ext cx="5650992" cy="1737360"/>
          </a:xfrm>
          <a:prstGeom prst="roundRect">
            <a:avLst>
              <a:gd name="adj" fmla="val 3684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3557016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8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例外處理路徑</a:t>
            </a:r>
            <a:endParaRPr lang="en-US" sz="1280" dirty="0"/>
          </a:p>
        </p:txBody>
      </p:sp>
      <p:sp>
        <p:nvSpPr>
          <p:cNvPr id="28" name="Text 26"/>
          <p:cNvSpPr/>
          <p:nvPr/>
        </p:nvSpPr>
        <p:spPr>
          <a:xfrm>
            <a:off x="6400800" y="3858768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583680" y="3849624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資料缺失</a:t>
            </a:r>
            <a:endParaRPr lang="en-US" sz="1080" dirty="0"/>
          </a:p>
        </p:txBody>
      </p:sp>
      <p:sp>
        <p:nvSpPr>
          <p:cNvPr id="30" name="Text 28"/>
          <p:cNvSpPr/>
          <p:nvPr/>
        </p:nvSpPr>
        <p:spPr>
          <a:xfrm>
            <a:off x="7452360" y="3849624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要求補欄位或重取資料</a:t>
            </a:r>
            <a:endParaRPr lang="en-US" sz="1040" dirty="0"/>
          </a:p>
        </p:txBody>
      </p:sp>
      <p:sp>
        <p:nvSpPr>
          <p:cNvPr id="31" name="Text 29"/>
          <p:cNvSpPr/>
          <p:nvPr/>
        </p:nvSpPr>
        <p:spPr>
          <a:xfrm>
            <a:off x="6400800" y="4114800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83680" y="410565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低信心</a:t>
            </a:r>
            <a:endParaRPr lang="en-US" sz="1080" dirty="0"/>
          </a:p>
        </p:txBody>
      </p:sp>
      <p:sp>
        <p:nvSpPr>
          <p:cNvPr id="33" name="Text 31"/>
          <p:cNvSpPr/>
          <p:nvPr/>
        </p:nvSpPr>
        <p:spPr>
          <a:xfrm>
            <a:off x="7452360" y="4105656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轉人工模式並標示原因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6400800" y="4370832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583680" y="4361688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高風險事件</a:t>
            </a:r>
            <a:endParaRPr lang="en-US" sz="1080" dirty="0"/>
          </a:p>
        </p:txBody>
      </p:sp>
      <p:sp>
        <p:nvSpPr>
          <p:cNvPr id="36" name="Text 34"/>
          <p:cNvSpPr/>
          <p:nvPr/>
        </p:nvSpPr>
        <p:spPr>
          <a:xfrm>
            <a:off x="7452360" y="436168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強制主管覆核與簽核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6400800" y="4626864"/>
            <a:ext cx="10972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•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6583680" y="4617720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模型/工具失敗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7452360" y="4617720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保底輸出結構化摘要，避免流程中斷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SCENARIO HANDOFF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場景說明書｜業務 / 功能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以下內容可直接作為技術端需求輸入，定義場景目標、邊界與主要功能。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12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6583680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3619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場景基本資訊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87452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場景名稱</a:t>
            </a:r>
            <a:endParaRPr lang="en-US" sz="1140" dirty="0"/>
          </a:p>
        </p:txBody>
      </p:sp>
      <p:sp>
        <p:nvSpPr>
          <p:cNvPr id="11" name="Text 9"/>
          <p:cNvSpPr/>
          <p:nvPr/>
        </p:nvSpPr>
        <p:spPr>
          <a:xfrm>
            <a:off x="1783080" y="187452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故障分析 Agent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594360" y="2706624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38658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目標</a:t>
            </a:r>
            <a:endParaRPr lang="en-US" sz="1140" dirty="0"/>
          </a:p>
        </p:txBody>
      </p:sp>
      <p:sp>
        <p:nvSpPr>
          <p:cNvPr id="14" name="Text 12"/>
          <p:cNvSpPr/>
          <p:nvPr/>
        </p:nvSpPr>
        <p:spPr>
          <a:xfrm>
            <a:off x="1783080" y="238658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縮短故障定位時間，提升初判一致性與案例複用率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594360" y="3218688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2898648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觸發</a:t>
            </a:r>
            <a:endParaRPr lang="en-US" sz="1140" dirty="0"/>
          </a:p>
        </p:txBody>
      </p:sp>
      <p:sp>
        <p:nvSpPr>
          <p:cNvPr id="17" name="Text 15"/>
          <p:cNvSpPr/>
          <p:nvPr/>
        </p:nvSpPr>
        <p:spPr>
          <a:xfrm>
            <a:off x="1783080" y="2898648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新故障 ticket / alarm 建立，或工程師主動輸入事件 id 查詢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594360" y="3730752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410712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主要使用者</a:t>
            </a:r>
            <a:endParaRPr lang="en-US" sz="1140" dirty="0"/>
          </a:p>
        </p:txBody>
      </p:sp>
      <p:sp>
        <p:nvSpPr>
          <p:cNvPr id="20" name="Text 18"/>
          <p:cNvSpPr/>
          <p:nvPr/>
        </p:nvSpPr>
        <p:spPr>
          <a:xfrm>
            <a:off x="1783080" y="3410712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 / EE / 維修工程師 / 客服 / 值班主管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594360" y="4242816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85800" y="3922776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主要輸入</a:t>
            </a:r>
            <a:endParaRPr lang="en-US" sz="1140" dirty="0"/>
          </a:p>
        </p:txBody>
      </p:sp>
      <p:sp>
        <p:nvSpPr>
          <p:cNvPr id="23" name="Text 21"/>
          <p:cNvSpPr/>
          <p:nvPr/>
        </p:nvSpPr>
        <p:spPr>
          <a:xfrm>
            <a:off x="1783080" y="3922776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ticket、alarm、log、SPC 摘要、維修紀錄、SOP、歷史案例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594360" y="4754880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5800" y="44348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主要輸出</a:t>
            </a:r>
            <a:endParaRPr lang="en-US" sz="1140" dirty="0"/>
          </a:p>
        </p:txBody>
      </p:sp>
      <p:sp>
        <p:nvSpPr>
          <p:cNvPr id="26" name="Text 24"/>
          <p:cNvSpPr/>
          <p:nvPr/>
        </p:nvSpPr>
        <p:spPr>
          <a:xfrm>
            <a:off x="1783080" y="4434840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事件摘要、Top-N 原因、證據片段、建議行動、報告草稿</a:t>
            </a:r>
            <a:endParaRPr lang="en-US" sz="1080" dirty="0"/>
          </a:p>
        </p:txBody>
      </p:sp>
      <p:sp>
        <p:nvSpPr>
          <p:cNvPr id="27" name="Shape 25"/>
          <p:cNvSpPr/>
          <p:nvPr/>
        </p:nvSpPr>
        <p:spPr>
          <a:xfrm>
            <a:off x="594360" y="5266944"/>
            <a:ext cx="6217920" cy="0"/>
          </a:xfrm>
          <a:prstGeom prst="line">
            <a:avLst/>
          </a:prstGeom>
          <a:noFill/>
          <a:ln w="12700">
            <a:solidFill>
              <a:srgbClr val="DDD6C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946904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決策邊界</a:t>
            </a:r>
            <a:endParaRPr lang="en-US" sz="1140" dirty="0"/>
          </a:p>
        </p:txBody>
      </p:sp>
      <p:sp>
        <p:nvSpPr>
          <p:cNvPr id="29" name="Text 27"/>
          <p:cNvSpPr/>
          <p:nvPr/>
        </p:nvSpPr>
        <p:spPr>
          <a:xfrm>
            <a:off x="1783080" y="4946904"/>
            <a:ext cx="4754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不直接下參數、放行、停線或替代最終簽核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242048" y="1325880"/>
            <a:ext cx="4535424" cy="4526280"/>
          </a:xfrm>
          <a:prstGeom prst="roundRect">
            <a:avLst>
              <a:gd name="adj" fmla="val 1414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9792" y="1536192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功能模組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7479792" y="1847088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EAF1F7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35240" y="1956816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1｜事件接收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41080" y="1956816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 ticket / alarm，抽取事件欄位與上下文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7479792" y="2606040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35240" y="2715768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2｜資料整合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641080" y="2715768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透過 connector 拉取 log、工單、案例與 SOP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7479792" y="3364992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F7F1E4"/>
          </a:solidFill>
          <a:ln w="12700">
            <a:solidFill>
              <a:srgbClr val="B68B4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35240" y="3474720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3｜AI 判讀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41080" y="3474720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案例檢索、原因排序、置信度與引用證據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7479792" y="4123944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635240" y="4233672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4｜輸出封裝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41080" y="4233672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生成摘要、報告草稿、建議行動與回寫 payload</a:t>
            </a:r>
            <a:endParaRPr lang="en-US" sz="1040" dirty="0"/>
          </a:p>
        </p:txBody>
      </p:sp>
      <p:sp>
        <p:nvSpPr>
          <p:cNvPr id="44" name="Shape 42"/>
          <p:cNvSpPr/>
          <p:nvPr/>
        </p:nvSpPr>
        <p:spPr>
          <a:xfrm>
            <a:off x="7479792" y="4882896"/>
            <a:ext cx="4023360" cy="530352"/>
          </a:xfrm>
          <a:prstGeom prst="roundRect">
            <a:avLst>
              <a:gd name="adj" fmla="val 12069"/>
            </a:avLst>
          </a:prstGeom>
          <a:solidFill>
            <a:srgbClr val="F2F1ED"/>
          </a:solidFill>
          <a:ln w="12700">
            <a:solidFill>
              <a:srgbClr val="5F738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635240" y="4992624"/>
            <a:ext cx="1005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5｜審計記錄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8641080" y="4992624"/>
            <a:ext cx="26517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保存 prompt、工具使用、引用內容與使用者回饋</a:t>
            </a:r>
            <a:endParaRPr lang="en-US" sz="104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2011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SCENARIO HANDOFF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411480" y="384048"/>
            <a:ext cx="6309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場景說明書｜技術 / 架構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6949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架構重點是：可檢索、可追溯、可評估、可治理，而不是單一聊天介面。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1228832" y="182880"/>
            <a:ext cx="420624" cy="256032"/>
          </a:xfrm>
          <a:prstGeom prst="roundRect">
            <a:avLst>
              <a:gd name="adj" fmla="val 14286"/>
            </a:avLst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228832" y="210312"/>
            <a:ext cx="4206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13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212140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1304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50468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19632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887968" y="2450592"/>
            <a:ext cx="1463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F7385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AF1F7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71323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資料來源</a:t>
            </a:r>
            <a:endParaRPr lang="en-US" sz="1220" dirty="0"/>
          </a:p>
        </p:txBody>
      </p:sp>
      <p:sp>
        <p:nvSpPr>
          <p:cNvPr id="14" name="Text 12"/>
          <p:cNvSpPr/>
          <p:nvPr/>
        </p:nvSpPr>
        <p:spPr>
          <a:xfrm>
            <a:off x="74980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ticket / alarm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log / SPC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SOP / case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233172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DF4F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40487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連接 / ETL</a:t>
            </a:r>
            <a:endParaRPr lang="en-US" sz="1220" dirty="0"/>
          </a:p>
        </p:txBody>
      </p:sp>
      <p:sp>
        <p:nvSpPr>
          <p:cNvPr id="17" name="Text 15"/>
          <p:cNvSpPr/>
          <p:nvPr/>
        </p:nvSpPr>
        <p:spPr>
          <a:xfrm>
            <a:off x="244144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connector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時間對齊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欄位清洗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402336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F7F1E4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09651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Orchestrator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413308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prompt / tool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workflow state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policy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71500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F8ECEA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78815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AI 核心</a:t>
            </a:r>
            <a:endParaRPr lang="en-US" sz="1220" dirty="0"/>
          </a:p>
        </p:txBody>
      </p:sp>
      <p:sp>
        <p:nvSpPr>
          <p:cNvPr id="23" name="Text 21"/>
          <p:cNvSpPr/>
          <p:nvPr/>
        </p:nvSpPr>
        <p:spPr>
          <a:xfrm>
            <a:off x="582472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LLM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reasoning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ranking</a:t>
            </a:r>
            <a:endParaRPr lang="en-US" sz="1040" dirty="0"/>
          </a:p>
        </p:txBody>
      </p:sp>
      <p:sp>
        <p:nvSpPr>
          <p:cNvPr id="24" name="Shape 22"/>
          <p:cNvSpPr/>
          <p:nvPr/>
        </p:nvSpPr>
        <p:spPr>
          <a:xfrm>
            <a:off x="740664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DF4F1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47979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檢索 / 知識</a:t>
            </a:r>
            <a:endParaRPr lang="en-US" sz="1220" dirty="0"/>
          </a:p>
        </p:txBody>
      </p:sp>
      <p:sp>
        <p:nvSpPr>
          <p:cNvPr id="26" name="Text 24"/>
          <p:cNvSpPr/>
          <p:nvPr/>
        </p:nvSpPr>
        <p:spPr>
          <a:xfrm>
            <a:off x="751636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vector DB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RAG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case store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9098280" y="1874520"/>
            <a:ext cx="1417320" cy="1261872"/>
          </a:xfrm>
          <a:prstGeom prst="roundRect">
            <a:avLst>
              <a:gd name="adj" fmla="val 5072"/>
            </a:avLst>
          </a:prstGeom>
          <a:solidFill>
            <a:srgbClr val="FFFFFF"/>
          </a:solidFill>
          <a:ln w="12700">
            <a:solidFill>
              <a:srgbClr val="EAF1F7"/>
            </a:solidFill>
            <a:prstDash val="solid"/>
          </a:ln>
          <a:effectLst>
            <a:outerShdw sx="100000" sy="100000" kx="0" ky="0" algn="bl" rotWithShape="0" blurRad="12700" dist="635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9171432" y="2057400"/>
            <a:ext cx="12710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24324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輸出介面</a:t>
            </a:r>
            <a:endParaRPr lang="en-US" sz="1220" dirty="0"/>
          </a:p>
        </p:txBody>
      </p:sp>
      <p:sp>
        <p:nvSpPr>
          <p:cNvPr id="29" name="Text 27"/>
          <p:cNvSpPr/>
          <p:nvPr/>
        </p:nvSpPr>
        <p:spPr>
          <a:xfrm>
            <a:off x="9208008" y="2441448"/>
            <a:ext cx="11978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copilot UI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report API</a:t>
            </a:r>
            <a:endParaRPr lang="en-US" sz="1040" dirty="0"/>
          </a:p>
          <a:p>
            <a:pPr algn="ctr" indent="0" marL="0">
              <a:buNone/>
            </a:pPr>
            <a:r>
              <a:rPr lang="en-US" sz="104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工單側欄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4160520" y="379476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EDF4F1"/>
          </a:solidFill>
          <a:ln w="12700">
            <a:solidFill>
              <a:srgbClr val="6E8E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370832" y="3913632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6E8E8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評估 / 監控</a:t>
            </a:r>
            <a:endParaRPr lang="en-US" sz="1140" dirty="0"/>
          </a:p>
        </p:txBody>
      </p:sp>
      <p:sp>
        <p:nvSpPr>
          <p:cNvPr id="32" name="Text 30"/>
          <p:cNvSpPr/>
          <p:nvPr/>
        </p:nvSpPr>
        <p:spPr>
          <a:xfrm>
            <a:off x="4334256" y="4151376"/>
            <a:ext cx="1664208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命中率、採納率、失敗案例、版本追蹤</a:t>
            </a:r>
            <a:endParaRPr lang="en-US" sz="970" dirty="0"/>
          </a:p>
        </p:txBody>
      </p:sp>
      <p:sp>
        <p:nvSpPr>
          <p:cNvPr id="33" name="Shape 31"/>
          <p:cNvSpPr/>
          <p:nvPr/>
        </p:nvSpPr>
        <p:spPr>
          <a:xfrm>
            <a:off x="6382512" y="3794760"/>
            <a:ext cx="2011680" cy="640080"/>
          </a:xfrm>
          <a:prstGeom prst="roundRect">
            <a:avLst>
              <a:gd name="adj" fmla="val 10000"/>
            </a:avLst>
          </a:prstGeom>
          <a:solidFill>
            <a:srgbClr val="F8ECEA"/>
          </a:solidFill>
          <a:ln w="12700">
            <a:solidFill>
              <a:srgbClr val="C65E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01968" y="3913632"/>
            <a:ext cx="15727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0" b="1" dirty="0">
                <a:solidFill>
                  <a:srgbClr val="C65E5C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權限 / 審計</a:t>
            </a:r>
            <a:endParaRPr lang="en-US" sz="1140" dirty="0"/>
          </a:p>
        </p:txBody>
      </p:sp>
      <p:sp>
        <p:nvSpPr>
          <p:cNvPr id="35" name="Text 33"/>
          <p:cNvSpPr/>
          <p:nvPr/>
        </p:nvSpPr>
        <p:spPr>
          <a:xfrm>
            <a:off x="6565392" y="4151376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7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RBAC、遮罩、操作記錄、引用留痕</a:t>
            </a:r>
            <a:endParaRPr lang="en-US" sz="970" dirty="0"/>
          </a:p>
        </p:txBody>
      </p:sp>
      <p:sp>
        <p:nvSpPr>
          <p:cNvPr id="36" name="Shape 34"/>
          <p:cNvSpPr/>
          <p:nvPr/>
        </p:nvSpPr>
        <p:spPr>
          <a:xfrm>
            <a:off x="411480" y="4736592"/>
            <a:ext cx="11365992" cy="96012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D6CA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21792" y="4956048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32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技術端交付物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828800" y="4946904"/>
            <a:ext cx="9235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37415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Connector 規格、tool schema、prompt template、檢索索引設計、案例資料 schema、評估集、權限與審計要求。</a:t>
            </a:r>
            <a:endParaRPr lang="en-US" sz="1120" dirty="0"/>
          </a:p>
        </p:txBody>
      </p:sp>
      <p:sp>
        <p:nvSpPr>
          <p:cNvPr id="39" name="Text 37"/>
          <p:cNvSpPr/>
          <p:nvPr/>
        </p:nvSpPr>
        <p:spPr>
          <a:xfrm>
            <a:off x="621792" y="5266944"/>
            <a:ext cx="10881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90" dirty="0">
                <a:solidFill>
                  <a:srgbClr val="6B728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建議原則：先以 API / 批次模式接入，再視使用場景補上聊天介面；避免一開始就把 UI 當成產品本體。</a:t>
            </a:r>
            <a:endParaRPr lang="en-US" sz="109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58600" y="164592"/>
            <a:ext cx="329184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7D3E35"/>
                </a:solidFill>
                <a:latin typeface="Noto Sans CJK TC"/>
                <a:ea typeface="Noto Sans CJK TC"/>
                <a:cs typeface="Noto Sans CJK TC"/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T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T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故障分析 Agent</dc:title>
  <dc:subject>故障分析 Agent 提案</dc:subject>
  <dc:creator>OpenAI</dc:creator>
  <cp:lastModifiedBy>OpenAI</cp:lastModifiedBy>
  <cp:revision>1</cp:revision>
  <dcterms:created xsi:type="dcterms:W3CDTF">2026-04-17T13:05:27Z</dcterms:created>
  <dcterms:modified xsi:type="dcterms:W3CDTF">2026-04-17T13:05:27Z</dcterms:modified>
</cp:coreProperties>
</file>