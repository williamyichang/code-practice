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ecutive_five_rendered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ecutive_five_rendered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ecutive_five_rendered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ecutive_five_rendered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ecutive_five_rendered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2514600" cy="4023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專案落地總覽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694944"/>
            <a:ext cx="5897880" cy="22860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Purpose｜Targets｜Timeline｜Architecture｜Difficulty Handling｜Highlights</a:t>
            </a:r>
            <a:endParaRPr lang="en-US" sz="1060" dirty="0"/>
          </a:p>
        </p:txBody>
      </p:sp>
      <p:sp>
        <p:nvSpPr>
          <p:cNvPr id="4" name="Text 2"/>
          <p:cNvSpPr/>
          <p:nvPr/>
        </p:nvSpPr>
        <p:spPr>
          <a:xfrm>
            <a:off x="6858000" y="347472"/>
            <a:ext cx="4315968" cy="402336"/>
          </a:xfrm>
          <a:prstGeom prst="rect">
            <a:avLst/>
          </a:prstGeom>
          <a:solidFill>
            <a:srgbClr val="FFF7E9"/>
          </a:solidFill>
          <a:ln w="10160">
            <a:solidFill>
              <a:srgbClr val="E9DDC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給高階主管快速對齊：本頁說明專案全貌與亮點，不要求決策。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0160">
            <a:solidFill>
              <a:srgbClr val="D9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25296"/>
            <a:ext cx="1092708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0795">
            <a:solidFill>
              <a:srgbClr val="D8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08176"/>
            <a:ext cx="9601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專案目的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20240" y="1344168"/>
            <a:ext cx="9125712" cy="3200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將分散資料、SOP、歷史經驗與現場流程整合，建立「AI 輔助、人員確認、管理可追蹤」的標準化營運能力。</a:t>
            </a:r>
            <a:endParaRPr lang="en-US" sz="1410" dirty="0"/>
          </a:p>
        </p:txBody>
      </p:sp>
      <p:sp>
        <p:nvSpPr>
          <p:cNvPr id="9" name="Text 7"/>
          <p:cNvSpPr/>
          <p:nvPr/>
        </p:nvSpPr>
        <p:spPr>
          <a:xfrm>
            <a:off x="3328416" y="1664208"/>
            <a:ext cx="5394960" cy="17373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A96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核心價值：更快查詢｜更一致分析｜更完整留痕｜更容易複製擴張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84048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356C9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01｜專案架構：從資料到管理輸出的閉環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749808" cy="0"/>
          </a:xfrm>
          <a:prstGeom prst="line">
            <a:avLst/>
          </a:prstGeom>
          <a:noFill/>
          <a:ln w="25400">
            <a:solidFill>
              <a:srgbClr val="356C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2971800"/>
            <a:ext cx="502920" cy="0"/>
          </a:xfrm>
          <a:prstGeom prst="line">
            <a:avLst/>
          </a:prstGeom>
          <a:noFill/>
          <a:ln w="17145">
            <a:solidFill>
              <a:srgbClr val="BFD0E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71416" y="2971800"/>
            <a:ext cx="502920" cy="0"/>
          </a:xfrm>
          <a:prstGeom prst="line">
            <a:avLst/>
          </a:prstGeom>
          <a:noFill/>
          <a:ln w="17145">
            <a:solidFill>
              <a:srgbClr val="BFD0E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2971800"/>
            <a:ext cx="502920" cy="0"/>
          </a:xfrm>
          <a:prstGeom prst="line">
            <a:avLst/>
          </a:prstGeom>
          <a:noFill/>
          <a:ln w="17145">
            <a:solidFill>
              <a:srgbClr val="BFD0E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95944" y="2971800"/>
            <a:ext cx="502920" cy="0"/>
          </a:xfrm>
          <a:prstGeom prst="line">
            <a:avLst/>
          </a:prstGeom>
          <a:noFill/>
          <a:ln w="17145">
            <a:solidFill>
              <a:srgbClr val="BFD0E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2606040"/>
            <a:ext cx="1609344" cy="822960"/>
          </a:xfrm>
          <a:prstGeom prst="roundRect">
            <a:avLst>
              <a:gd name="adj" fmla="val 14444"/>
            </a:avLst>
          </a:prstGeom>
          <a:solidFill>
            <a:srgbClr val="F0F6FC"/>
          </a:solidFill>
          <a:ln w="10795">
            <a:solidFill>
              <a:srgbClr val="C6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706624"/>
            <a:ext cx="1335024" cy="1920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資料層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886968" y="2971800"/>
            <a:ext cx="133502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SOP・參數表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歷史案例・DB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2862072" y="2606040"/>
            <a:ext cx="1609344" cy="822960"/>
          </a:xfrm>
          <a:prstGeom prst="roundRect">
            <a:avLst>
              <a:gd name="adj" fmla="val 14444"/>
            </a:avLst>
          </a:prstGeom>
          <a:solidFill>
            <a:srgbClr val="EEF0FF"/>
          </a:solidFill>
          <a:ln w="10795">
            <a:solidFill>
              <a:srgbClr val="CDD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2706624"/>
            <a:ext cx="1335024" cy="1920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層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2999232" y="2971800"/>
            <a:ext cx="133502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RAG 檢索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推理・規則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974336" y="2606040"/>
            <a:ext cx="1609344" cy="822960"/>
          </a:xfrm>
          <a:prstGeom prst="roundRect">
            <a:avLst>
              <a:gd name="adj" fmla="val 14444"/>
            </a:avLst>
          </a:prstGeom>
          <a:solidFill>
            <a:srgbClr val="EAF5EF"/>
          </a:solidFill>
          <a:ln w="10795">
            <a:solidFill>
              <a:srgbClr val="C5E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2706624"/>
            <a:ext cx="1335024" cy="1920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協作層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5111496" y="2971800"/>
            <a:ext cx="133502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人員確認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例外回饋・修正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086600" y="2606040"/>
            <a:ext cx="1609344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0795">
            <a:solidFill>
              <a:srgbClr val="D8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706624"/>
            <a:ext cx="1335024" cy="1920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流程層</a:t>
            </a:r>
            <a:endParaRPr lang="en-US" sz="1110" dirty="0"/>
          </a:p>
        </p:txBody>
      </p:sp>
      <p:sp>
        <p:nvSpPr>
          <p:cNvPr id="27" name="Text 25"/>
          <p:cNvSpPr/>
          <p:nvPr/>
        </p:nvSpPr>
        <p:spPr>
          <a:xfrm>
            <a:off x="7223760" y="2971800"/>
            <a:ext cx="133502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標準步驟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權責與紀錄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9198864" y="2606040"/>
            <a:ext cx="1609344" cy="822960"/>
          </a:xfrm>
          <a:prstGeom prst="roundRect">
            <a:avLst>
              <a:gd name="adj" fmla="val 14444"/>
            </a:avLst>
          </a:prstGeom>
          <a:solidFill>
            <a:srgbClr val="FFF7E9"/>
          </a:solidFill>
          <a:ln w="10795">
            <a:solidFill>
              <a:srgbClr val="E2CF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36024" y="2706624"/>
            <a:ext cx="1335024" cy="19202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管理層</a:t>
            </a:r>
            <a:endParaRPr lang="en-US" sz="1110" dirty="0"/>
          </a:p>
        </p:txBody>
      </p:sp>
      <p:sp>
        <p:nvSpPr>
          <p:cNvPr id="30" name="Text 28"/>
          <p:cNvSpPr/>
          <p:nvPr/>
        </p:nvSpPr>
        <p:spPr>
          <a:xfrm>
            <a:off x="9336024" y="2971800"/>
            <a:ext cx="1335024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報告沉澱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看板・稽核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1097280" y="3611880"/>
            <a:ext cx="9646920" cy="21945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設計重點：不是單一工具，而是「資料治理 × AI 能力 × 人機協作 × 管理追蹤」的可營運系統。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160520"/>
            <a:ext cx="2670048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0795">
            <a:solidFill>
              <a:srgbClr val="D8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306824"/>
            <a:ext cx="118872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4E8B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02｜目標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804672" y="4599432"/>
            <a:ext cx="749808" cy="0"/>
          </a:xfrm>
          <a:prstGeom prst="line">
            <a:avLst/>
          </a:prstGeom>
          <a:noFill/>
          <a:ln w="25400">
            <a:solidFill>
              <a:srgbClr val="4E8B6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786884"/>
            <a:ext cx="105156" cy="105156"/>
          </a:xfrm>
          <a:prstGeom prst="ellipse">
            <a:avLst/>
          </a:prstGeom>
          <a:solidFill>
            <a:srgbClr val="4E8B6D"/>
          </a:solidFill>
          <a:ln w="12700">
            <a:solidFill>
              <a:srgbClr val="4E8B6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727448"/>
            <a:ext cx="21031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建立單一知識入口與標準輸出格式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41248" y="5052060"/>
            <a:ext cx="105156" cy="105156"/>
          </a:xfrm>
          <a:prstGeom prst="ellipse">
            <a:avLst/>
          </a:prstGeom>
          <a:solidFill>
            <a:srgbClr val="4E8B6D"/>
          </a:solidFill>
          <a:ln w="12700">
            <a:solidFill>
              <a:srgbClr val="4E8B6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992624"/>
            <a:ext cx="21031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提供方向、證據與下一步建議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41248" y="5317236"/>
            <a:ext cx="105156" cy="105156"/>
          </a:xfrm>
          <a:prstGeom prst="ellipse">
            <a:avLst/>
          </a:prstGeom>
          <a:solidFill>
            <a:srgbClr val="4E8B6D"/>
          </a:solidFill>
          <a:ln w="12700">
            <a:solidFill>
              <a:srgbClr val="4E8B6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5257800"/>
            <a:ext cx="210312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KPI 追蹤時間、品質、覆蓋率與再利用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83864" y="4160520"/>
            <a:ext cx="2670048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0795">
            <a:solidFill>
              <a:srgbClr val="D8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48456" y="4306824"/>
            <a:ext cx="118872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356C9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03｜時程</a:t>
            </a:r>
            <a:endParaRPr lang="en-US" sz="1160" dirty="0"/>
          </a:p>
        </p:txBody>
      </p:sp>
      <p:sp>
        <p:nvSpPr>
          <p:cNvPr id="43" name="Shape 41"/>
          <p:cNvSpPr/>
          <p:nvPr/>
        </p:nvSpPr>
        <p:spPr>
          <a:xfrm>
            <a:off x="3648456" y="4599432"/>
            <a:ext cx="749808" cy="0"/>
          </a:xfrm>
          <a:prstGeom prst="line">
            <a:avLst/>
          </a:prstGeom>
          <a:noFill/>
          <a:ln w="25400">
            <a:solidFill>
              <a:srgbClr val="356C9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95928" y="4992624"/>
            <a:ext cx="402336" cy="0"/>
          </a:xfrm>
          <a:prstGeom prst="line">
            <a:avLst/>
          </a:prstGeom>
          <a:noFill/>
          <a:ln w="13970">
            <a:solidFill>
              <a:srgbClr val="C9D7E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685032" y="4736592"/>
            <a:ext cx="402336" cy="402336"/>
          </a:xfrm>
          <a:prstGeom prst="ellipse">
            <a:avLst/>
          </a:prstGeom>
          <a:solidFill>
            <a:srgbClr val="356C9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5324" y="483260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3611880" y="5202936"/>
            <a:ext cx="5486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場景/資料盤點</a:t>
            </a:r>
            <a:endParaRPr lang="en-US" sz="665" dirty="0"/>
          </a:p>
        </p:txBody>
      </p:sp>
      <p:sp>
        <p:nvSpPr>
          <p:cNvPr id="48" name="Shape 46"/>
          <p:cNvSpPr/>
          <p:nvPr/>
        </p:nvSpPr>
        <p:spPr>
          <a:xfrm>
            <a:off x="4617720" y="4992624"/>
            <a:ext cx="402336" cy="0"/>
          </a:xfrm>
          <a:prstGeom prst="line">
            <a:avLst/>
          </a:prstGeom>
          <a:noFill/>
          <a:ln w="13970">
            <a:solidFill>
              <a:srgbClr val="C9D7E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306824" y="4736592"/>
            <a:ext cx="402336" cy="402336"/>
          </a:xfrm>
          <a:prstGeom prst="ellipse">
            <a:avLst/>
          </a:prstGeom>
          <a:solidFill>
            <a:srgbClr val="356C9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7116" y="483260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233672" y="5202936"/>
            <a:ext cx="5486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知識庫/流程設計</a:t>
            </a:r>
            <a:endParaRPr lang="en-US" sz="665" dirty="0"/>
          </a:p>
        </p:txBody>
      </p:sp>
      <p:sp>
        <p:nvSpPr>
          <p:cNvPr id="52" name="Shape 50"/>
          <p:cNvSpPr/>
          <p:nvPr/>
        </p:nvSpPr>
        <p:spPr>
          <a:xfrm>
            <a:off x="5239512" y="4992624"/>
            <a:ext cx="402336" cy="0"/>
          </a:xfrm>
          <a:prstGeom prst="line">
            <a:avLst/>
          </a:prstGeom>
          <a:noFill/>
          <a:ln w="13970">
            <a:solidFill>
              <a:srgbClr val="C9D7E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928616" y="4736592"/>
            <a:ext cx="402336" cy="402336"/>
          </a:xfrm>
          <a:prstGeom prst="ellipse">
            <a:avLst/>
          </a:prstGeom>
          <a:solidFill>
            <a:srgbClr val="356C9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78908" y="483260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855464" y="5202936"/>
            <a:ext cx="5486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建置測試</a:t>
            </a:r>
            <a:endParaRPr lang="en-US" sz="665" dirty="0"/>
          </a:p>
        </p:txBody>
      </p:sp>
      <p:sp>
        <p:nvSpPr>
          <p:cNvPr id="56" name="Shape 54"/>
          <p:cNvSpPr/>
          <p:nvPr/>
        </p:nvSpPr>
        <p:spPr>
          <a:xfrm>
            <a:off x="5861304" y="4992624"/>
            <a:ext cx="0" cy="0"/>
          </a:xfrm>
          <a:prstGeom prst="line">
            <a:avLst/>
          </a:prstGeom>
          <a:noFill/>
          <a:ln w="13970">
            <a:solidFill>
              <a:srgbClr val="C9D7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0408" y="4736592"/>
            <a:ext cx="402336" cy="402336"/>
          </a:xfrm>
          <a:prstGeom prst="ellipse">
            <a:avLst/>
          </a:prstGeom>
          <a:solidFill>
            <a:srgbClr val="B78B43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00700" y="483260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477256" y="5202936"/>
            <a:ext cx="5486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6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試點上線優化</a:t>
            </a:r>
            <a:endParaRPr lang="en-US" sz="665" dirty="0"/>
          </a:p>
        </p:txBody>
      </p:sp>
      <p:sp>
        <p:nvSpPr>
          <p:cNvPr id="60" name="Shape 58"/>
          <p:cNvSpPr/>
          <p:nvPr/>
        </p:nvSpPr>
        <p:spPr>
          <a:xfrm>
            <a:off x="6327648" y="4160520"/>
            <a:ext cx="2670048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0795">
            <a:solidFill>
              <a:srgbClr val="D8E2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306824"/>
            <a:ext cx="173736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04｜克服困難</a:t>
            </a:r>
            <a:endParaRPr lang="en-US" sz="1160" dirty="0"/>
          </a:p>
        </p:txBody>
      </p:sp>
      <p:sp>
        <p:nvSpPr>
          <p:cNvPr id="62" name="Shape 60"/>
          <p:cNvSpPr/>
          <p:nvPr/>
        </p:nvSpPr>
        <p:spPr>
          <a:xfrm>
            <a:off x="6492240" y="4599432"/>
            <a:ext cx="749808" cy="0"/>
          </a:xfrm>
          <a:prstGeom prst="line">
            <a:avLst/>
          </a:prstGeom>
          <a:noFill/>
          <a:ln w="25400">
            <a:solidFill>
              <a:srgbClr val="B78B4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4681728"/>
            <a:ext cx="612648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資料分散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7196328" y="4681728"/>
            <a:ext cx="146304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7360920" y="4681728"/>
            <a:ext cx="1444752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索引/版本/來源治理</a:t>
            </a:r>
            <a:endParaRPr lang="en-US" sz="770" dirty="0"/>
          </a:p>
        </p:txBody>
      </p:sp>
      <p:sp>
        <p:nvSpPr>
          <p:cNvPr id="66" name="Text 64"/>
          <p:cNvSpPr/>
          <p:nvPr/>
        </p:nvSpPr>
        <p:spPr>
          <a:xfrm>
            <a:off x="6583680" y="4892040"/>
            <a:ext cx="612648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答案不穩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7196328" y="4892040"/>
            <a:ext cx="146304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7360920" y="4892040"/>
            <a:ext cx="1444752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證據引用＋人工覆核</a:t>
            </a:r>
            <a:endParaRPr lang="en-US" sz="770" dirty="0"/>
          </a:p>
        </p:txBody>
      </p:sp>
      <p:sp>
        <p:nvSpPr>
          <p:cNvPr id="69" name="Text 67"/>
          <p:cNvSpPr/>
          <p:nvPr/>
        </p:nvSpPr>
        <p:spPr>
          <a:xfrm>
            <a:off x="6583680" y="5102352"/>
            <a:ext cx="612648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流程難落地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7196328" y="5102352"/>
            <a:ext cx="146304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7360920" y="5102352"/>
            <a:ext cx="1444752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對齊實際節點與權責</a:t>
            </a:r>
            <a:endParaRPr lang="en-US" sz="770" dirty="0"/>
          </a:p>
        </p:txBody>
      </p:sp>
      <p:sp>
        <p:nvSpPr>
          <p:cNvPr id="72" name="Text 70"/>
          <p:cNvSpPr/>
          <p:nvPr/>
        </p:nvSpPr>
        <p:spPr>
          <a:xfrm>
            <a:off x="6583680" y="5312664"/>
            <a:ext cx="612648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效益難量化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7196328" y="5312664"/>
            <a:ext cx="146304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7360920" y="5312664"/>
            <a:ext cx="1444752" cy="13716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先定義驗收 KPI</a:t>
            </a:r>
            <a:endParaRPr lang="en-US" sz="770" dirty="0"/>
          </a:p>
        </p:txBody>
      </p:sp>
      <p:sp>
        <p:nvSpPr>
          <p:cNvPr id="75" name="Shape 73"/>
          <p:cNvSpPr/>
          <p:nvPr/>
        </p:nvSpPr>
        <p:spPr>
          <a:xfrm>
            <a:off x="9171432" y="4160520"/>
            <a:ext cx="2670048" cy="1444752"/>
          </a:xfrm>
          <a:prstGeom prst="roundRect">
            <a:avLst>
              <a:gd name="adj" fmla="val 7595"/>
            </a:avLst>
          </a:prstGeom>
          <a:solidFill>
            <a:srgbClr val="FFF7E9"/>
          </a:solidFill>
          <a:ln w="10795">
            <a:solidFill>
              <a:srgbClr val="E2CF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36024" y="4306824"/>
            <a:ext cx="2103120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05｜亮點與周全性</a:t>
            </a:r>
            <a:endParaRPr lang="en-US" sz="1160" dirty="0"/>
          </a:p>
        </p:txBody>
      </p:sp>
      <p:sp>
        <p:nvSpPr>
          <p:cNvPr id="77" name="Shape 75"/>
          <p:cNvSpPr/>
          <p:nvPr/>
        </p:nvSpPr>
        <p:spPr>
          <a:xfrm>
            <a:off x="9336024" y="4599432"/>
            <a:ext cx="749808" cy="0"/>
          </a:xfrm>
          <a:prstGeom prst="line">
            <a:avLst/>
          </a:prstGeom>
          <a:noFill/>
          <a:ln w="25400">
            <a:solidFill>
              <a:srgbClr val="B78B4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72600" y="4786884"/>
            <a:ext cx="105156" cy="105156"/>
          </a:xfrm>
          <a:prstGeom prst="ellipse">
            <a:avLst/>
          </a:prstGeom>
          <a:solidFill>
            <a:srgbClr val="B78B43"/>
          </a:solidFill>
          <a:ln w="12700">
            <a:solidFill>
              <a:srgbClr val="B78B43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37192" y="4727448"/>
            <a:ext cx="2093976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84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完整閉環：需求 → 資料 → AI → 人員 → 管理</a:t>
            </a:r>
            <a:endParaRPr lang="en-US" sz="845" dirty="0"/>
          </a:p>
        </p:txBody>
      </p:sp>
      <p:sp>
        <p:nvSpPr>
          <p:cNvPr id="80" name="Shape 78"/>
          <p:cNvSpPr/>
          <p:nvPr/>
        </p:nvSpPr>
        <p:spPr>
          <a:xfrm>
            <a:off x="9372600" y="5052060"/>
            <a:ext cx="105156" cy="105156"/>
          </a:xfrm>
          <a:prstGeom prst="ellipse">
            <a:avLst/>
          </a:prstGeom>
          <a:solidFill>
            <a:srgbClr val="B78B43"/>
          </a:solidFill>
          <a:ln w="12700">
            <a:solidFill>
              <a:srgbClr val="B78B43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537192" y="4992624"/>
            <a:ext cx="2093976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84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可治理：權限、稽核、版本、例外處理都納入</a:t>
            </a:r>
            <a:endParaRPr lang="en-US" sz="845" dirty="0"/>
          </a:p>
        </p:txBody>
      </p:sp>
      <p:sp>
        <p:nvSpPr>
          <p:cNvPr id="82" name="Shape 80"/>
          <p:cNvSpPr/>
          <p:nvPr/>
        </p:nvSpPr>
        <p:spPr>
          <a:xfrm>
            <a:off x="9372600" y="5317236"/>
            <a:ext cx="105156" cy="105156"/>
          </a:xfrm>
          <a:prstGeom prst="ellipse">
            <a:avLst/>
          </a:prstGeom>
          <a:solidFill>
            <a:srgbClr val="B78B43"/>
          </a:solidFill>
          <a:ln w="12700">
            <a:solidFill>
              <a:srgbClr val="B78B43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37192" y="5257800"/>
            <a:ext cx="2093976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845" dirty="0">
                <a:solidFill>
                  <a:srgbClr val="6070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可擴張：核心流程驗證後，可複製至相似場景</a:t>
            </a:r>
            <a:endParaRPr lang="en-US" sz="845" dirty="0"/>
          </a:p>
        </p:txBody>
      </p:sp>
      <p:sp>
        <p:nvSpPr>
          <p:cNvPr id="84" name="Shape 82"/>
          <p:cNvSpPr/>
          <p:nvPr/>
        </p:nvSpPr>
        <p:spPr>
          <a:xfrm>
            <a:off x="640080" y="5897880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795">
            <a:solidFill>
              <a:srgbClr val="D8E2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2688" y="5989320"/>
            <a:ext cx="9802368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高階主管可一眼確認：專案目的清楚、目標可衡量、時程有節奏、架構可落地、困難已有對策、亮點具備擴張性。</a:t>
            </a:r>
            <a:endParaRPr lang="en-US" sz="940" dirty="0"/>
          </a:p>
        </p:txBody>
      </p:sp>
      <p:sp>
        <p:nvSpPr>
          <p:cNvPr id="86" name="Text 84"/>
          <p:cNvSpPr/>
          <p:nvPr/>
        </p:nvSpPr>
        <p:spPr>
          <a:xfrm>
            <a:off x="8988552" y="6446520"/>
            <a:ext cx="2322576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78B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6｜Executive One-Page Project Logic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高階主管專案總覽</dc:title>
  <dc:subject>Executive project overview with sixth page</dc:subject>
  <dc:creator>OpenAI</dc:creator>
  <cp:lastModifiedBy>OpenAI</cp:lastModifiedBy>
  <cp:revision>1</cp:revision>
  <dcterms:created xsi:type="dcterms:W3CDTF">2026-04-28T11:00:13Z</dcterms:created>
  <dcterms:modified xsi:type="dcterms:W3CDTF">2026-04-28T11:00:13Z</dcterms:modified>
</cp:coreProperties>
</file>