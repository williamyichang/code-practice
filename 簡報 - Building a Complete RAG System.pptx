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  <p:embeddedFont>
      <p:font typeface="TT Fors" charset="1" panose="020B0003030001020000"/>
      <p:regular r:id="rId17"/>
    </p:embeddedFont>
    <p:embeddedFont>
      <p:font typeface="TT Fors Bold" charset="1" panose="020B000303000102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Building a Complete RAG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[ORGANIZATION NAME HERE]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D1D5DB"/>
                </a:solidFill>
                <a:latin typeface="TT Fors"/>
                <a:ea typeface="TT Fors"/>
                <a:cs typeface="TT Fors"/>
                <a:sym typeface="TT Fors"/>
              </a:rPr>
              <a:t>Presented by [Presenter Name Here]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Why RAG Matters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limitations of standalone LLMs today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LLMs often produce </a:t>
              </a:r>
              <a:r>
                <a:rPr lang="en-US" b="true" sz="2100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inaccurate information</a:t>
              </a: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, known as hallucinations, which compromises trust and reliability in AI-generated outputs.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Hallucination Risk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Without RAG, LLMs lack the ability to access </a:t>
              </a:r>
              <a:r>
                <a:rPr lang="en-US" b="true" sz="2100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private or up-to-date data</a:t>
              </a: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, limiting their effectiveness and relevance in real-world applications.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Limited Data Access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Standalone LLMs rely on </a:t>
              </a:r>
              <a:r>
                <a:rPr lang="en-US" b="true" sz="2100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frozen training data</a:t>
              </a: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, meaning they cannot adapt or incorporate new information after their initial training phase.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Stale Knowledge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RAG System Architecture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flow of data in RAG systems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The process begins with a user query that initiates the search for relevant information through the system's architecture.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Query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This layer retrieves documents and information based on the user query, ensuring the most relevant data is accessed efficiently.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Retrieval Layer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The knowledge layer processes the retrieved data, preparing it for the LLM to generate accurate and context-aware answers.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Knowledge Layer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2533650"/>
            <a:chOff x="0" y="0"/>
            <a:chExt cx="9182100" cy="3378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Ingestion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61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Essential steps for effective data integration process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Various formats such as PDFs, documents, and web pages are ingested to ensure diverse data sources for comprehensive analysis.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Document Types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The system employs advanced algorithms for parsing and cleaning data, ensuring accuracy and relevance for downstream tasks and LLMs.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Parsing Process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Extracting metadata plays a crucial role in organizing information, enabling better retrieval and understanding during the knowledge generation phase.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Metadata Extraction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Chunking Strategy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how documents are effectively split for RAG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19827"/>
            <a:chOff x="0" y="0"/>
            <a:chExt cx="9182100" cy="25597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Semantic chunking involves breaking down documents into meaningful segments, enhancing comprehension and retrieval accuracy for the RAG system.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Semantic Chunks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19827"/>
            <a:chOff x="0" y="0"/>
            <a:chExt cx="9182100" cy="25597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Maintaining context within chunks is crucial; it ensures the relevant information is available for accurate answer generation when needed.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Context Preservation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19827"/>
            <a:chOff x="0" y="0"/>
            <a:chExt cx="9182100" cy="25597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576"/>
              <a:ext cx="9182100" cy="14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03"/>
                </a:lnSpc>
                <a:spcBef>
                  <a:spcPct val="0"/>
                </a:spcBef>
              </a:pPr>
              <a:r>
                <a:rPr lang="en-US" sz="2073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Managing token limits is essential to optimize performance; it prevents truncation while ensuring each chunk contains manageable amounts of information.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Token Limits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Embedding Techniques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role of vector databases in RAG systems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886204"/>
            <a:chOff x="0" y="0"/>
            <a:chExt cx="9182100" cy="251493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34703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Transforming textual data into </a:t>
              </a:r>
              <a:r>
                <a:rPr lang="en-US" b="true" sz="1995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numerical vectors</a:t>
              </a:r>
              <a:r>
                <a:rPr lang="en-US" sz="199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 allows machines to better understand and process the information for retrieval tasks.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Text to Vectors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886204"/>
            <a:chOff x="0" y="0"/>
            <a:chExt cx="9182100" cy="251493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34703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By leveraging vector representations, systems can perform </a:t>
              </a:r>
              <a:r>
                <a:rPr lang="en-US" b="true" sz="1995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efficient similarity searches</a:t>
              </a:r>
              <a:r>
                <a:rPr lang="en-US" sz="199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, identifying relevant documents based on semantic meaning and context.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Similarity Search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886204"/>
            <a:chOff x="0" y="0"/>
            <a:chExt cx="9182100" cy="251493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34703"/>
              <a:ext cx="9182100" cy="1380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3"/>
                </a:lnSpc>
                <a:spcBef>
                  <a:spcPct val="0"/>
                </a:spcBef>
              </a:pPr>
              <a:r>
                <a:rPr lang="en-US" sz="199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Utilizing metadata enables refined </a:t>
              </a:r>
              <a:r>
                <a:rPr lang="en-US" b="true" sz="1995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search capabilities</a:t>
              </a:r>
              <a:r>
                <a:rPr lang="en-US" sz="199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, allowing users to filter results based on specific attributes and enhance the relevance of retrieved information.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9182100" cy="595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pc="-74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Metadata Filtering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Retriever Design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how relevant context is selected effectively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Semantic search enhances retrieval by identifying and matching user queries with relevant documents based on meaning rather than just keywords.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Semantic Search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Ranking algorithms prioritize results according to relevance, ensuring that the most pertinent documents appear at the top of the response list for users.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Ranking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Generating Top-K results provides users with the best possible responses, ensuring high quality and relevancy in the information retrieved from the database.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Top-K Results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Prompt Template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Structuring inputs for optimal LLM performance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584960"/>
            <a:chOff x="0" y="0"/>
            <a:chExt cx="9182100" cy="21132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This is the directive provided to the LLM, guiding its overall behavior and approach to the user’s query.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Instruction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The relevant information sourced during retrieval, contextualizing the user’s question to enhance the quality of responses generated.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Retrieved Context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The specific inquiry posed by the user, which drives the response generation process, ensuring tailored and accurate answers are provided.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Question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Generation &amp; Evaluation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importance of quality in RAG outputs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RAG systems produce </a:t>
              </a:r>
              <a:r>
                <a:rPr lang="en-US" b="true" sz="2100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grounded answers</a:t>
              </a: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 by leveraging retrieved information, ensuring responses are accurate and relevant to user queries.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Grounded Answers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Evaluating the accuracy of RAG-generated answers is crucial for maintaining user trust and minimizing misinformation in AI applications.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Accuracy Metrics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Latency and costs are key considerations in RAG systems, impacting user experience and overall system efficiency in production environments.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Latency &amp; Cost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1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2533650"/>
            <a:chOff x="0" y="0"/>
            <a:chExt cx="9182100" cy="3378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3B82F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Future of RAG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161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9CA3A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Exploring the potential of Retrieval-Augmented Generation systems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850342"/>
            <a:chOff x="0" y="0"/>
            <a:chExt cx="9182100" cy="24671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23654"/>
              <a:ext cx="9182100" cy="134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7"/>
                </a:lnSpc>
                <a:spcBef>
                  <a:spcPct val="0"/>
                </a:spcBef>
              </a:pPr>
              <a:r>
                <a:rPr lang="en-US" sz="195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Leveraging RAG allows organizations to </a:t>
              </a:r>
              <a:r>
                <a:rPr lang="en-US" b="true" sz="1955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access sensitive data</a:t>
              </a:r>
              <a:r>
                <a:rPr lang="en-US" sz="195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 without compromising security, enhancing knowledge retrieval and compliance capabilities.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9182100" cy="58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9"/>
                </a:lnSpc>
                <a:spcBef>
                  <a:spcPct val="0"/>
                </a:spcBef>
              </a:pPr>
              <a:r>
                <a:rPr lang="en-US" sz="2421" spc="-72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Private Knowledge AI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850342"/>
            <a:chOff x="0" y="0"/>
            <a:chExt cx="9182100" cy="24671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23654"/>
              <a:ext cx="9182100" cy="134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7"/>
                </a:lnSpc>
                <a:spcBef>
                  <a:spcPct val="0"/>
                </a:spcBef>
              </a:pPr>
              <a:r>
                <a:rPr lang="en-US" sz="195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RAG architectures are designed to </a:t>
              </a:r>
              <a:r>
                <a:rPr lang="en-US" b="true" sz="1955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accommodate growth</a:t>
              </a:r>
              <a:r>
                <a:rPr lang="en-US" sz="195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 by handling increasing data volumes efficiently, ensuring consistent performance and reliability as demands rise.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9182100" cy="58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9"/>
                </a:lnSpc>
                <a:spcBef>
                  <a:spcPct val="0"/>
                </a:spcBef>
              </a:pPr>
              <a:r>
                <a:rPr lang="en-US" sz="2421" spc="-72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Scalable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850342"/>
            <a:chOff x="0" y="0"/>
            <a:chExt cx="9182100" cy="24671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23654"/>
              <a:ext cx="9182100" cy="134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7"/>
                </a:lnSpc>
                <a:spcBef>
                  <a:spcPct val="0"/>
                </a:spcBef>
              </a:pPr>
              <a:r>
                <a:rPr lang="en-US" sz="195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The future of RAG includes </a:t>
              </a:r>
              <a:r>
                <a:rPr lang="en-US" b="true" sz="1955">
                  <a:solidFill>
                    <a:srgbClr val="D1D5DB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integrating diverse data types</a:t>
              </a:r>
              <a:r>
                <a:rPr lang="en-US" sz="1955">
                  <a:solidFill>
                    <a:srgbClr val="D1D5DB"/>
                  </a:solidFill>
                  <a:latin typeface="TT Fors"/>
                  <a:ea typeface="TT Fors"/>
                  <a:cs typeface="TT Fors"/>
                  <a:sym typeface="TT Fors"/>
                </a:rPr>
                <a:t>, enabling richer interactions and insights through text, images, and other modalities in AI systems.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9182100" cy="584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9"/>
                </a:lnSpc>
                <a:spcBef>
                  <a:spcPct val="0"/>
                </a:spcBef>
              </a:pPr>
              <a:r>
                <a:rPr lang="en-US" sz="2421" spc="-72" strike="noStrike" u="none">
                  <a:solidFill>
                    <a:srgbClr val="D1D5DB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Multi-modal RAG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Building a Complete RAG System</dc:description>
  <dc:identifier>DAG8f5tBupU</dc:identifier>
  <dcterms:modified xsi:type="dcterms:W3CDTF">2011-08-01T06:04:30Z</dcterms:modified>
  <cp:revision>1</cp:revision>
  <dc:title>簡報 - Building a Complete RAG System</dc:title>
</cp:coreProperties>
</file>