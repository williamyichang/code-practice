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3716000" cy="9144000"/>
  <p:notesSz cx="9144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92224"/>
            <a:ext cx="13716000" cy="7351776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01400" y="118872"/>
            <a:ext cx="1965960" cy="1188720"/>
          </a:xfrm>
          <a:prstGeom prst="ellipse">
            <a:avLst/>
          </a:prstGeom>
          <a:solidFill>
            <a:srgbClr val="DDF1FF">
              <a:alpha val="85000"/>
            </a:srgbClr>
          </a:solidFill>
          <a:ln w="12700">
            <a:solidFill>
              <a:srgbClr val="DDF1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78440" y="941832"/>
            <a:ext cx="2331720" cy="868680"/>
          </a:xfrm>
          <a:prstGeom prst="ellipse">
            <a:avLst/>
          </a:prstGeom>
          <a:solidFill>
            <a:srgbClr val="E8F5FF">
              <a:alpha val="90000"/>
            </a:srgbClr>
          </a:solidFill>
          <a:ln w="12700">
            <a:solidFill>
              <a:srgbClr val="E8F5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0" y="320040"/>
            <a:ext cx="502920" cy="502920"/>
          </a:xfrm>
          <a:prstGeom prst="ellipse">
            <a:avLst/>
          </a:prstGeom>
          <a:solidFill>
            <a:srgbClr val="E4F4FF">
              <a:alpha val="95000"/>
            </a:srgbClr>
          </a:solidFill>
          <a:ln w="12700">
            <a:solidFill>
              <a:srgbClr val="E4F4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475488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C2DD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65408" y="585216"/>
            <a:ext cx="329184" cy="329184"/>
          </a:xfrm>
          <a:prstGeom prst="rect">
            <a:avLst/>
          </a:prstGeom>
          <a:solidFill>
            <a:srgbClr val="FFE4DA"/>
          </a:solidFill>
          <a:ln w="12700">
            <a:solidFill>
              <a:srgbClr val="FFE4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29416" y="630936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6D4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731752" y="658368"/>
            <a:ext cx="384048" cy="0"/>
          </a:xfrm>
          <a:prstGeom prst="line">
            <a:avLst/>
          </a:prstGeom>
          <a:noFill/>
          <a:ln w="25400">
            <a:solidFill>
              <a:srgbClr val="F49F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31752" y="841248"/>
            <a:ext cx="585216" cy="0"/>
          </a:xfrm>
          <a:prstGeom prst="line">
            <a:avLst/>
          </a:prstGeom>
          <a:noFill/>
          <a:ln w="21590">
            <a:solidFill>
              <a:srgbClr val="B8D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31752" y="1024128"/>
            <a:ext cx="493776" cy="0"/>
          </a:xfrm>
          <a:prstGeom prst="line">
            <a:avLst/>
          </a:prstGeom>
          <a:noFill/>
          <a:ln w="21590">
            <a:solidFill>
              <a:srgbClr val="B8D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34672" y="896112"/>
            <a:ext cx="164592" cy="320040"/>
          </a:xfrm>
          <a:prstGeom prst="rect">
            <a:avLst/>
          </a:prstGeom>
          <a:solidFill>
            <a:srgbClr val="A7D6ED"/>
          </a:solidFill>
          <a:ln w="12700">
            <a:solidFill>
              <a:srgbClr val="A7D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44984" y="749808"/>
            <a:ext cx="164592" cy="466344"/>
          </a:xfrm>
          <a:prstGeom prst="rect">
            <a:avLst/>
          </a:prstGeom>
          <a:solidFill>
            <a:srgbClr val="77C2E1"/>
          </a:solidFill>
          <a:ln w="12700">
            <a:solidFill>
              <a:srgbClr val="77C2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82728" y="768096"/>
            <a:ext cx="566928" cy="566928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86B7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094208" y="1197864"/>
            <a:ext cx="329184" cy="329184"/>
          </a:xfrm>
          <a:prstGeom prst="line">
            <a:avLst/>
          </a:prstGeom>
          <a:noFill/>
          <a:ln w="50800">
            <a:solidFill>
              <a:srgbClr val="2F6B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92608"/>
            <a:ext cx="58064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20" b="1" dirty="0">
                <a:solidFill>
                  <a:srgbClr val="0A2A5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地端 PowerPoint 知識庫建置流程</a:t>
            </a:r>
            <a:endParaRPr lang="en-US" sz="2320" dirty="0"/>
          </a:p>
        </p:txBody>
      </p:sp>
      <p:sp>
        <p:nvSpPr>
          <p:cNvPr id="18" name="Text 16"/>
          <p:cNvSpPr/>
          <p:nvPr/>
        </p:nvSpPr>
        <p:spPr>
          <a:xfrm>
            <a:off x="6748272" y="356616"/>
            <a:ext cx="3749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2A5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（方案二：API 取檔 + 自行處理）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93192" y="960120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3551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透過 File API 取得 PPT 檔案，自行解析、Embedding 並建立向量資料庫，提供搜尋與問答服務給 Agent / Langflow 使用，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3551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全程在地端執行，無需上雲，確保資料安全。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201168" y="1874520"/>
            <a:ext cx="10625328" cy="3959352"/>
          </a:xfrm>
          <a:prstGeom prst="roundRect">
            <a:avLst>
              <a:gd name="adj" fmla="val 2771"/>
            </a:avLst>
          </a:prstGeom>
          <a:solidFill>
            <a:srgbClr val="F1F8FF"/>
          </a:solidFill>
          <a:ln w="12700">
            <a:solidFill>
              <a:srgbClr val="E4F0FA"/>
            </a:solidFill>
            <a:prstDash val="solid"/>
          </a:ln>
          <a:effectLst>
            <a:outerShdw sx="100000" sy="100000" kx="0" ky="0" algn="bl" rotWithShape="0" blurRad="17780" dist="50800" dir="2700000">
              <a:srgbClr val="CFE1F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3192" y="2093976"/>
            <a:ext cx="21945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" y="2080260"/>
            <a:ext cx="3017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A5C9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整體流程圖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49224" y="2359152"/>
            <a:ext cx="1234440" cy="0"/>
          </a:xfrm>
          <a:prstGeom prst="line">
            <a:avLst/>
          </a:prstGeom>
          <a:noFill/>
          <a:ln w="12700">
            <a:solidFill>
              <a:srgbClr val="65B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" y="2761488"/>
            <a:ext cx="1115568" cy="2816352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  <a:effectLst>
            <a:outerShdw sx="100000" sy="100000" kx="0" ky="0" algn="bl" rotWithShape="0" blurRad="12700" dist="50800" dir="2700000">
              <a:srgbClr val="C6DDED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" y="2779776"/>
            <a:ext cx="256032" cy="256032"/>
          </a:xfrm>
          <a:prstGeom prst="rect">
            <a:avLst/>
          </a:prstGeom>
          <a:solidFill>
            <a:srgbClr val="2F8DD8"/>
          </a:solidFill>
          <a:ln>
            <a:solidFill>
              <a:srgbClr val="2F8DD8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38912" y="3072384"/>
            <a:ext cx="8961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B2E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取得檔案清單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21792" y="3602736"/>
            <a:ext cx="530352" cy="530352"/>
          </a:xfrm>
          <a:prstGeom prst="rect">
            <a:avLst/>
          </a:prstGeom>
          <a:solidFill>
            <a:srgbClr val="E6F2FF"/>
          </a:solidFill>
          <a:ln>
            <a:solidFill>
              <a:srgbClr val="E6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▤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48056" y="4297680"/>
            <a:ext cx="87782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透過 File API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取得可存取的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PPT 檔案清單</a:t>
            </a:r>
            <a:endParaRPr lang="en-US" sz="725" dirty="0"/>
          </a:p>
        </p:txBody>
      </p:sp>
      <p:sp>
        <p:nvSpPr>
          <p:cNvPr id="29" name="Shape 27"/>
          <p:cNvSpPr/>
          <p:nvPr/>
        </p:nvSpPr>
        <p:spPr>
          <a:xfrm>
            <a:off x="1463040" y="4178808"/>
            <a:ext cx="27432" cy="0"/>
          </a:xfrm>
          <a:prstGeom prst="line">
            <a:avLst/>
          </a:prstGeom>
          <a:noFill/>
          <a:ln w="25400">
            <a:solidFill>
              <a:srgbClr val="2F8DD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508760" y="2761488"/>
            <a:ext cx="1115568" cy="2816352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  <a:effectLst>
            <a:outerShdw sx="100000" sy="100000" kx="0" ky="0" algn="bl" rotWithShape="0" blurRad="12700" dist="50800" dir="2700000">
              <a:srgbClr val="C6DDED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38528" y="2779776"/>
            <a:ext cx="256032" cy="256032"/>
          </a:xfrm>
          <a:prstGeom prst="rect">
            <a:avLst/>
          </a:prstGeom>
          <a:solidFill>
            <a:srgbClr val="2F8DD8"/>
          </a:solidFill>
          <a:ln>
            <a:solidFill>
              <a:srgbClr val="2F8DD8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618488" y="3072384"/>
            <a:ext cx="8961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B2E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下載檔案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801368" y="3602736"/>
            <a:ext cx="530352" cy="530352"/>
          </a:xfrm>
          <a:prstGeom prst="rect">
            <a:avLst/>
          </a:prstGeom>
          <a:solidFill>
            <a:srgbClr val="E6F2FF"/>
          </a:solidFill>
          <a:ln>
            <a:solidFill>
              <a:srgbClr val="E6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☁↓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627632" y="4297680"/>
            <a:ext cx="87782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透過 File API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下載指定的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PPT 檔案</a:t>
            </a:r>
            <a:endParaRPr lang="en-US" sz="725" dirty="0"/>
          </a:p>
        </p:txBody>
      </p:sp>
      <p:sp>
        <p:nvSpPr>
          <p:cNvPr id="35" name="Shape 33"/>
          <p:cNvSpPr/>
          <p:nvPr/>
        </p:nvSpPr>
        <p:spPr>
          <a:xfrm>
            <a:off x="2642616" y="4178808"/>
            <a:ext cx="27432" cy="0"/>
          </a:xfrm>
          <a:prstGeom prst="line">
            <a:avLst/>
          </a:prstGeom>
          <a:noFill/>
          <a:ln w="25400">
            <a:solidFill>
              <a:srgbClr val="2F8DD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688336" y="2761488"/>
            <a:ext cx="1115568" cy="2816352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  <a:effectLst>
            <a:outerShdw sx="100000" sy="100000" kx="0" ky="0" algn="bl" rotWithShape="0" blurRad="12700" dist="50800" dir="2700000">
              <a:srgbClr val="C6DDED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118104" y="2779776"/>
            <a:ext cx="256032" cy="256032"/>
          </a:xfrm>
          <a:prstGeom prst="rect">
            <a:avLst/>
          </a:prstGeom>
          <a:solidFill>
            <a:srgbClr val="2F8DD8"/>
          </a:solidFill>
          <a:ln>
            <a:solidFill>
              <a:srgbClr val="2F8DD8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798064" y="3072384"/>
            <a:ext cx="8961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B2E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暫存檔案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2980944" y="3602736"/>
            <a:ext cx="530352" cy="530352"/>
          </a:xfrm>
          <a:prstGeom prst="rect">
            <a:avLst/>
          </a:prstGeom>
          <a:solidFill>
            <a:srgbClr val="E8EEF4"/>
          </a:solidFill>
          <a:ln>
            <a:solidFill>
              <a:srgbClr val="E8EEF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1677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◉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2807208" y="4297680"/>
            <a:ext cx="87782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將檔案暫存於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本機安全資料夾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（地端環境）</a:t>
            </a:r>
            <a:endParaRPr lang="en-US" sz="725" dirty="0"/>
          </a:p>
        </p:txBody>
      </p:sp>
      <p:sp>
        <p:nvSpPr>
          <p:cNvPr id="41" name="Shape 39"/>
          <p:cNvSpPr/>
          <p:nvPr/>
        </p:nvSpPr>
        <p:spPr>
          <a:xfrm>
            <a:off x="3822192" y="4178808"/>
            <a:ext cx="27432" cy="0"/>
          </a:xfrm>
          <a:prstGeom prst="line">
            <a:avLst/>
          </a:prstGeom>
          <a:noFill/>
          <a:ln w="25400">
            <a:solidFill>
              <a:srgbClr val="2F8DD8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867912" y="2761488"/>
            <a:ext cx="1115568" cy="2816352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  <a:effectLst>
            <a:outerShdw sx="100000" sy="100000" kx="0" ky="0" algn="bl" rotWithShape="0" blurRad="12700" dist="50800" dir="2700000">
              <a:srgbClr val="C6DDED">
                <a:alpha val="2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297680" y="2779776"/>
            <a:ext cx="256032" cy="256032"/>
          </a:xfrm>
          <a:prstGeom prst="rect">
            <a:avLst/>
          </a:prstGeom>
          <a:solidFill>
            <a:srgbClr val="2F8DD8"/>
          </a:solidFill>
          <a:ln>
            <a:solidFill>
              <a:srgbClr val="2F8DD8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977640" y="3072384"/>
            <a:ext cx="8961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B2E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 PPT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4160520" y="3602736"/>
            <a:ext cx="530352" cy="530352"/>
          </a:xfrm>
          <a:prstGeom prst="rect">
            <a:avLst/>
          </a:prstGeom>
          <a:solidFill>
            <a:srgbClr val="FFE6DD"/>
          </a:solidFill>
          <a:ln>
            <a:solidFill>
              <a:srgbClr val="FFE6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66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P⚙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986784" y="4297680"/>
            <a:ext cx="87782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 python-pptx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或 LibreOffice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解析投影片內容</a:t>
            </a:r>
            <a:endParaRPr lang="en-US" sz="725" dirty="0"/>
          </a:p>
        </p:txBody>
      </p:sp>
      <p:sp>
        <p:nvSpPr>
          <p:cNvPr id="47" name="Shape 45"/>
          <p:cNvSpPr/>
          <p:nvPr/>
        </p:nvSpPr>
        <p:spPr>
          <a:xfrm>
            <a:off x="5001768" y="4178808"/>
            <a:ext cx="27432" cy="0"/>
          </a:xfrm>
          <a:prstGeom prst="line">
            <a:avLst/>
          </a:prstGeom>
          <a:noFill/>
          <a:ln w="25400">
            <a:solidFill>
              <a:srgbClr val="2F8DD8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047488" y="2761488"/>
            <a:ext cx="1115568" cy="2816352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  <a:effectLst>
            <a:outerShdw sx="100000" sy="100000" kx="0" ky="0" algn="bl" rotWithShape="0" blurRad="12700" dist="50800" dir="2700000">
              <a:srgbClr val="C6DDED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477256" y="2779776"/>
            <a:ext cx="256032" cy="256032"/>
          </a:xfrm>
          <a:prstGeom prst="rect">
            <a:avLst/>
          </a:prstGeom>
          <a:solidFill>
            <a:srgbClr val="2F8DD8"/>
          </a:solidFill>
          <a:ln>
            <a:solidFill>
              <a:srgbClr val="2F8DD8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157216" y="3072384"/>
            <a:ext cx="8961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B2E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抽取內容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5340096" y="3602736"/>
            <a:ext cx="530352" cy="530352"/>
          </a:xfrm>
          <a:prstGeom prst="rect">
            <a:avLst/>
          </a:prstGeom>
          <a:solidFill>
            <a:srgbClr val="E8F7EC"/>
          </a:solidFill>
          <a:ln>
            <a:solidFill>
              <a:srgbClr val="E8F7E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8B3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▦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166360" y="4297680"/>
            <a:ext cx="87782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文字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表格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圖片 (OCR)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備註 Notes</a:t>
            </a:r>
            <a:endParaRPr lang="en-US" sz="725" dirty="0"/>
          </a:p>
        </p:txBody>
      </p:sp>
      <p:sp>
        <p:nvSpPr>
          <p:cNvPr id="53" name="Shape 51"/>
          <p:cNvSpPr/>
          <p:nvPr/>
        </p:nvSpPr>
        <p:spPr>
          <a:xfrm>
            <a:off x="6181344" y="4178808"/>
            <a:ext cx="27432" cy="0"/>
          </a:xfrm>
          <a:prstGeom prst="line">
            <a:avLst/>
          </a:prstGeom>
          <a:noFill/>
          <a:ln w="25400">
            <a:solidFill>
              <a:srgbClr val="2F8DD8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227064" y="2761488"/>
            <a:ext cx="1115568" cy="2816352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  <a:effectLst>
            <a:outerShdw sx="100000" sy="100000" kx="0" ky="0" algn="bl" rotWithShape="0" blurRad="12700" dist="50800" dir="2700000">
              <a:srgbClr val="C6DDED">
                <a:alpha val="2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656832" y="2779776"/>
            <a:ext cx="256032" cy="256032"/>
          </a:xfrm>
          <a:prstGeom prst="rect">
            <a:avLst/>
          </a:prstGeom>
          <a:solidFill>
            <a:srgbClr val="2F8DD8"/>
          </a:solidFill>
          <a:ln>
            <a:solidFill>
              <a:srgbClr val="2F8DD8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336792" y="3072384"/>
            <a:ext cx="8961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B2E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切分 Chunk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6519672" y="3602736"/>
            <a:ext cx="530352" cy="530352"/>
          </a:xfrm>
          <a:prstGeom prst="rect">
            <a:avLst/>
          </a:prstGeom>
          <a:solidFill>
            <a:srgbClr val="EEE8FF"/>
          </a:solidFill>
          <a:ln>
            <a:solidFill>
              <a:srgbClr val="EEE8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6F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▣▣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6345936" y="4297680"/>
            <a:ext cx="87782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依語意切分為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適當大小的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文字片段</a:t>
            </a:r>
            <a:endParaRPr lang="en-US" sz="725" dirty="0"/>
          </a:p>
        </p:txBody>
      </p:sp>
      <p:sp>
        <p:nvSpPr>
          <p:cNvPr id="59" name="Shape 57"/>
          <p:cNvSpPr/>
          <p:nvPr/>
        </p:nvSpPr>
        <p:spPr>
          <a:xfrm>
            <a:off x="7360920" y="4178808"/>
            <a:ext cx="27432" cy="0"/>
          </a:xfrm>
          <a:prstGeom prst="line">
            <a:avLst/>
          </a:prstGeom>
          <a:noFill/>
          <a:ln w="25400">
            <a:solidFill>
              <a:srgbClr val="2F8DD8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7406640" y="2761488"/>
            <a:ext cx="1115568" cy="2816352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  <a:effectLst>
            <a:outerShdw sx="100000" sy="100000" kx="0" ky="0" algn="bl" rotWithShape="0" blurRad="12700" dist="50800" dir="2700000">
              <a:srgbClr val="C6DDED">
                <a:alpha val="2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836408" y="2779776"/>
            <a:ext cx="256032" cy="256032"/>
          </a:xfrm>
          <a:prstGeom prst="rect">
            <a:avLst/>
          </a:prstGeom>
          <a:solidFill>
            <a:srgbClr val="2F8DD8"/>
          </a:solidFill>
          <a:ln>
            <a:solidFill>
              <a:srgbClr val="2F8DD8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516368" y="3072384"/>
            <a:ext cx="8961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B2E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Embedding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7699248" y="3602736"/>
            <a:ext cx="530352" cy="530352"/>
          </a:xfrm>
          <a:prstGeom prst="rect">
            <a:avLst/>
          </a:prstGeom>
          <a:solidFill>
            <a:srgbClr val="E6F8F7"/>
          </a:solidFill>
          <a:ln>
            <a:solidFill>
              <a:srgbClr val="E6F8F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B7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◎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7525512" y="4297680"/>
            <a:ext cx="87782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使用地端模型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產生向量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（Embedding）</a:t>
            </a:r>
            <a:endParaRPr lang="en-US" sz="725" dirty="0"/>
          </a:p>
        </p:txBody>
      </p:sp>
      <p:sp>
        <p:nvSpPr>
          <p:cNvPr id="65" name="Shape 63"/>
          <p:cNvSpPr/>
          <p:nvPr/>
        </p:nvSpPr>
        <p:spPr>
          <a:xfrm>
            <a:off x="8540496" y="4178808"/>
            <a:ext cx="27432" cy="0"/>
          </a:xfrm>
          <a:prstGeom prst="line">
            <a:avLst/>
          </a:prstGeom>
          <a:noFill/>
          <a:ln w="25400">
            <a:solidFill>
              <a:srgbClr val="2F8DD8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8586216" y="2761488"/>
            <a:ext cx="1115568" cy="2816352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  <a:effectLst>
            <a:outerShdw sx="100000" sy="100000" kx="0" ky="0" algn="bl" rotWithShape="0" blurRad="12700" dist="50800" dir="2700000">
              <a:srgbClr val="C6DDED">
                <a:alpha val="2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9015984" y="2779776"/>
            <a:ext cx="256032" cy="256032"/>
          </a:xfrm>
          <a:prstGeom prst="rect">
            <a:avLst/>
          </a:prstGeom>
          <a:solidFill>
            <a:srgbClr val="2F8DD8"/>
          </a:solidFill>
          <a:ln>
            <a:solidFill>
              <a:srgbClr val="2F8DD8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695944" y="3072384"/>
            <a:ext cx="8961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B2E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存入向量資料庫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8878824" y="3602736"/>
            <a:ext cx="530352" cy="530352"/>
          </a:xfrm>
          <a:prstGeom prst="rect">
            <a:avLst/>
          </a:prstGeom>
          <a:solidFill>
            <a:srgbClr val="E5F1FF"/>
          </a:solidFill>
          <a:ln>
            <a:solidFill>
              <a:srgbClr val="E5F1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▭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705088" y="4297680"/>
            <a:ext cx="87782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存入 Chroma /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FAISS 等向量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資料庫</a:t>
            </a:r>
            <a:endParaRPr lang="en-US" sz="725" dirty="0"/>
          </a:p>
        </p:txBody>
      </p:sp>
      <p:sp>
        <p:nvSpPr>
          <p:cNvPr id="71" name="Shape 69"/>
          <p:cNvSpPr/>
          <p:nvPr/>
        </p:nvSpPr>
        <p:spPr>
          <a:xfrm>
            <a:off x="9720072" y="4178808"/>
            <a:ext cx="27432" cy="0"/>
          </a:xfrm>
          <a:prstGeom prst="line">
            <a:avLst/>
          </a:prstGeom>
          <a:noFill/>
          <a:ln w="25400">
            <a:solidFill>
              <a:srgbClr val="2F8DD8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765792" y="2761488"/>
            <a:ext cx="1115568" cy="2816352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  <a:effectLst>
            <a:outerShdw sx="100000" sy="100000" kx="0" ky="0" algn="bl" rotWithShape="0" blurRad="12700" dist="50800" dir="2700000">
              <a:srgbClr val="C6DDED">
                <a:alpha val="2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10195560" y="2779776"/>
            <a:ext cx="256032" cy="256032"/>
          </a:xfrm>
          <a:prstGeom prst="rect">
            <a:avLst/>
          </a:prstGeom>
          <a:solidFill>
            <a:srgbClr val="2F8DD8"/>
          </a:solidFill>
          <a:ln>
            <a:solidFill>
              <a:srgbClr val="2F8DD8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75520" y="3072384"/>
            <a:ext cx="8961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B2E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提供查詢服務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10058400" y="3602736"/>
            <a:ext cx="530352" cy="530352"/>
          </a:xfrm>
          <a:prstGeom prst="rect">
            <a:avLst/>
          </a:prstGeom>
          <a:solidFill>
            <a:srgbClr val="FFF2DE"/>
          </a:solidFill>
          <a:ln>
            <a:solidFill>
              <a:srgbClr val="FFF2D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A13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⌕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9884664" y="4297680"/>
            <a:ext cx="87782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提供 Search API /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Ask API 給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203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使用</a:t>
            </a:r>
            <a:endParaRPr lang="en-US" sz="725" dirty="0"/>
          </a:p>
        </p:txBody>
      </p:sp>
      <p:sp>
        <p:nvSpPr>
          <p:cNvPr id="77" name="Shape 75"/>
          <p:cNvSpPr/>
          <p:nvPr/>
        </p:nvSpPr>
        <p:spPr>
          <a:xfrm>
            <a:off x="10972800" y="1874520"/>
            <a:ext cx="2523744" cy="6236208"/>
          </a:xfrm>
          <a:prstGeom prst="roundRect">
            <a:avLst>
              <a:gd name="adj" fmla="val 4348"/>
            </a:avLst>
          </a:prstGeom>
          <a:solidFill>
            <a:srgbClr val="F3F9FF"/>
          </a:solidFill>
          <a:ln w="12700">
            <a:solidFill>
              <a:srgbClr val="E4F0FA"/>
            </a:solidFill>
            <a:prstDash val="solid"/>
          </a:ln>
          <a:effectLst>
            <a:outerShdw sx="100000" sy="100000" kx="0" ky="0" algn="bl" rotWithShape="0" blurRad="17780" dist="50800" dir="2700000">
              <a:srgbClr val="CFE1F0">
                <a:alpha val="16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11137392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☁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1411712" y="2066544"/>
            <a:ext cx="1417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5C9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兩層 API 架構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1137392" y="2578608"/>
            <a:ext cx="217627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137392" y="2578608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E5F3FF"/>
          </a:solidFill>
          <a:ln w="12700">
            <a:solidFill>
              <a:srgbClr val="E5F3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1274552" y="2651760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444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File Access API（公司提供）</a:t>
            </a:r>
            <a:endParaRPr lang="en-US" sz="760" dirty="0"/>
          </a:p>
        </p:txBody>
      </p:sp>
      <p:sp>
        <p:nvSpPr>
          <p:cNvPr id="83" name="Text 81"/>
          <p:cNvSpPr/>
          <p:nvPr/>
        </p:nvSpPr>
        <p:spPr>
          <a:xfrm>
            <a:off x="11292840" y="3058668"/>
            <a:ext cx="155448" cy="155448"/>
          </a:xfrm>
          <a:prstGeom prst="rect">
            <a:avLst/>
          </a:prstGeom>
          <a:solidFill>
            <a:srgbClr val="48B369"/>
          </a:solidFill>
          <a:ln>
            <a:solidFill>
              <a:srgbClr val="48B3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1530584" y="3026664"/>
            <a:ext cx="19568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548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 /files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1292840" y="3332988"/>
            <a:ext cx="155448" cy="155448"/>
          </a:xfrm>
          <a:prstGeom prst="rect">
            <a:avLst/>
          </a:prstGeom>
          <a:solidFill>
            <a:srgbClr val="48B369"/>
          </a:solidFill>
          <a:ln>
            <a:solidFill>
              <a:srgbClr val="48B3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11530584" y="3300984"/>
            <a:ext cx="19568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548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 /files/{file_id}/download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1292840" y="3607308"/>
            <a:ext cx="155448" cy="155448"/>
          </a:xfrm>
          <a:prstGeom prst="rect">
            <a:avLst/>
          </a:prstGeom>
          <a:solidFill>
            <a:srgbClr val="48B369"/>
          </a:solidFill>
          <a:ln>
            <a:solidFill>
              <a:srgbClr val="48B3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11530584" y="3575304"/>
            <a:ext cx="19568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548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 /files/{file_id}/metadata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1274552" y="3922776"/>
            <a:ext cx="187452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4D62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目的：取得檔案與相關資訊（Read-only）</a:t>
            </a:r>
            <a:endParaRPr lang="en-US" sz="670" dirty="0"/>
          </a:p>
        </p:txBody>
      </p:sp>
      <p:sp>
        <p:nvSpPr>
          <p:cNvPr id="90" name="Shape 88"/>
          <p:cNvSpPr/>
          <p:nvPr/>
        </p:nvSpPr>
        <p:spPr>
          <a:xfrm>
            <a:off x="11137392" y="4526280"/>
            <a:ext cx="217627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137392" y="4526280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1274552" y="4599432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252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Knowledge API（我們提供）</a:t>
            </a:r>
            <a:endParaRPr lang="en-US" sz="760" dirty="0"/>
          </a:p>
        </p:txBody>
      </p:sp>
      <p:sp>
        <p:nvSpPr>
          <p:cNvPr id="93" name="Text 91"/>
          <p:cNvSpPr/>
          <p:nvPr/>
        </p:nvSpPr>
        <p:spPr>
          <a:xfrm>
            <a:off x="11292840" y="4997196"/>
            <a:ext cx="155448" cy="155448"/>
          </a:xfrm>
          <a:prstGeom prst="rect">
            <a:avLst/>
          </a:prstGeom>
          <a:solidFill>
            <a:srgbClr val="48B369"/>
          </a:solidFill>
          <a:ln>
            <a:solidFill>
              <a:srgbClr val="48B3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11530584" y="4965192"/>
            <a:ext cx="19568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548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POST /ingest/file/{file_id}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11292840" y="5271516"/>
            <a:ext cx="155448" cy="155448"/>
          </a:xfrm>
          <a:prstGeom prst="rect">
            <a:avLst/>
          </a:prstGeom>
          <a:solidFill>
            <a:srgbClr val="48B369"/>
          </a:solidFill>
          <a:ln>
            <a:solidFill>
              <a:srgbClr val="48B3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11530584" y="5239512"/>
            <a:ext cx="19568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548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POST /search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11292840" y="5545836"/>
            <a:ext cx="155448" cy="155448"/>
          </a:xfrm>
          <a:prstGeom prst="rect">
            <a:avLst/>
          </a:prstGeom>
          <a:solidFill>
            <a:srgbClr val="48B369"/>
          </a:solidFill>
          <a:ln>
            <a:solidFill>
              <a:srgbClr val="48B3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11530584" y="5513832"/>
            <a:ext cx="19568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548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POST /ask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1274552" y="5843016"/>
            <a:ext cx="164592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4D62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目的：查詢知識與問答服務</a:t>
            </a:r>
            <a:endParaRPr lang="en-US" sz="670" dirty="0"/>
          </a:p>
        </p:txBody>
      </p:sp>
      <p:sp>
        <p:nvSpPr>
          <p:cNvPr id="100" name="Text 98"/>
          <p:cNvSpPr/>
          <p:nvPr/>
        </p:nvSpPr>
        <p:spPr>
          <a:xfrm>
            <a:off x="11173968" y="6364224"/>
            <a:ext cx="23774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8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★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11448288" y="6364224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5C9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方案優勢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1228832" y="6816852"/>
            <a:ext cx="155448" cy="155448"/>
          </a:xfrm>
          <a:prstGeom prst="rect">
            <a:avLst/>
          </a:prstGeom>
          <a:solidFill>
            <a:srgbClr val="48B369"/>
          </a:solidFill>
          <a:ln>
            <a:solidFill>
              <a:srgbClr val="48B3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11466576" y="6784848"/>
            <a:ext cx="202082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548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資料全程留在地端，符合資安與合規要求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11228832" y="7109460"/>
            <a:ext cx="155448" cy="155448"/>
          </a:xfrm>
          <a:prstGeom prst="rect">
            <a:avLst/>
          </a:prstGeom>
          <a:solidFill>
            <a:srgbClr val="48B369"/>
          </a:solidFill>
          <a:ln>
            <a:solidFill>
              <a:srgbClr val="48B3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11466576" y="7077456"/>
            <a:ext cx="202082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548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不需要對方協助解析，降低組織阻力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11228832" y="7402068"/>
            <a:ext cx="155448" cy="155448"/>
          </a:xfrm>
          <a:prstGeom prst="rect">
            <a:avLst/>
          </a:prstGeom>
          <a:solidFill>
            <a:srgbClr val="86B94C"/>
          </a:solidFill>
          <a:ln>
            <a:solidFill>
              <a:srgbClr val="86B94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11466576" y="7370064"/>
            <a:ext cx="202082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548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可擴充、可維護，建立公司知識資產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11228832" y="7694676"/>
            <a:ext cx="155448" cy="155448"/>
          </a:xfrm>
          <a:prstGeom prst="rect">
            <a:avLst/>
          </a:prstGeom>
          <a:solidFill>
            <a:srgbClr val="E3B238"/>
          </a:solidFill>
          <a:ln>
            <a:solidFill>
              <a:srgbClr val="E3B23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11466576" y="7662672"/>
            <a:ext cx="202082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548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支援搜尋、問答、摘要、知識比對等多種應用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1228832" y="7987284"/>
            <a:ext cx="155448" cy="155448"/>
          </a:xfrm>
          <a:prstGeom prst="rect">
            <a:avLst/>
          </a:prstGeom>
          <a:solidFill>
            <a:srgbClr val="48B369"/>
          </a:solidFill>
          <a:ln>
            <a:solidFill>
              <a:srgbClr val="48B3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11466576" y="7955280"/>
            <a:ext cx="202082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548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可整合 Langflow / Agent，提升 FMA 效率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201168" y="6053328"/>
            <a:ext cx="5468112" cy="2011680"/>
          </a:xfrm>
          <a:prstGeom prst="roundRect">
            <a:avLst>
              <a:gd name="adj" fmla="val 5455"/>
            </a:avLst>
          </a:prstGeom>
          <a:solidFill>
            <a:srgbClr val="F3F9FF"/>
          </a:solidFill>
          <a:ln w="12700">
            <a:solidFill>
              <a:srgbClr val="E4F0FA"/>
            </a:solidFill>
            <a:prstDash val="solid"/>
          </a:ln>
          <a:effectLst>
            <a:outerShdw sx="100000" sy="100000" kx="0" ky="0" algn="bl" rotWithShape="0" blurRad="17780" dist="50800" dir="2700000">
              <a:srgbClr val="CFE1F0">
                <a:alpha val="16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429768" y="6263640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▧</a:t>
            </a:r>
            <a:endParaRPr lang="en-US" sz="1300" dirty="0"/>
          </a:p>
        </p:txBody>
      </p:sp>
      <p:sp>
        <p:nvSpPr>
          <p:cNvPr id="114" name="Text 112"/>
          <p:cNvSpPr/>
          <p:nvPr/>
        </p:nvSpPr>
        <p:spPr>
          <a:xfrm>
            <a:off x="713232" y="6254496"/>
            <a:ext cx="2148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5C9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可處理的 PPT 內容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658368" y="6656832"/>
            <a:ext cx="438912" cy="438912"/>
          </a:xfrm>
          <a:prstGeom prst="rect">
            <a:avLst/>
          </a:prstGeom>
          <a:solidFill>
            <a:srgbClr val="E5F2FF"/>
          </a:solidFill>
          <a:ln>
            <a:solidFill>
              <a:srgbClr val="E5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endParaRPr lang="en-US" sz="1500" dirty="0"/>
          </a:p>
        </p:txBody>
      </p:sp>
      <p:sp>
        <p:nvSpPr>
          <p:cNvPr id="116" name="Text 114"/>
          <p:cNvSpPr/>
          <p:nvPr/>
        </p:nvSpPr>
        <p:spPr>
          <a:xfrm>
            <a:off x="429768" y="7205472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F30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投影片文字</a:t>
            </a:r>
            <a:endParaRPr lang="en-US" sz="770" dirty="0"/>
          </a:p>
        </p:txBody>
      </p:sp>
      <p:sp>
        <p:nvSpPr>
          <p:cNvPr id="117" name="Text 115"/>
          <p:cNvSpPr/>
          <p:nvPr/>
        </p:nvSpPr>
        <p:spPr>
          <a:xfrm>
            <a:off x="338328" y="7461504"/>
            <a:ext cx="11155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058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擷取投影片內的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4058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文字內容</a:t>
            </a:r>
            <a:endParaRPr lang="en-US" sz="670" dirty="0"/>
          </a:p>
        </p:txBody>
      </p:sp>
      <p:sp>
        <p:nvSpPr>
          <p:cNvPr id="118" name="Text 116"/>
          <p:cNvSpPr/>
          <p:nvPr/>
        </p:nvSpPr>
        <p:spPr>
          <a:xfrm>
            <a:off x="1645920" y="6656832"/>
            <a:ext cx="438912" cy="438912"/>
          </a:xfrm>
          <a:prstGeom prst="rect">
            <a:avLst/>
          </a:prstGeom>
          <a:solidFill>
            <a:srgbClr val="E8F7EC"/>
          </a:solidFill>
          <a:ln>
            <a:solidFill>
              <a:srgbClr val="E8F7E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8B3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▦</a:t>
            </a:r>
            <a:endParaRPr lang="en-US" sz="1500" dirty="0"/>
          </a:p>
        </p:txBody>
      </p:sp>
      <p:sp>
        <p:nvSpPr>
          <p:cNvPr id="119" name="Text 117"/>
          <p:cNvSpPr/>
          <p:nvPr/>
        </p:nvSpPr>
        <p:spPr>
          <a:xfrm>
            <a:off x="1417320" y="7205472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F30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表格資料</a:t>
            </a:r>
            <a:endParaRPr lang="en-US" sz="770" dirty="0"/>
          </a:p>
        </p:txBody>
      </p:sp>
      <p:sp>
        <p:nvSpPr>
          <p:cNvPr id="120" name="Text 118"/>
          <p:cNvSpPr/>
          <p:nvPr/>
        </p:nvSpPr>
        <p:spPr>
          <a:xfrm>
            <a:off x="1325880" y="7461504"/>
            <a:ext cx="11155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058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轉換為結構化資料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4058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或文字後處理</a:t>
            </a:r>
            <a:endParaRPr lang="en-US" sz="670" dirty="0"/>
          </a:p>
        </p:txBody>
      </p:sp>
      <p:sp>
        <p:nvSpPr>
          <p:cNvPr id="121" name="Text 119"/>
          <p:cNvSpPr/>
          <p:nvPr/>
        </p:nvSpPr>
        <p:spPr>
          <a:xfrm>
            <a:off x="2633472" y="6656832"/>
            <a:ext cx="438912" cy="438912"/>
          </a:xfrm>
          <a:prstGeom prst="rect">
            <a:avLst/>
          </a:prstGeom>
          <a:solidFill>
            <a:srgbClr val="FFF1DC"/>
          </a:solidFill>
          <a:ln>
            <a:solidFill>
              <a:srgbClr val="FFF1D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A13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▧</a:t>
            </a:r>
            <a:endParaRPr lang="en-US" sz="1500" dirty="0"/>
          </a:p>
        </p:txBody>
      </p:sp>
      <p:sp>
        <p:nvSpPr>
          <p:cNvPr id="122" name="Text 120"/>
          <p:cNvSpPr/>
          <p:nvPr/>
        </p:nvSpPr>
        <p:spPr>
          <a:xfrm>
            <a:off x="2404872" y="7205472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F30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圖片文字 (OCR)</a:t>
            </a:r>
            <a:endParaRPr lang="en-US" sz="770" dirty="0"/>
          </a:p>
        </p:txBody>
      </p:sp>
      <p:sp>
        <p:nvSpPr>
          <p:cNvPr id="123" name="Text 121"/>
          <p:cNvSpPr/>
          <p:nvPr/>
        </p:nvSpPr>
        <p:spPr>
          <a:xfrm>
            <a:off x="2313432" y="7461504"/>
            <a:ext cx="11155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058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對圖片進行 OCR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4058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擷取文字</a:t>
            </a:r>
            <a:endParaRPr lang="en-US" sz="670" dirty="0"/>
          </a:p>
        </p:txBody>
      </p:sp>
      <p:sp>
        <p:nvSpPr>
          <p:cNvPr id="124" name="Text 122"/>
          <p:cNvSpPr/>
          <p:nvPr/>
        </p:nvSpPr>
        <p:spPr>
          <a:xfrm>
            <a:off x="3621024" y="6656832"/>
            <a:ext cx="438912" cy="438912"/>
          </a:xfrm>
          <a:prstGeom prst="rect">
            <a:avLst/>
          </a:prstGeom>
          <a:solidFill>
            <a:srgbClr val="EEE8FF"/>
          </a:solidFill>
          <a:ln>
            <a:solidFill>
              <a:srgbClr val="EEE8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6F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▣</a:t>
            </a:r>
            <a:endParaRPr lang="en-US" sz="1500" dirty="0"/>
          </a:p>
        </p:txBody>
      </p:sp>
      <p:sp>
        <p:nvSpPr>
          <p:cNvPr id="125" name="Text 123"/>
          <p:cNvSpPr/>
          <p:nvPr/>
        </p:nvSpPr>
        <p:spPr>
          <a:xfrm>
            <a:off x="3392424" y="7205472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F30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備註 (Notes)</a:t>
            </a:r>
            <a:endParaRPr lang="en-US" sz="770" dirty="0"/>
          </a:p>
        </p:txBody>
      </p:sp>
      <p:sp>
        <p:nvSpPr>
          <p:cNvPr id="126" name="Text 124"/>
          <p:cNvSpPr/>
          <p:nvPr/>
        </p:nvSpPr>
        <p:spPr>
          <a:xfrm>
            <a:off x="3300984" y="7461504"/>
            <a:ext cx="11155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058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擷取投影片的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4058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備註欄內容</a:t>
            </a:r>
            <a:endParaRPr lang="en-US" sz="670" dirty="0"/>
          </a:p>
        </p:txBody>
      </p:sp>
      <p:sp>
        <p:nvSpPr>
          <p:cNvPr id="127" name="Text 125"/>
          <p:cNvSpPr/>
          <p:nvPr/>
        </p:nvSpPr>
        <p:spPr>
          <a:xfrm>
            <a:off x="4608576" y="6656832"/>
            <a:ext cx="438912" cy="438912"/>
          </a:xfrm>
          <a:prstGeom prst="rect">
            <a:avLst/>
          </a:prstGeom>
          <a:solidFill>
            <a:srgbClr val="E6F8F7"/>
          </a:solidFill>
          <a:ln>
            <a:solidFill>
              <a:srgbClr val="E6F8F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B7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⌘</a:t>
            </a:r>
            <a:endParaRPr lang="en-US" sz="1500" dirty="0"/>
          </a:p>
        </p:txBody>
      </p:sp>
      <p:sp>
        <p:nvSpPr>
          <p:cNvPr id="128" name="Text 126"/>
          <p:cNvSpPr/>
          <p:nvPr/>
        </p:nvSpPr>
        <p:spPr>
          <a:xfrm>
            <a:off x="4379976" y="7205472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F30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流程圖 / 架構圖</a:t>
            </a:r>
            <a:endParaRPr lang="en-US" sz="770" dirty="0"/>
          </a:p>
        </p:txBody>
      </p:sp>
      <p:sp>
        <p:nvSpPr>
          <p:cNvPr id="129" name="Text 127"/>
          <p:cNvSpPr/>
          <p:nvPr/>
        </p:nvSpPr>
        <p:spPr>
          <a:xfrm>
            <a:off x="4288536" y="7461504"/>
            <a:ext cx="11155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058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可轉為圖片描述或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4058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文字說明後處理</a:t>
            </a:r>
            <a:endParaRPr lang="en-US" sz="670" dirty="0"/>
          </a:p>
        </p:txBody>
      </p:sp>
      <p:sp>
        <p:nvSpPr>
          <p:cNvPr id="130" name="Shape 128"/>
          <p:cNvSpPr/>
          <p:nvPr/>
        </p:nvSpPr>
        <p:spPr>
          <a:xfrm>
            <a:off x="5779008" y="6053328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3F9FF"/>
          </a:solidFill>
          <a:ln w="12700">
            <a:solidFill>
              <a:srgbClr val="E4F0FA"/>
            </a:solidFill>
            <a:prstDash val="solid"/>
          </a:ln>
          <a:effectLst>
            <a:outerShdw sx="100000" sy="100000" kx="0" ky="0" algn="bl" rotWithShape="0" blurRad="17780" dist="50800" dir="2700000">
              <a:srgbClr val="CFE1F0">
                <a:alpha val="16000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5989320" y="6263640"/>
            <a:ext cx="2377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▭</a:t>
            </a:r>
            <a:endParaRPr lang="en-US" sz="1300" dirty="0"/>
          </a:p>
        </p:txBody>
      </p:sp>
      <p:sp>
        <p:nvSpPr>
          <p:cNvPr id="132" name="Text 130"/>
          <p:cNvSpPr/>
          <p:nvPr/>
        </p:nvSpPr>
        <p:spPr>
          <a:xfrm>
            <a:off x="6281928" y="6254496"/>
            <a:ext cx="2331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5C9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向量資料 Metadata 範例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5980176" y="6601968"/>
            <a:ext cx="29718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089904" y="6675120"/>
            <a:ext cx="27889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4B6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560" dirty="0"/>
          </a:p>
          <a:p>
            <a:pPr algn="l" indent="0" marL="0">
              <a:buNone/>
            </a:pPr>
            <a:r>
              <a:rPr lang="en-US" sz="560" dirty="0">
                <a:solidFill>
                  <a:srgbClr val="4B6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"file_name": "defect_analysis_handbook.pptx",</a:t>
            </a:r>
            <a:endParaRPr lang="en-US" sz="560" dirty="0"/>
          </a:p>
          <a:p>
            <a:pPr algn="l" indent="0" marL="0">
              <a:buNone/>
            </a:pPr>
            <a:r>
              <a:rPr lang="en-US" sz="560" dirty="0">
                <a:solidFill>
                  <a:srgbClr val="4B6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"slide_number": 12,</a:t>
            </a:r>
            <a:endParaRPr lang="en-US" sz="560" dirty="0"/>
          </a:p>
          <a:p>
            <a:pPr algn="l" indent="0" marL="0">
              <a:buNone/>
            </a:pPr>
            <a:r>
              <a:rPr lang="en-US" sz="560" dirty="0">
                <a:solidFill>
                  <a:srgbClr val="4B6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"section": "Mura defect analysis",</a:t>
            </a:r>
            <a:endParaRPr lang="en-US" sz="560" dirty="0"/>
          </a:p>
          <a:p>
            <a:pPr algn="l" indent="0" marL="0">
              <a:buNone/>
            </a:pPr>
            <a:r>
              <a:rPr lang="en-US" sz="560" dirty="0">
                <a:solidFill>
                  <a:srgbClr val="4B6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"source_path": "/company/share/FMA/handbook.pptx",</a:t>
            </a:r>
            <a:endParaRPr lang="en-US" sz="560" dirty="0"/>
          </a:p>
          <a:p>
            <a:pPr algn="l" indent="0" marL="0">
              <a:buNone/>
            </a:pPr>
            <a:r>
              <a:rPr lang="en-US" sz="560" dirty="0">
                <a:solidFill>
                  <a:srgbClr val="4B6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"content_type": "slide_text",</a:t>
            </a:r>
            <a:endParaRPr lang="en-US" sz="560" dirty="0"/>
          </a:p>
          <a:p>
            <a:pPr algn="l" indent="0" marL="0">
              <a:buNone/>
            </a:pPr>
            <a:r>
              <a:rPr lang="en-US" sz="560" dirty="0">
                <a:solidFill>
                  <a:srgbClr val="4B6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"created_at": "2025-05-21T10:30:00"</a:t>
            </a:r>
            <a:endParaRPr lang="en-US" sz="560" dirty="0"/>
          </a:p>
          <a:p>
            <a:pPr algn="l" indent="0" marL="0">
              <a:buNone/>
            </a:pPr>
            <a:r>
              <a:rPr lang="en-US" sz="560" dirty="0">
                <a:solidFill>
                  <a:srgbClr val="4B6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560" dirty="0"/>
          </a:p>
        </p:txBody>
      </p:sp>
      <p:sp>
        <p:nvSpPr>
          <p:cNvPr id="135" name="Shape 133"/>
          <p:cNvSpPr/>
          <p:nvPr/>
        </p:nvSpPr>
        <p:spPr>
          <a:xfrm>
            <a:off x="201168" y="8275320"/>
            <a:ext cx="13304520" cy="658368"/>
          </a:xfrm>
          <a:prstGeom prst="roundRect">
            <a:avLst>
              <a:gd name="adj" fmla="val 11111"/>
            </a:avLst>
          </a:prstGeom>
          <a:solidFill>
            <a:srgbClr val="EDF6FF"/>
          </a:solidFill>
          <a:ln w="12700">
            <a:solidFill>
              <a:srgbClr val="EDF6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01168" y="8275320"/>
            <a:ext cx="877824" cy="658368"/>
          </a:xfrm>
          <a:prstGeom prst="rect">
            <a:avLst/>
          </a:prstGeom>
          <a:solidFill>
            <a:srgbClr val="E3F0FE"/>
          </a:solidFill>
          <a:ln w="12700">
            <a:solidFill>
              <a:srgbClr val="E3F0FE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38912" y="8403336"/>
            <a:ext cx="38404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A3B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A3B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前提</a:t>
            </a:r>
            <a:endParaRPr lang="en-US" sz="840" dirty="0"/>
          </a:p>
        </p:txBody>
      </p:sp>
      <p:sp>
        <p:nvSpPr>
          <p:cNvPr id="138" name="Text 136"/>
          <p:cNvSpPr/>
          <p:nvPr/>
        </p:nvSpPr>
        <p:spPr>
          <a:xfrm>
            <a:off x="1325880" y="8430768"/>
            <a:ext cx="347472" cy="347472"/>
          </a:xfrm>
          <a:prstGeom prst="rect">
            <a:avLst/>
          </a:prstGeom>
          <a:solidFill>
            <a:srgbClr val="E5F2FF"/>
          </a:solidFill>
          <a:ln>
            <a:solidFill>
              <a:srgbClr val="E5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▣</a:t>
            </a:r>
            <a:endParaRPr lang="en-US" sz="1300" dirty="0"/>
          </a:p>
        </p:txBody>
      </p:sp>
      <p:sp>
        <p:nvSpPr>
          <p:cNvPr id="139" name="Text 137"/>
          <p:cNvSpPr/>
          <p:nvPr/>
        </p:nvSpPr>
        <p:spPr>
          <a:xfrm>
            <a:off x="1764792" y="8385048"/>
            <a:ext cx="18745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35C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File API 可提供：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35C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檔案清單、下載檔案、metadata、更新時間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4343400" y="8430768"/>
            <a:ext cx="347472" cy="347472"/>
          </a:xfrm>
          <a:prstGeom prst="rect">
            <a:avLst/>
          </a:prstGeom>
          <a:solidFill>
            <a:srgbClr val="E5F2FF"/>
          </a:solidFill>
          <a:ln>
            <a:solidFill>
              <a:srgbClr val="E5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⟳</a:t>
            </a:r>
            <a:endParaRPr lang="en-US" sz="1300" dirty="0"/>
          </a:p>
        </p:txBody>
      </p:sp>
      <p:sp>
        <p:nvSpPr>
          <p:cNvPr id="141" name="Text 139"/>
          <p:cNvSpPr/>
          <p:nvPr/>
        </p:nvSpPr>
        <p:spPr>
          <a:xfrm>
            <a:off x="4782312" y="8385048"/>
            <a:ext cx="18745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35C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可安排 Ingestion Service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35C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定期同步與更新檔案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6812280" y="8430768"/>
            <a:ext cx="347472" cy="347472"/>
          </a:xfrm>
          <a:prstGeom prst="rect">
            <a:avLst/>
          </a:prstGeom>
          <a:solidFill>
            <a:srgbClr val="E5F2FF"/>
          </a:solidFill>
          <a:ln>
            <a:solidFill>
              <a:srgbClr val="E5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▤</a:t>
            </a:r>
            <a:endParaRPr lang="en-US" sz="1300" dirty="0"/>
          </a:p>
        </p:txBody>
      </p:sp>
      <p:sp>
        <p:nvSpPr>
          <p:cNvPr id="143" name="Text 141"/>
          <p:cNvSpPr/>
          <p:nvPr/>
        </p:nvSpPr>
        <p:spPr>
          <a:xfrm>
            <a:off x="7251192" y="8385048"/>
            <a:ext cx="18745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35C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可使用地端運算資源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35C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進行解析與 Embedding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9125712" y="8430768"/>
            <a:ext cx="347472" cy="347472"/>
          </a:xfrm>
          <a:prstGeom prst="rect">
            <a:avLst/>
          </a:prstGeom>
          <a:solidFill>
            <a:srgbClr val="E5F2FF"/>
          </a:solidFill>
          <a:ln>
            <a:solidFill>
              <a:srgbClr val="E5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▭</a:t>
            </a:r>
            <a:endParaRPr lang="en-US" sz="1300" dirty="0"/>
          </a:p>
        </p:txBody>
      </p:sp>
      <p:sp>
        <p:nvSpPr>
          <p:cNvPr id="145" name="Text 143"/>
          <p:cNvSpPr/>
          <p:nvPr/>
        </p:nvSpPr>
        <p:spPr>
          <a:xfrm>
            <a:off x="9564624" y="8385048"/>
            <a:ext cx="18745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35C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可使用向量資料庫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35C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（如 Chroma / FAISS）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11201400" y="8430768"/>
            <a:ext cx="347472" cy="347472"/>
          </a:xfrm>
          <a:prstGeom prst="rect">
            <a:avLst/>
          </a:prstGeom>
          <a:solidFill>
            <a:srgbClr val="E5F2FF"/>
          </a:solidFill>
          <a:ln>
            <a:solidFill>
              <a:srgbClr val="E5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D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</a:t>
            </a:r>
            <a:endParaRPr lang="en-US" sz="1300" dirty="0"/>
          </a:p>
        </p:txBody>
      </p:sp>
      <p:sp>
        <p:nvSpPr>
          <p:cNvPr id="147" name="Text 145"/>
          <p:cNvSpPr/>
          <p:nvPr/>
        </p:nvSpPr>
        <p:spPr>
          <a:xfrm>
            <a:off x="11640312" y="8385048"/>
            <a:ext cx="18470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35C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提供 API 給內部系統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35C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或 Langflow / Agent 使用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地端 PowerPoint 知識庫建置流程</dc:title>
  <dc:subject>地端 PowerPoint 知識庫建置流程</dc:subject>
  <dc:creator>OpenAI</dc:creator>
  <cp:lastModifiedBy>OpenAI</cp:lastModifiedBy>
  <cp:revision>1</cp:revision>
  <dcterms:created xsi:type="dcterms:W3CDTF">2026-05-02T05:52:57Z</dcterms:created>
  <dcterms:modified xsi:type="dcterms:W3CDTF">2026-05-02T05:52:57Z</dcterms:modified>
</cp:coreProperties>
</file>