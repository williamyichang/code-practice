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//PCF PAIN DISCOVERY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PCF 盤點「客戶端異常面板解析 → Databricks 上拋」的流程痛點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核心問題不只在異常解析本身，而在於 evidence 整理、TFT-LCD / OLED 製程關聯、RCA 沉澱與資料上拋未形成一致的資料產品。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1417320"/>
            <a:ext cx="2136038" cy="530352"/>
          </a:xfrm>
          <a:prstGeom prst="chevron">
            <a:avLst/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151790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客訴接收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76656" y="1682496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照片 / 影片 / 症狀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2776118" y="1417320"/>
            <a:ext cx="2136038" cy="530352"/>
          </a:xfrm>
          <a:prstGeom prst="chevron">
            <a:avLst/>
          </a:prstGeom>
          <a:solidFill>
            <a:srgbClr val="123656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5846" y="151790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 資料整併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2885846" y="1682496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genealogy / AOI / lot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4985309" y="1417320"/>
            <a:ext cx="2136038" cy="530352"/>
          </a:xfrm>
          <a:prstGeom prst="chevron">
            <a:avLst/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5037" y="151790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defect 解析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095037" y="1682496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taxonomy / stage hint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7194499" y="1417320"/>
            <a:ext cx="2136038" cy="530352"/>
          </a:xfrm>
          <a:prstGeom prst="chevron">
            <a:avLst/>
          </a:prstGeom>
          <a:solidFill>
            <a:srgbClr val="123656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04227" y="151790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RCA 收斂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304227" y="1682496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案例比對 / 驗證方向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9403690" y="1417320"/>
            <a:ext cx="2136038" cy="530352"/>
          </a:xfrm>
          <a:prstGeom prst="chevron">
            <a:avLst/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13418" y="151790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結果上拋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513418" y="1682496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/ 查詢共享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566928" y="2212848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4944" y="230428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 客訴接收 / 建案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2697480" y="2212848"/>
            <a:ext cx="3611880" cy="640080"/>
          </a:xfrm>
          <a:prstGeom prst="roundRect">
            <a:avLst>
              <a:gd name="adj" fmla="val 857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825496" y="2322576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客戶提供異常面板照片、影片、panel id / module S/N、機種與症狀描述。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6419088" y="2212848"/>
            <a:ext cx="5266944" cy="640080"/>
          </a:xfrm>
          <a:prstGeom prst="roundRect">
            <a:avLst>
              <a:gd name="adj" fmla="val 8571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47104" y="2304288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47104" y="2523744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欄位常缺顯示 pattern、亮度條件、拍攝角度、異常位置與發生時序，後續解析基礎不穩。</a:t>
            </a:r>
            <a:endParaRPr lang="en-US" sz="835" dirty="0"/>
          </a:p>
        </p:txBody>
      </p:sp>
      <p:sp>
        <p:nvSpPr>
          <p:cNvPr id="46" name="Shape 44"/>
          <p:cNvSpPr/>
          <p:nvPr/>
        </p:nvSpPr>
        <p:spPr>
          <a:xfrm>
            <a:off x="566928" y="2980944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94944" y="307238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製程 / 履歷整併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2697480" y="2980944"/>
            <a:ext cx="3611880" cy="640080"/>
          </a:xfrm>
          <a:prstGeom prst="roundRect">
            <a:avLst>
              <a:gd name="adj" fmla="val 857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825496" y="3090672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串接 Array / CF / Cell / Module genealogy，關聯 AOI、AVI、EL、E-test、aging、repair / rework。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6419088" y="2980944"/>
            <a:ext cx="5266944" cy="640080"/>
          </a:xfrm>
          <a:prstGeom prst="roundRect">
            <a:avLst>
              <a:gd name="adj" fmla="val 8571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547104" y="3072384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547104" y="329184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資料散落 MES、QMS、RMA、郵件與報告；工程師多花時間在找資料，不是分析資料。</a:t>
            </a:r>
            <a:endParaRPr lang="en-US" sz="835" dirty="0"/>
          </a:p>
        </p:txBody>
      </p:sp>
      <p:sp>
        <p:nvSpPr>
          <p:cNvPr id="53" name="Shape 51"/>
          <p:cNvSpPr/>
          <p:nvPr/>
        </p:nvSpPr>
        <p:spPr>
          <a:xfrm>
            <a:off x="566928" y="37490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94944" y="38404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異常分型 / stage hint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2697480" y="3749040"/>
            <a:ext cx="3611880" cy="640080"/>
          </a:xfrm>
          <a:prstGeom prst="roundRect">
            <a:avLst>
              <a:gd name="adj" fmla="val 857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825496" y="3858768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判讀亮點、暗點、line defect、Mura、偏色、flicker、image sticking、bonding / TFE / COF 異常。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6419088" y="3749040"/>
            <a:ext cx="5266944" cy="640080"/>
          </a:xfrm>
          <a:prstGeom prst="roundRect">
            <a:avLst>
              <a:gd name="adj" fmla="val 8571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547104" y="3840480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547104" y="405993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同一現象描述方式不一；defect code 與 stage 判讀高度依賴資深 FA 經驗。</a:t>
            </a:r>
            <a:endParaRPr lang="en-US" sz="835" dirty="0"/>
          </a:p>
        </p:txBody>
      </p:sp>
      <p:sp>
        <p:nvSpPr>
          <p:cNvPr id="60" name="Shape 58"/>
          <p:cNvSpPr/>
          <p:nvPr/>
        </p:nvSpPr>
        <p:spPr>
          <a:xfrm>
            <a:off x="566928" y="4517136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94944" y="46085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 RCA 與案例對照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2697480" y="4517136"/>
            <a:ext cx="3611880" cy="640080"/>
          </a:xfrm>
          <a:prstGeom prst="roundRect">
            <a:avLst>
              <a:gd name="adj" fmla="val 857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2825496" y="4626864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回看歷史 abnormal panel case、8D、FMEA 與站點紀錄建立可能根因。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6419088" y="4517136"/>
            <a:ext cx="5266944" cy="640080"/>
          </a:xfrm>
          <a:prstGeom prst="roundRect">
            <a:avLst>
              <a:gd name="adj" fmla="val 8571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547104" y="4608576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547104" y="482803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證據鏈分散、案例回用效率低；相似 case 仍常重新做一次完整 triage。</a:t>
            </a:r>
            <a:endParaRPr lang="en-US" sz="835" dirty="0"/>
          </a:p>
        </p:txBody>
      </p:sp>
      <p:sp>
        <p:nvSpPr>
          <p:cNvPr id="67" name="Shape 65"/>
          <p:cNvSpPr/>
          <p:nvPr/>
        </p:nvSpPr>
        <p:spPr>
          <a:xfrm>
            <a:off x="566928" y="5285232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12638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94944" y="537667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 資料上拋 / 單位查詢</a:t>
            </a:r>
            <a:endParaRPr lang="en-US" sz="1020" dirty="0"/>
          </a:p>
        </p:txBody>
      </p:sp>
      <p:sp>
        <p:nvSpPr>
          <p:cNvPr id="69" name="Shape 67"/>
          <p:cNvSpPr/>
          <p:nvPr/>
        </p:nvSpPr>
        <p:spPr>
          <a:xfrm>
            <a:off x="2697480" y="5285232"/>
            <a:ext cx="3611880" cy="640080"/>
          </a:xfrm>
          <a:prstGeom prst="roundRect">
            <a:avLst>
              <a:gd name="adj" fmla="val 857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2825496" y="5394960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將分析後資料提供給品質、製程、客服、管理與 BI 團隊做後續查詢與統計。</a:t>
            </a:r>
            <a:endParaRPr lang="en-US" sz="840" dirty="0"/>
          </a:p>
        </p:txBody>
      </p:sp>
      <p:sp>
        <p:nvSpPr>
          <p:cNvPr id="71" name="Shape 69"/>
          <p:cNvSpPr/>
          <p:nvPr/>
        </p:nvSpPr>
        <p:spPr>
          <a:xfrm>
            <a:off x="6419088" y="5285232"/>
            <a:ext cx="5266944" cy="640080"/>
          </a:xfrm>
          <a:prstGeom prst="roundRect">
            <a:avLst>
              <a:gd name="adj" fmla="val 8571"/>
            </a:avLst>
          </a:prstGeom>
          <a:solidFill>
            <a:srgbClr val="1A1D25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547104" y="5376672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547104" y="559612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多數結果停留在簡報 / 郵件 / 報告，未以結構化 schema 上拋 Databricks，跨單位難自助查詢。</a:t>
            </a:r>
            <a:endParaRPr lang="en-US" sz="835" dirty="0"/>
          </a:p>
        </p:txBody>
      </p:sp>
      <p:sp>
        <p:nvSpPr>
          <p:cNvPr id="74" name="Shape 72"/>
          <p:cNvSpPr/>
          <p:nvPr/>
        </p:nvSpPr>
        <p:spPr>
          <a:xfrm>
            <a:off x="566928" y="6163056"/>
            <a:ext cx="11119104" cy="402336"/>
          </a:xfrm>
          <a:prstGeom prst="roundRect">
            <a:avLst>
              <a:gd name="adj" fmla="val 13636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94944" y="6254496"/>
            <a:ext cx="10863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核心症狀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94944" y="6473952"/>
            <a:ext cx="10863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分析週期長、資料難共享、跨 Array / Cell / Module 的證據鏈不連續；即使完成分析，若未上拋 Databricks，就無法形成可被後續單位快速查詢與複用的資料資產。</a:t>
            </a:r>
            <a:endParaRPr lang="en-US" sz="890" dirty="0"/>
          </a:p>
        </p:txBody>
      </p:sp>
      <p:sp>
        <p:nvSpPr>
          <p:cNvPr id="77" name="Text 75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//PCF HOTSPOT MAP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 拆解後的痛點熱區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用流程分類框架辨識高摩擦、高等待與高知識流失區段，確定 MVP 應優先切入「標準化解析 + Databricks 資料產品化」。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1572768"/>
            <a:ext cx="2670048" cy="47548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1655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流程分類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3310128" y="1572768"/>
            <a:ext cx="914400" cy="47548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165506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人工投入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224528" y="1572768"/>
            <a:ext cx="914400" cy="47548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165506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等待時間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138928" y="1572768"/>
            <a:ext cx="914400" cy="47548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65506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資料分散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053328" y="1572768"/>
            <a:ext cx="1042416" cy="47548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165506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判讀一致性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095744" y="1572768"/>
            <a:ext cx="1024128" cy="47548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0608" y="16550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知識可複用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119872" y="1572768"/>
            <a:ext cx="1261872" cy="47548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74736" y="165506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可上拋性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9381744" y="1572768"/>
            <a:ext cx="640080" cy="47548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36608" y="165506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優先級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40080" y="2048256"/>
            <a:ext cx="267004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2112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 客訴內容接收與補件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3310128" y="2048256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2112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4224528" y="2048256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9392" y="2112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5138928" y="2048256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93792" y="2112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6053328" y="2048256"/>
            <a:ext cx="1042416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08192" y="211226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7095744" y="2048256"/>
            <a:ext cx="102412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0608" y="2112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8119872" y="2048256"/>
            <a:ext cx="1261872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74736" y="2112264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9381744" y="2048256"/>
            <a:ext cx="64008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6608" y="211226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640080" y="2523744"/>
            <a:ext cx="267004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P2 Array / Cell / Module 履歷整併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3310128" y="2523744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64992" y="258775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4224528" y="2523744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79392" y="258775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5138928" y="2523744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93792" y="258775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6053328" y="2523744"/>
            <a:ext cx="1042416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08192" y="258775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7095744" y="2523744"/>
            <a:ext cx="102412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50608" y="25877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8119872" y="2523744"/>
            <a:ext cx="1261872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74736" y="2587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9381744" y="2523744"/>
            <a:ext cx="64008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36608" y="2587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840" dirty="0"/>
          </a:p>
        </p:txBody>
      </p:sp>
      <p:sp>
        <p:nvSpPr>
          <p:cNvPr id="72" name="Shape 70"/>
          <p:cNvSpPr/>
          <p:nvPr/>
        </p:nvSpPr>
        <p:spPr>
          <a:xfrm>
            <a:off x="640080" y="2999232"/>
            <a:ext cx="267004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4944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P3 defect code 分型與位置描述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3310128" y="2999232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64992" y="30632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4224528" y="2999232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79392" y="30632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78" name="Shape 76"/>
          <p:cNvSpPr/>
          <p:nvPr/>
        </p:nvSpPr>
        <p:spPr>
          <a:xfrm>
            <a:off x="5138928" y="2999232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93792" y="30632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80" name="Shape 78"/>
          <p:cNvSpPr/>
          <p:nvPr/>
        </p:nvSpPr>
        <p:spPr>
          <a:xfrm>
            <a:off x="6053328" y="2999232"/>
            <a:ext cx="1042416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08192" y="306324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82" name="Shape 80"/>
          <p:cNvSpPr/>
          <p:nvPr/>
        </p:nvSpPr>
        <p:spPr>
          <a:xfrm>
            <a:off x="7095744" y="2999232"/>
            <a:ext cx="102412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50608" y="3063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84" name="Shape 82"/>
          <p:cNvSpPr/>
          <p:nvPr/>
        </p:nvSpPr>
        <p:spPr>
          <a:xfrm>
            <a:off x="8119872" y="2999232"/>
            <a:ext cx="1261872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74736" y="30632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86" name="Shape 84"/>
          <p:cNvSpPr/>
          <p:nvPr/>
        </p:nvSpPr>
        <p:spPr>
          <a:xfrm>
            <a:off x="9381744" y="2999232"/>
            <a:ext cx="64008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436608" y="306324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840" dirty="0"/>
          </a:p>
        </p:txBody>
      </p:sp>
      <p:sp>
        <p:nvSpPr>
          <p:cNvPr id="88" name="Shape 86"/>
          <p:cNvSpPr/>
          <p:nvPr/>
        </p:nvSpPr>
        <p:spPr>
          <a:xfrm>
            <a:off x="640080" y="3474720"/>
            <a:ext cx="267004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4944" y="3538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P4 相似 case 檢索與 stage ranking</a:t>
            </a:r>
            <a:endParaRPr lang="en-US" sz="840" dirty="0"/>
          </a:p>
        </p:txBody>
      </p:sp>
      <p:sp>
        <p:nvSpPr>
          <p:cNvPr id="90" name="Shape 88"/>
          <p:cNvSpPr/>
          <p:nvPr/>
        </p:nvSpPr>
        <p:spPr>
          <a:xfrm>
            <a:off x="3310128" y="3474720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364992" y="353872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92" name="Shape 90"/>
          <p:cNvSpPr/>
          <p:nvPr/>
        </p:nvSpPr>
        <p:spPr>
          <a:xfrm>
            <a:off x="4224528" y="3474720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79392" y="353872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94" name="Shape 92"/>
          <p:cNvSpPr/>
          <p:nvPr/>
        </p:nvSpPr>
        <p:spPr>
          <a:xfrm>
            <a:off x="5138928" y="3474720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93792" y="353872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96" name="Shape 94"/>
          <p:cNvSpPr/>
          <p:nvPr/>
        </p:nvSpPr>
        <p:spPr>
          <a:xfrm>
            <a:off x="6053328" y="3474720"/>
            <a:ext cx="1042416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08192" y="353872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98" name="Shape 96"/>
          <p:cNvSpPr/>
          <p:nvPr/>
        </p:nvSpPr>
        <p:spPr>
          <a:xfrm>
            <a:off x="7095744" y="3474720"/>
            <a:ext cx="102412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50608" y="35387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100" name="Shape 98"/>
          <p:cNvSpPr/>
          <p:nvPr/>
        </p:nvSpPr>
        <p:spPr>
          <a:xfrm>
            <a:off x="8119872" y="3474720"/>
            <a:ext cx="1261872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74736" y="353872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102" name="Shape 100"/>
          <p:cNvSpPr/>
          <p:nvPr/>
        </p:nvSpPr>
        <p:spPr>
          <a:xfrm>
            <a:off x="9381744" y="3474720"/>
            <a:ext cx="64008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436608" y="353872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840" dirty="0"/>
          </a:p>
        </p:txBody>
      </p:sp>
      <p:sp>
        <p:nvSpPr>
          <p:cNvPr id="104" name="Shape 102"/>
          <p:cNvSpPr/>
          <p:nvPr/>
        </p:nvSpPr>
        <p:spPr>
          <a:xfrm>
            <a:off x="640080" y="3950208"/>
            <a:ext cx="267004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94944" y="40142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P5 FA / 8D / 對客摘要輸出</a:t>
            </a:r>
            <a:endParaRPr lang="en-US" sz="840" dirty="0"/>
          </a:p>
        </p:txBody>
      </p:sp>
      <p:sp>
        <p:nvSpPr>
          <p:cNvPr id="106" name="Shape 104"/>
          <p:cNvSpPr/>
          <p:nvPr/>
        </p:nvSpPr>
        <p:spPr>
          <a:xfrm>
            <a:off x="3310128" y="3950208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364992" y="401421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108" name="Shape 106"/>
          <p:cNvSpPr/>
          <p:nvPr/>
        </p:nvSpPr>
        <p:spPr>
          <a:xfrm>
            <a:off x="4224528" y="3950208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79392" y="401421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110" name="Shape 108"/>
          <p:cNvSpPr/>
          <p:nvPr/>
        </p:nvSpPr>
        <p:spPr>
          <a:xfrm>
            <a:off x="5138928" y="3950208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93792" y="401421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112" name="Shape 110"/>
          <p:cNvSpPr/>
          <p:nvPr/>
        </p:nvSpPr>
        <p:spPr>
          <a:xfrm>
            <a:off x="6053328" y="3950208"/>
            <a:ext cx="1042416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108192" y="401421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114" name="Shape 112"/>
          <p:cNvSpPr/>
          <p:nvPr/>
        </p:nvSpPr>
        <p:spPr>
          <a:xfrm>
            <a:off x="7095744" y="3950208"/>
            <a:ext cx="102412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150608" y="4014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840" dirty="0"/>
          </a:p>
        </p:txBody>
      </p:sp>
      <p:sp>
        <p:nvSpPr>
          <p:cNvPr id="116" name="Shape 114"/>
          <p:cNvSpPr/>
          <p:nvPr/>
        </p:nvSpPr>
        <p:spPr>
          <a:xfrm>
            <a:off x="8119872" y="3950208"/>
            <a:ext cx="1261872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174736" y="4014216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118" name="Shape 116"/>
          <p:cNvSpPr/>
          <p:nvPr/>
        </p:nvSpPr>
        <p:spPr>
          <a:xfrm>
            <a:off x="9381744" y="3950208"/>
            <a:ext cx="64008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436608" y="401421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840" dirty="0"/>
          </a:p>
        </p:txBody>
      </p:sp>
      <p:sp>
        <p:nvSpPr>
          <p:cNvPr id="120" name="Shape 118"/>
          <p:cNvSpPr/>
          <p:nvPr/>
        </p:nvSpPr>
        <p:spPr>
          <a:xfrm>
            <a:off x="640080" y="4425696"/>
            <a:ext cx="267004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4944" y="4489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P6 結案資料回寫與 Databricks 上拋</a:t>
            </a:r>
            <a:endParaRPr lang="en-US" sz="840" dirty="0"/>
          </a:p>
        </p:txBody>
      </p:sp>
      <p:sp>
        <p:nvSpPr>
          <p:cNvPr id="122" name="Shape 120"/>
          <p:cNvSpPr/>
          <p:nvPr/>
        </p:nvSpPr>
        <p:spPr>
          <a:xfrm>
            <a:off x="3310128" y="4425696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364992" y="44897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840" dirty="0"/>
          </a:p>
        </p:txBody>
      </p:sp>
      <p:sp>
        <p:nvSpPr>
          <p:cNvPr id="124" name="Shape 122"/>
          <p:cNvSpPr/>
          <p:nvPr/>
        </p:nvSpPr>
        <p:spPr>
          <a:xfrm>
            <a:off x="4224528" y="4425696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279392" y="44897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126" name="Shape 124"/>
          <p:cNvSpPr/>
          <p:nvPr/>
        </p:nvSpPr>
        <p:spPr>
          <a:xfrm>
            <a:off x="5138928" y="4425696"/>
            <a:ext cx="91440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93792" y="44897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128" name="Shape 126"/>
          <p:cNvSpPr/>
          <p:nvPr/>
        </p:nvSpPr>
        <p:spPr>
          <a:xfrm>
            <a:off x="6053328" y="4425696"/>
            <a:ext cx="1042416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08192" y="448970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840" dirty="0"/>
          </a:p>
        </p:txBody>
      </p:sp>
      <p:sp>
        <p:nvSpPr>
          <p:cNvPr id="130" name="Shape 128"/>
          <p:cNvSpPr/>
          <p:nvPr/>
        </p:nvSpPr>
        <p:spPr>
          <a:xfrm>
            <a:off x="7095744" y="4425696"/>
            <a:ext cx="1024128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150608" y="44897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132" name="Shape 130"/>
          <p:cNvSpPr/>
          <p:nvPr/>
        </p:nvSpPr>
        <p:spPr>
          <a:xfrm>
            <a:off x="8119872" y="4425696"/>
            <a:ext cx="1261872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174736" y="4489704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840" dirty="0"/>
          </a:p>
        </p:txBody>
      </p:sp>
      <p:sp>
        <p:nvSpPr>
          <p:cNvPr id="134" name="Shape 132"/>
          <p:cNvSpPr/>
          <p:nvPr/>
        </p:nvSpPr>
        <p:spPr>
          <a:xfrm>
            <a:off x="9381744" y="4425696"/>
            <a:ext cx="640080" cy="47548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436608" y="448970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840" dirty="0"/>
          </a:p>
        </p:txBody>
      </p:sp>
      <p:sp>
        <p:nvSpPr>
          <p:cNvPr id="136" name="Shape 134"/>
          <p:cNvSpPr/>
          <p:nvPr/>
        </p:nvSpPr>
        <p:spPr>
          <a:xfrm>
            <a:off x="640080" y="5166360"/>
            <a:ext cx="3703320" cy="914400"/>
          </a:xfrm>
          <a:prstGeom prst="roundRect">
            <a:avLst>
              <a:gd name="adj" fmla="val 600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37" name="Text 135"/>
          <p:cNvSpPr/>
          <p:nvPr/>
        </p:nvSpPr>
        <p:spPr>
          <a:xfrm>
            <a:off x="768096" y="5257800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熱區 1｜資料仍停留在 case 層，而不是資料產品</a:t>
            </a:r>
            <a:endParaRPr lang="en-US" sz="1050" dirty="0"/>
          </a:p>
        </p:txBody>
      </p:sp>
      <p:sp>
        <p:nvSpPr>
          <p:cNvPr id="138" name="Text 136"/>
          <p:cNvSpPr/>
          <p:nvPr/>
        </p:nvSpPr>
        <p:spPr>
          <a:xfrm>
            <a:off x="768096" y="5477256"/>
            <a:ext cx="3447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即使工程師完成 triage，結果若只存在簡報 / 郵件 / PDF，後續品質、製程、客服與管理端仍得再次詢問或重新整理。</a:t>
            </a:r>
            <a:endParaRPr lang="en-US" sz="880" dirty="0"/>
          </a:p>
        </p:txBody>
      </p:sp>
      <p:sp>
        <p:nvSpPr>
          <p:cNvPr id="139" name="Shape 137"/>
          <p:cNvSpPr/>
          <p:nvPr/>
        </p:nvSpPr>
        <p:spPr>
          <a:xfrm>
            <a:off x="4498848" y="5166360"/>
            <a:ext cx="3401568" cy="914400"/>
          </a:xfrm>
          <a:prstGeom prst="roundRect">
            <a:avLst>
              <a:gd name="adj" fmla="val 6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0" name="Text 138"/>
          <p:cNvSpPr/>
          <p:nvPr/>
        </p:nvSpPr>
        <p:spPr>
          <a:xfrm>
            <a:off x="4626864" y="5257800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熱區 2｜defect taxonomy 與欄位未標準化</a:t>
            </a:r>
            <a:endParaRPr lang="en-US" sz="1050" dirty="0"/>
          </a:p>
        </p:txBody>
      </p:sp>
      <p:sp>
        <p:nvSpPr>
          <p:cNvPr id="141" name="Text 139"/>
          <p:cNvSpPr/>
          <p:nvPr/>
        </p:nvSpPr>
        <p:spPr>
          <a:xfrm>
            <a:off x="4626864" y="547725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若沒有統一 defect code、stage、panel position、evidence link 與 confidence schema，Databricks 也只能收到不可分析的半結構化文字。</a:t>
            </a:r>
            <a:endParaRPr lang="en-US" sz="870" dirty="0"/>
          </a:p>
        </p:txBody>
      </p:sp>
      <p:sp>
        <p:nvSpPr>
          <p:cNvPr id="142" name="Shape 140"/>
          <p:cNvSpPr/>
          <p:nvPr/>
        </p:nvSpPr>
        <p:spPr>
          <a:xfrm>
            <a:off x="8065008" y="5166360"/>
            <a:ext cx="3621024" cy="914400"/>
          </a:xfrm>
          <a:prstGeom prst="roundRect">
            <a:avLst>
              <a:gd name="adj" fmla="val 6000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3" name="Text 141"/>
          <p:cNvSpPr/>
          <p:nvPr/>
        </p:nvSpPr>
        <p:spPr>
          <a:xfrm>
            <a:off x="8193024" y="5257800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MVP 切入點</a:t>
            </a:r>
            <a:endParaRPr lang="en-US" sz="1050" dirty="0"/>
          </a:p>
        </p:txBody>
      </p:sp>
      <p:sp>
        <p:nvSpPr>
          <p:cNvPr id="144" name="Text 142"/>
          <p:cNvSpPr/>
          <p:nvPr/>
        </p:nvSpPr>
        <p:spPr>
          <a:xfrm>
            <a:off x="8193024" y="54772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先把「案件摘要、defect 分型、Top-N stage、引用證據、建議下一步」做成標準 payload，自動上拋至 Databricks Silver / Gold。</a:t>
            </a:r>
            <a:endParaRPr lang="en-US" sz="880" dirty="0"/>
          </a:p>
        </p:txBody>
      </p:sp>
      <p:sp>
        <p:nvSpPr>
          <p:cNvPr id="145" name="Text 143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//ROOT CAUSE TO OPPORTUNITY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根因分析：從痛點走到 AI 設計機會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此 Agent 的價值不是取代 FA，而是把「整理、解析、檢索、結構化上拋」變成穩定能力，讓 Databricks 成為後續查詢與決策底座。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1627632"/>
            <a:ext cx="1901952" cy="969264"/>
          </a:xfrm>
          <a:prstGeom prst="roundRect">
            <a:avLst>
              <a:gd name="adj" fmla="val 566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" y="1719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 evidence 不完整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68096" y="1938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panel context 缺漏，導致後續 parsing 與 stage 推論不穩。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1353312" y="2697480"/>
            <a:ext cx="475488" cy="237744"/>
          </a:xfrm>
          <a:prstGeom prst="chevron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035808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" y="3127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補件 / 標準化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68096" y="33467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 schema + 缺欄檢查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2944368" y="1627632"/>
            <a:ext cx="1901952" cy="969264"/>
          </a:xfrm>
          <a:prstGeom prst="roundRect">
            <a:avLst>
              <a:gd name="adj" fmla="val 566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72384" y="1719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製程資料跨系統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072384" y="1938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Array / Cell / Module / lot / 檢測資料整併成本高。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3657600" y="2697480"/>
            <a:ext cx="475488" cy="237744"/>
          </a:xfrm>
          <a:prstGeom prst="chevron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44368" y="3035808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072384" y="3127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資料蒐集自動化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3072384" y="33467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 一鍵拉 genealogy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5248656" y="1627632"/>
            <a:ext cx="1901952" cy="969264"/>
          </a:xfrm>
          <a:prstGeom prst="roundRect">
            <a:avLst>
              <a:gd name="adj" fmla="val 566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376672" y="1719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描述不一致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376672" y="1938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同類異常在 defect code、位置與 severity 上常有語義漂移。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5961888" y="2697480"/>
            <a:ext cx="475488" cy="237744"/>
          </a:xfrm>
          <a:prstGeom prst="chevron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48656" y="3035808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376672" y="3127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症狀解析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5376672" y="33467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Vision + taxonomy 統一 defect code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7552944" y="1627632"/>
            <a:ext cx="1901952" cy="969264"/>
          </a:xfrm>
          <a:prstGeom prst="roundRect">
            <a:avLst>
              <a:gd name="adj" fmla="val 566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680960" y="1719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案例回用效率低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7680960" y="1938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相似 abnormal panel case 難快速比中與驗證。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8266176" y="2697480"/>
            <a:ext cx="475488" cy="237744"/>
          </a:xfrm>
          <a:prstGeom prst="chevron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52944" y="3035808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680960" y="3127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 / 排序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7680960" y="33467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+ stage ranking + confidence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9857232" y="1627632"/>
            <a:ext cx="1901952" cy="969264"/>
          </a:xfrm>
          <a:prstGeom prst="roundRect">
            <a:avLst>
              <a:gd name="adj" fmla="val 566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985248" y="1719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結果難沉澱共享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9985248" y="19385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RCA 結果未被 schema 化，上拋後也難成為可查詢資料。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10570464" y="2697480"/>
            <a:ext cx="475488" cy="237744"/>
          </a:xfrm>
          <a:prstGeom prst="chevron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57232" y="3035808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985248" y="3127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資料產品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9985248" y="33467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Bronze / Silver / Gold 與 query API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713232" y="4315968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41248" y="4407408"/>
            <a:ext cx="10716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設計前提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96112" y="469544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3272" y="464515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聚焦四段：蒐集、解析、檢索、上拋；責任歸屬、recipe 調整、製程放行與最終對客承諾仍保留人工決策。</a:t>
            </a:r>
            <a:endParaRPr lang="en-US" sz="885" dirty="0"/>
          </a:p>
        </p:txBody>
      </p:sp>
      <p:sp>
        <p:nvSpPr>
          <p:cNvPr id="63" name="Shape 61"/>
          <p:cNvSpPr/>
          <p:nvPr/>
        </p:nvSpPr>
        <p:spPr>
          <a:xfrm>
            <a:off x="896112" y="4933188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3272" y="4882896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不是單純備份位置，而是後續品質 / 製程 / 管理單位的查詢、彙整、指標與模型訓練底座。</a:t>
            </a:r>
            <a:endParaRPr lang="en-US" sz="885" dirty="0"/>
          </a:p>
        </p:txBody>
      </p:sp>
      <p:sp>
        <p:nvSpPr>
          <p:cNvPr id="65" name="Shape 63"/>
          <p:cNvSpPr/>
          <p:nvPr/>
        </p:nvSpPr>
        <p:spPr>
          <a:xfrm>
            <a:off x="896112" y="5170932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3272" y="5120640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輸出需同時支援 case-level 使用（工程師當下判讀）與 dataset-level 使用（跨機種 / 站點 / defect 趨勢分析）。</a:t>
            </a:r>
            <a:endParaRPr lang="en-US" sz="885" dirty="0"/>
          </a:p>
        </p:txBody>
      </p:sp>
      <p:sp>
        <p:nvSpPr>
          <p:cNvPr id="67" name="Shape 65"/>
          <p:cNvSpPr/>
          <p:nvPr/>
        </p:nvSpPr>
        <p:spPr>
          <a:xfrm>
            <a:off x="896112" y="5408676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3272" y="5358384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每個結論都需附 evidence link、confidence 與來源系統，避免把 panel fault analysis 做成黑盒。</a:t>
            </a:r>
            <a:endParaRPr lang="en-US" sz="885" dirty="0"/>
          </a:p>
        </p:txBody>
      </p:sp>
      <p:sp>
        <p:nvSpPr>
          <p:cNvPr id="69" name="Text 67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CANVAS | INPUT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Canvas｜Input 評估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盤點 Agent 可讀取的輸入來源，確認 panel fault analysis 所需欄位、圖片、製程履歷與 Databricks schema 的可用性。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160020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3324D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16413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139696" y="157276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67712" y="166420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客戶端 evidence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4407408" y="157276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35424" y="168249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異常照片 / 影片、症狀描述、顯示 pattern、panel id、module S/N、機種、lot、發生情境</a:t>
            </a:r>
            <a:endParaRPr lang="en-US" sz="815" dirty="0"/>
          </a:p>
        </p:txBody>
      </p:sp>
      <p:sp>
        <p:nvSpPr>
          <p:cNvPr id="30" name="Shape 28"/>
          <p:cNvSpPr/>
          <p:nvPr/>
        </p:nvSpPr>
        <p:spPr>
          <a:xfrm>
            <a:off x="8211312" y="1572768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39328" y="168249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適合做事件摘要、缺欄檢查與補件提醒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94944" y="233172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3324D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237286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2139696" y="230428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267712" y="239572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產品 genealogy / 製造履歷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4407408" y="230428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35424" y="241401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Array / CF / Cell / Module lot、BOM、COF / IC / OCA / 材料批次、出貨與 RMA 編碼</a:t>
            </a:r>
            <a:endParaRPr lang="en-US" sz="815" dirty="0"/>
          </a:p>
        </p:txBody>
      </p:sp>
      <p:sp>
        <p:nvSpPr>
          <p:cNvPr id="38" name="Shape 36"/>
          <p:cNvSpPr/>
          <p:nvPr/>
        </p:nvSpPr>
        <p:spPr>
          <a:xfrm>
            <a:off x="8211312" y="2304288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339328" y="241401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用於建立上下文、站點關聯與追溯範圍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694944" y="306324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3324D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310438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2139696" y="303580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267712" y="312724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檢測與量測資料</a:t>
            </a:r>
            <a:endParaRPr lang="en-US" sz="1010" dirty="0"/>
          </a:p>
        </p:txBody>
      </p:sp>
      <p:sp>
        <p:nvSpPr>
          <p:cNvPr id="44" name="Shape 42"/>
          <p:cNvSpPr/>
          <p:nvPr/>
        </p:nvSpPr>
        <p:spPr>
          <a:xfrm>
            <a:off x="4407408" y="303580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35424" y="314553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AOI / AVI、EL、Mura map、色度、E-test、aging、repair / rework、panel map</a:t>
            </a:r>
            <a:endParaRPr lang="en-US" sz="815" dirty="0"/>
          </a:p>
        </p:txBody>
      </p:sp>
      <p:sp>
        <p:nvSpPr>
          <p:cNvPr id="46" name="Shape 44"/>
          <p:cNvSpPr/>
          <p:nvPr/>
        </p:nvSpPr>
        <p:spPr>
          <a:xfrm>
            <a:off x="8211312" y="3035808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339328" y="314553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 defect parsing、位置對齊與證據引用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694944" y="379476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3324D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" y="383590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2139696" y="376732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267712" y="385876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知識與歷史案例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4407408" y="376732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535424" y="387705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taxonomy、FA SOP、8D、FMEA、歷史 abnormal panel case、責任判定規則</a:t>
            </a:r>
            <a:endParaRPr lang="en-US" sz="815" dirty="0"/>
          </a:p>
        </p:txBody>
      </p:sp>
      <p:sp>
        <p:nvSpPr>
          <p:cNvPr id="54" name="Shape 52"/>
          <p:cNvSpPr/>
          <p:nvPr/>
        </p:nvSpPr>
        <p:spPr>
          <a:xfrm>
            <a:off x="8211312" y="3767328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339328" y="387705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建立檢索庫、規則庫與評估集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694944" y="452628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381712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" y="456742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2139696" y="449884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2267712" y="459028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主資料 / schema</a:t>
            </a:r>
            <a:endParaRPr lang="en-US" sz="1010" dirty="0"/>
          </a:p>
        </p:txBody>
      </p:sp>
      <p:sp>
        <p:nvSpPr>
          <p:cNvPr id="60" name="Shape 58"/>
          <p:cNvSpPr/>
          <p:nvPr/>
        </p:nvSpPr>
        <p:spPr>
          <a:xfrm>
            <a:off x="4407408" y="449884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535424" y="460857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id、event time、defect code、stage、severity、confidence、evidence URI、next action</a:t>
            </a:r>
            <a:endParaRPr lang="en-US" sz="815" dirty="0"/>
          </a:p>
        </p:txBody>
      </p:sp>
      <p:sp>
        <p:nvSpPr>
          <p:cNvPr id="62" name="Shape 60"/>
          <p:cNvSpPr/>
          <p:nvPr/>
        </p:nvSpPr>
        <p:spPr>
          <a:xfrm>
            <a:off x="8211312" y="4498848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339328" y="460857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確保分析結果能被查詢、彙總與下游模型消費</a:t>
            </a:r>
            <a:endParaRPr lang="en-US" sz="810" dirty="0"/>
          </a:p>
        </p:txBody>
      </p:sp>
      <p:sp>
        <p:nvSpPr>
          <p:cNvPr id="64" name="Shape 62"/>
          <p:cNvSpPr/>
          <p:nvPr/>
        </p:nvSpPr>
        <p:spPr>
          <a:xfrm>
            <a:off x="694944" y="5440680"/>
            <a:ext cx="10991088" cy="960120"/>
          </a:xfrm>
          <a:prstGeom prst="roundRect">
            <a:avLst>
              <a:gd name="adj" fmla="val 5714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22960" y="5532120"/>
            <a:ext cx="10735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輸入成熟度檢查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77824" y="5774436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14984" y="5724144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欄位完整性：至少要穩定取得 panel id、module S/N、機種、case id、異常圖像與 defect 描述。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77824" y="5939028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4984" y="5888736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影像與文字對應：圖像、panel map、Mura map、量測結果與事件描述需綁到同一 case / panel。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877824" y="6103620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14984" y="6053328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schema readiness：需先定義 bronze 原始事件、silver 標準化解析、gold 查詢指標欄位。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877824" y="6268212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14984" y="62179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權限與脫敏：客戶名稱、序號、供應商、recipe 參數與圖片 URI 需做 RBAC 與審計。</a:t>
            </a: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CANVAS | PROCESS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Canvas｜Process 評估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流程設計採分段、可驗證、可追溯原則，並把 Databricks 上拋納入主流程，而不是結案後的附加動作。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1591056"/>
            <a:ext cx="1511373" cy="530352"/>
          </a:xfrm>
          <a:prstGeom prst="chevron">
            <a:avLst/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1691640"/>
            <a:ext cx="12919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事件標準化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49808" y="1856232"/>
            <a:ext cx="129191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schema / 缺欄檢查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2224605" y="1591056"/>
            <a:ext cx="1511373" cy="530352"/>
          </a:xfrm>
          <a:prstGeom prst="chevron">
            <a:avLst/>
          </a:prstGeom>
          <a:solidFill>
            <a:srgbClr val="123656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4333" y="1691640"/>
            <a:ext cx="12919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 資料蒐集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2334333" y="1856232"/>
            <a:ext cx="129191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 拉 genealogy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3809129" y="1591056"/>
            <a:ext cx="1511373" cy="530352"/>
          </a:xfrm>
          <a:prstGeom prst="chevron">
            <a:avLst/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8857" y="1691640"/>
            <a:ext cx="12919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症狀解析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3918857" y="1856232"/>
            <a:ext cx="129191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Vision + defect taxonomy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393654" y="1591056"/>
            <a:ext cx="1511373" cy="530352"/>
          </a:xfrm>
          <a:prstGeom prst="chevron">
            <a:avLst/>
          </a:prstGeom>
          <a:solidFill>
            <a:srgbClr val="123656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3382" y="1691640"/>
            <a:ext cx="12919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案例檢索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503382" y="1856232"/>
            <a:ext cx="129191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/ 相似 abnormal panel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978178" y="1591056"/>
            <a:ext cx="1511373" cy="530352"/>
          </a:xfrm>
          <a:prstGeom prst="chevron">
            <a:avLst/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7906" y="1691640"/>
            <a:ext cx="12919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原因排序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7087906" y="1856232"/>
            <a:ext cx="129191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Top-N stage / evidence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8562703" y="1591056"/>
            <a:ext cx="1511373" cy="530352"/>
          </a:xfrm>
          <a:prstGeom prst="chevron">
            <a:avLst/>
          </a:prstGeom>
          <a:solidFill>
            <a:srgbClr val="123656"/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2431" y="1691640"/>
            <a:ext cx="12919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人工確認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8672431" y="1856232"/>
            <a:ext cx="129191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 / QE / PE HITL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10147227" y="1591056"/>
            <a:ext cx="1511373" cy="530352"/>
          </a:xfrm>
          <a:prstGeom prst="chevron">
            <a:avLst/>
          </a:prstGeom>
          <a:solidFill>
            <a:srgbClr val="381712"/>
          </a:solidFill>
          <a:ln w="15240">
            <a:solidFill>
              <a:srgbClr val="FF362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56955" y="1691640"/>
            <a:ext cx="12919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 Databricks 發布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10256955" y="1856232"/>
            <a:ext cx="129191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silver / gold payload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676656" y="2487168"/>
            <a:ext cx="3730752" cy="2697480"/>
          </a:xfrm>
          <a:prstGeom prst="roundRect">
            <a:avLst>
              <a:gd name="adj" fmla="val 2034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4672" y="2578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Process 設計原則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1248" y="2839212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" y="2788920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先解析、再推論：先做 defect coding，再檢索相似 case，最後做 stage ranking。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841248" y="314096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8408" y="3090672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每步皆附 evidence：客訴文字、圖像 URI、genealogy 片段、檢測資料與引用案例都需可回查。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841248" y="3442716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8408" y="3392424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HITL 明確：責任歸屬、製程放行、對客承諾與重大異常升級仍由人工決策。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841248" y="3744468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8408" y="3694176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上拋內建：人工確認後即產生標準 payload，不再依賴額外人工整理 Excel / 簡報。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4553712" y="2487168"/>
            <a:ext cx="3291840" cy="2697480"/>
          </a:xfrm>
          <a:prstGeom prst="roundRect">
            <a:avLst>
              <a:gd name="adj" fmla="val 2034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681728" y="257860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發布邏輯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18304" y="2839212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55464" y="278892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Bronze：保留原始客訴文字、影像 URI、原始欄位與工具回傳。</a:t>
            </a:r>
            <a:endParaRPr lang="en-US" sz="855" dirty="0"/>
          </a:p>
        </p:txBody>
      </p:sp>
      <p:sp>
        <p:nvSpPr>
          <p:cNvPr id="59" name="Shape 57"/>
          <p:cNvSpPr/>
          <p:nvPr/>
        </p:nvSpPr>
        <p:spPr>
          <a:xfrm>
            <a:off x="4718304" y="314096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55464" y="30906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Silver：統一 defect code、stage、severity、panel position、confidence 與 evidence link。</a:t>
            </a:r>
            <a:endParaRPr lang="en-US" sz="855" dirty="0"/>
          </a:p>
        </p:txBody>
      </p:sp>
      <p:sp>
        <p:nvSpPr>
          <p:cNvPr id="61" name="Shape 59"/>
          <p:cNvSpPr/>
          <p:nvPr/>
        </p:nvSpPr>
        <p:spPr>
          <a:xfrm>
            <a:off x="4718304" y="3442716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55464" y="339242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Gold：供單位查詢的 case dashboard、defect trend、stage heatmap、closed-loop KPI。</a:t>
            </a:r>
            <a:endParaRPr lang="en-US" sz="855" dirty="0"/>
          </a:p>
        </p:txBody>
      </p:sp>
      <p:sp>
        <p:nvSpPr>
          <p:cNvPr id="63" name="Shape 61"/>
          <p:cNvSpPr/>
          <p:nvPr/>
        </p:nvSpPr>
        <p:spPr>
          <a:xfrm>
            <a:off x="4718304" y="3744468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55464" y="369417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必要時同步提供 serving API 給 case portal / BI / downstream model。</a:t>
            </a:r>
            <a:endParaRPr lang="en-US" sz="855" dirty="0"/>
          </a:p>
        </p:txBody>
      </p:sp>
      <p:sp>
        <p:nvSpPr>
          <p:cNvPr id="65" name="Shape 63"/>
          <p:cNvSpPr/>
          <p:nvPr/>
        </p:nvSpPr>
        <p:spPr>
          <a:xfrm>
            <a:off x="8028432" y="2487168"/>
            <a:ext cx="3657600" cy="2697480"/>
          </a:xfrm>
          <a:prstGeom prst="roundRect">
            <a:avLst>
              <a:gd name="adj" fmla="val 2034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156448" y="257860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人機協作邊界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193024" y="2839212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30184" y="2788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負責：整理、解析、檢索、排序、結構化與上拋。</a:t>
            </a:r>
            <a:endParaRPr lang="en-US" sz="855" dirty="0"/>
          </a:p>
        </p:txBody>
      </p:sp>
      <p:sp>
        <p:nvSpPr>
          <p:cNvPr id="69" name="Shape 67"/>
          <p:cNvSpPr/>
          <p:nvPr/>
        </p:nvSpPr>
        <p:spPr>
          <a:xfrm>
            <a:off x="8193024" y="314096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30184" y="309067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工程師負責：證據核對、stage / 責任判定、驗證實驗與改善決策。</a:t>
            </a:r>
            <a:endParaRPr lang="en-US" sz="855" dirty="0"/>
          </a:p>
        </p:txBody>
      </p:sp>
      <p:sp>
        <p:nvSpPr>
          <p:cNvPr id="71" name="Shape 69"/>
          <p:cNvSpPr/>
          <p:nvPr/>
        </p:nvSpPr>
        <p:spPr>
          <a:xfrm>
            <a:off x="8193024" y="3442716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30184" y="33924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 / 管理端負責：查詢結果、追蹤 SLA、跨單位協調與對客溝通。</a:t>
            </a:r>
            <a:endParaRPr lang="en-US" sz="855" dirty="0"/>
          </a:p>
        </p:txBody>
      </p:sp>
      <p:sp>
        <p:nvSpPr>
          <p:cNvPr id="73" name="Shape 71"/>
          <p:cNvSpPr/>
          <p:nvPr/>
        </p:nvSpPr>
        <p:spPr>
          <a:xfrm>
            <a:off x="8193024" y="3744468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30184" y="369417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讓結果不只服務當前工程師，也服務其他需要資料的單位。</a:t>
            </a:r>
            <a:endParaRPr lang="en-US" sz="855" dirty="0"/>
          </a:p>
        </p:txBody>
      </p:sp>
      <p:sp>
        <p:nvSpPr>
          <p:cNvPr id="75" name="Text 73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CANVAS | OUTPUT / RISK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Canvas｜Output / Risk 評估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輸出不只要幫助單案 triage，也要能形成 Databricks 可查詢、可分析、可治理的資料結構。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1572768"/>
            <a:ext cx="5376672" cy="4553712"/>
          </a:xfrm>
          <a:prstGeom prst="roundRect">
            <a:avLst>
              <a:gd name="adj" fmla="val 1205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" y="16642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Output 設計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9536" y="1901952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199339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2359152" y="1901952"/>
            <a:ext cx="3456432" cy="438912"/>
          </a:xfrm>
          <a:prstGeom prst="roundRect">
            <a:avLst>
              <a:gd name="adj" fmla="val 1250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87168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一句話說明症狀、涉及機種、panel / module / lot 與當前狀態</a:t>
            </a:r>
            <a:endParaRPr lang="en-US" sz="815" dirty="0"/>
          </a:p>
        </p:txBody>
      </p:sp>
      <p:sp>
        <p:nvSpPr>
          <p:cNvPr id="30" name="Shape 28"/>
          <p:cNvSpPr/>
          <p:nvPr/>
        </p:nvSpPr>
        <p:spPr>
          <a:xfrm>
            <a:off x="859536" y="250545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7552" y="259689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解析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2359152" y="2505456"/>
            <a:ext cx="3456432" cy="438912"/>
          </a:xfrm>
          <a:prstGeom prst="roundRect">
            <a:avLst>
              <a:gd name="adj" fmla="val 1250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487168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候選 defect code、位置描述、severity、可能 stage、confidence 與引用證據</a:t>
            </a:r>
            <a:endParaRPr lang="en-US" sz="815" dirty="0"/>
          </a:p>
        </p:txBody>
      </p:sp>
      <p:sp>
        <p:nvSpPr>
          <p:cNvPr id="34" name="Shape 32"/>
          <p:cNvSpPr/>
          <p:nvPr/>
        </p:nvSpPr>
        <p:spPr>
          <a:xfrm>
            <a:off x="859536" y="310896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87552" y="320040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359152" y="3108960"/>
            <a:ext cx="3456432" cy="438912"/>
          </a:xfrm>
          <a:prstGeom prst="roundRect">
            <a:avLst>
              <a:gd name="adj" fmla="val 1250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87168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Top-N stage / material / tool 假設與建議補驗證項目</a:t>
            </a:r>
            <a:endParaRPr lang="en-US" sz="815" dirty="0"/>
          </a:p>
        </p:txBody>
      </p:sp>
      <p:sp>
        <p:nvSpPr>
          <p:cNvPr id="38" name="Shape 36"/>
          <p:cNvSpPr/>
          <p:nvPr/>
        </p:nvSpPr>
        <p:spPr>
          <a:xfrm>
            <a:off x="859536" y="3712464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87552" y="3803904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payload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2359152" y="3712464"/>
            <a:ext cx="3456432" cy="438912"/>
          </a:xfrm>
          <a:prstGeom prst="roundRect">
            <a:avLst>
              <a:gd name="adj" fmla="val 12500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487168" y="3822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 schema：case id、panel id、defect、stage、evidence URI、owner、timestamp</a:t>
            </a:r>
            <a:endParaRPr lang="en-US" sz="815" dirty="0"/>
          </a:p>
        </p:txBody>
      </p:sp>
      <p:sp>
        <p:nvSpPr>
          <p:cNvPr id="42" name="Shape 40"/>
          <p:cNvSpPr/>
          <p:nvPr/>
        </p:nvSpPr>
        <p:spPr>
          <a:xfrm>
            <a:off x="859536" y="431596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87552" y="440740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查詢視角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2359152" y="4315968"/>
            <a:ext cx="3456432" cy="438912"/>
          </a:xfrm>
          <a:prstGeom prst="roundRect">
            <a:avLst>
              <a:gd name="adj" fmla="val 12500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487168" y="4425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供品質 / 製程 / 客服 / 管理單位使用的 dashboard、query API 與 downstream dataset</a:t>
            </a:r>
            <a:endParaRPr lang="en-US" sz="815" dirty="0"/>
          </a:p>
        </p:txBody>
      </p:sp>
      <p:sp>
        <p:nvSpPr>
          <p:cNvPr id="46" name="Shape 44"/>
          <p:cNvSpPr/>
          <p:nvPr/>
        </p:nvSpPr>
        <p:spPr>
          <a:xfrm>
            <a:off x="859536" y="4919472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87552" y="501091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知識回寫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2359152" y="4919472"/>
            <a:ext cx="3456432" cy="438912"/>
          </a:xfrm>
          <a:prstGeom prst="roundRect">
            <a:avLst>
              <a:gd name="adj" fmla="val 12500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487168" y="5029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結案內容回寫 case store、rule base 與評估集，形成閉環</a:t>
            </a:r>
            <a:endParaRPr lang="en-US" sz="815" dirty="0"/>
          </a:p>
        </p:txBody>
      </p:sp>
      <p:sp>
        <p:nvSpPr>
          <p:cNvPr id="50" name="Shape 48"/>
          <p:cNvSpPr/>
          <p:nvPr/>
        </p:nvSpPr>
        <p:spPr>
          <a:xfrm>
            <a:off x="6236208" y="1572768"/>
            <a:ext cx="5285232" cy="4553712"/>
          </a:xfrm>
          <a:prstGeom prst="roundRect">
            <a:avLst>
              <a:gd name="adj" fmla="val 1205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64224" y="1664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 控制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37376" y="1901952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C1717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565392" y="199339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資料錯配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44384" y="1901952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772400" y="20116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panel id、module S/N、lot 與影像 / Mura map 綁定需校驗，避免錯用 genealogy。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6437376" y="2505456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C1717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565392" y="2596896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錯誤分型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44384" y="2505456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772400" y="261518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低信心時不直接定 defect code，改輸出候選類別與需補資料。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6437376" y="3108960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C1717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565392" y="32004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責任誤判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644384" y="310896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772400" y="321868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責任歸因不可由模型自動結論；需附 stage 證據並由人工覆核。</a:t>
            </a:r>
            <a:endParaRPr lang="en-US" sz="810" dirty="0"/>
          </a:p>
        </p:txBody>
      </p:sp>
      <p:sp>
        <p:nvSpPr>
          <p:cNvPr id="64" name="Shape 62"/>
          <p:cNvSpPr/>
          <p:nvPr/>
        </p:nvSpPr>
        <p:spPr>
          <a:xfrm>
            <a:off x="6437376" y="3712464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C1717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565392" y="380390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Schema drift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644384" y="3712464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772400" y="382219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欄位定義更新需版本化，避免不同時期 case 無法橫向比較。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6437376" y="4315968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C1717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565392" y="440740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敏感資訊外洩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644384" y="4315968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7772400" y="44256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客戶名稱、序號、供應商與 recipe 參數需脫敏、RBAC 與審計。</a:t>
            </a:r>
            <a:endParaRPr lang="en-US" sz="810" dirty="0"/>
          </a:p>
        </p:txBody>
      </p:sp>
      <p:sp>
        <p:nvSpPr>
          <p:cNvPr id="72" name="Shape 70"/>
          <p:cNvSpPr/>
          <p:nvPr/>
        </p:nvSpPr>
        <p:spPr>
          <a:xfrm>
            <a:off x="6437376" y="4919472"/>
            <a:ext cx="1115568" cy="438912"/>
          </a:xfrm>
          <a:prstGeom prst="roundRect">
            <a:avLst>
              <a:gd name="adj" fmla="val 12500"/>
            </a:avLst>
          </a:prstGeom>
          <a:solidFill>
            <a:srgbClr val="2C1717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565392" y="501091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過度依賴 AI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644384" y="4919472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772400" y="50292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保留覆寫、退回與抽驗機制，監控誤判 case 與採納率。</a:t>
            </a:r>
            <a:endParaRPr lang="en-US" sz="810" dirty="0"/>
          </a:p>
        </p:txBody>
      </p:sp>
      <p:sp>
        <p:nvSpPr>
          <p:cNvPr id="76" name="Text 74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//BENEFIT ASSESSMENT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效益評估｜四項導入指標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此場景具備高影響、高可量測特性；加上 Databricks 後，效益不只在 case turnaround，也在跨單位查詢效率與資料再利用。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157276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9536" y="1664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整體評分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9536" y="1883664"/>
            <a:ext cx="1572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 / 20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適合先驗證「摘要、defect 分型、Databricks 上拋、query 支援」四項能力，再擴充到 stage ranking 與閉環治理。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0" y="1645920"/>
            <a:ext cx="713232" cy="713232"/>
          </a:xfrm>
          <a:prstGeom prst="arc">
            <a:avLst>
              <a:gd name="adj1" fmla="val 0"/>
              <a:gd name="adj2" fmla="val 21540000"/>
            </a:avLst>
          </a:prstGeom>
          <a:solidFill>
            <a:srgbClr val="071B2A">
              <a:alpha val="0"/>
            </a:srgbClr>
          </a:solidFill>
          <a:ln w="76200">
            <a:solidFill>
              <a:srgbClr val="17314A">
                <a:alpha val="8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1645920"/>
            <a:ext cx="713232" cy="713232"/>
          </a:xfrm>
          <a:prstGeom prst="arc">
            <a:avLst>
              <a:gd name="adj1" fmla="val 16200000"/>
              <a:gd name="adj2" fmla="val 11832000"/>
            </a:avLst>
          </a:prstGeom>
          <a:solidFill>
            <a:srgbClr val="071B2A">
              <a:alpha val="0"/>
            </a:srgbClr>
          </a:solidFill>
          <a:ln w="76200">
            <a:solidFill>
              <a:srgbClr val="49D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25496" y="18836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39312" y="167335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Automatable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39312" y="18562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補件提醒、資料蒐集、defect 摘要、結構化欄位產生與 Databricks 發布皆可高度自動化。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897880" y="1645920"/>
            <a:ext cx="713232" cy="713232"/>
          </a:xfrm>
          <a:prstGeom prst="arc">
            <a:avLst>
              <a:gd name="adj1" fmla="val 0"/>
              <a:gd name="adj2" fmla="val 21540000"/>
            </a:avLst>
          </a:prstGeom>
          <a:solidFill>
            <a:srgbClr val="071B2A">
              <a:alpha val="0"/>
            </a:srgbClr>
          </a:solidFill>
          <a:ln w="76200">
            <a:solidFill>
              <a:srgbClr val="17314A">
                <a:alpha val="8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1645920"/>
            <a:ext cx="713232" cy="713232"/>
          </a:xfrm>
          <a:prstGeom prst="arc">
            <a:avLst>
              <a:gd name="adj1" fmla="val 16200000"/>
              <a:gd name="adj2" fmla="val 16140000"/>
            </a:avLst>
          </a:prstGeom>
          <a:solidFill>
            <a:srgbClr val="071B2A">
              <a:alpha val="0"/>
            </a:srgbClr>
          </a:solidFill>
          <a:ln w="76200">
            <a:solidFill>
              <a:srgbClr val="4CD2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0176" y="18836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/ 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93992" y="167335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D2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Impactful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93992" y="18562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可直接縮短初判週期，並讓品質 / 製程 / 客服不用再重複詢問工程師索取資料。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915400" y="1645920"/>
            <a:ext cx="713232" cy="713232"/>
          </a:xfrm>
          <a:prstGeom prst="arc">
            <a:avLst>
              <a:gd name="adj1" fmla="val 0"/>
              <a:gd name="adj2" fmla="val 21540000"/>
            </a:avLst>
          </a:prstGeom>
          <a:solidFill>
            <a:srgbClr val="071B2A">
              <a:alpha val="0"/>
            </a:srgbClr>
          </a:solidFill>
          <a:ln w="76200">
            <a:solidFill>
              <a:srgbClr val="17314A">
                <a:alpha val="8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15400" y="1645920"/>
            <a:ext cx="713232" cy="713232"/>
          </a:xfrm>
          <a:prstGeom prst="arc">
            <a:avLst>
              <a:gd name="adj1" fmla="val 16200000"/>
              <a:gd name="adj2" fmla="val 11832000"/>
            </a:avLst>
          </a:prstGeom>
          <a:solidFill>
            <a:srgbClr val="071B2A">
              <a:alpha val="0"/>
            </a:srgbClr>
          </a:solidFill>
          <a:ln w="76200">
            <a:solidFill>
              <a:srgbClr val="FF8B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97696" y="18836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11512" y="167335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readiness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11512" y="18562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資料量足夠，但需先整理影像對齊、defect taxonomy 與 Databricks 欄位標準。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2743200" y="3063240"/>
            <a:ext cx="713232" cy="713232"/>
          </a:xfrm>
          <a:prstGeom prst="arc">
            <a:avLst>
              <a:gd name="adj1" fmla="val 0"/>
              <a:gd name="adj2" fmla="val 21540000"/>
            </a:avLst>
          </a:prstGeom>
          <a:solidFill>
            <a:srgbClr val="071B2A">
              <a:alpha val="0"/>
            </a:srgbClr>
          </a:solidFill>
          <a:ln w="76200">
            <a:solidFill>
              <a:srgbClr val="17314A">
                <a:alpha val="8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0" y="3063240"/>
            <a:ext cx="713232" cy="713232"/>
          </a:xfrm>
          <a:prstGeom prst="arc">
            <a:avLst>
              <a:gd name="adj1" fmla="val 16200000"/>
              <a:gd name="adj2" fmla="val 11832000"/>
            </a:avLst>
          </a:prstGeom>
          <a:solidFill>
            <a:srgbClr val="071B2A">
              <a:alpha val="0"/>
            </a:srgbClr>
          </a:solidFill>
          <a:ln w="76200">
            <a:solidFill>
              <a:srgbClr val="1EA7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25496" y="33009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639312" y="309067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A7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Evaluability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39312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可量測 defect code 命中率、Top-3 stage 命中率、上拋成功率與查詢採納率。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731520" y="4069080"/>
            <a:ext cx="10936224" cy="1828800"/>
          </a:xfrm>
          <a:prstGeom prst="roundRect">
            <a:avLst>
              <a:gd name="adj" fmla="val 3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59536" y="4160520"/>
            <a:ext cx="10680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 KPI 與量測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50976" y="4425696"/>
            <a:ext cx="2267712" cy="347472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450799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KPI 類別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3218688" y="4425696"/>
            <a:ext cx="1965960" cy="347472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73552" y="450799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指標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5184648" y="4425696"/>
            <a:ext cx="2423160" cy="347472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9512" y="45079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說明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7607808" y="4425696"/>
            <a:ext cx="1965960" cy="347472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62672" y="450799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MVP 目標方向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9573768" y="4425696"/>
            <a:ext cx="1920240" cy="347472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28632" y="450799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角色</a:t>
            </a:r>
            <a:endParaRPr lang="en-US" sz="870" dirty="0"/>
          </a:p>
        </p:txBody>
      </p:sp>
      <p:sp>
        <p:nvSpPr>
          <p:cNvPr id="59" name="Shape 57"/>
          <p:cNvSpPr/>
          <p:nvPr/>
        </p:nvSpPr>
        <p:spPr>
          <a:xfrm>
            <a:off x="950976" y="4773168"/>
            <a:ext cx="2267712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5840" y="483717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效率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3218688" y="4773168"/>
            <a:ext cx="19659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73552" y="48371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補件時間 / 初判時間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5184648" y="4773168"/>
            <a:ext cx="24231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39512" y="4837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建立到可分析狀態 / 初次 triage 輸出所需時間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7607808" y="4773168"/>
            <a:ext cx="19659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62672" y="48371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顯著縮短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9573768" y="4773168"/>
            <a:ext cx="192024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28632" y="483717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供 SLA 與 case 時效追蹤</a:t>
            </a:r>
            <a:endParaRPr lang="en-US" sz="840" dirty="0"/>
          </a:p>
        </p:txBody>
      </p:sp>
      <p:sp>
        <p:nvSpPr>
          <p:cNvPr id="69" name="Shape 67"/>
          <p:cNvSpPr/>
          <p:nvPr/>
        </p:nvSpPr>
        <p:spPr>
          <a:xfrm>
            <a:off x="950976" y="5120640"/>
            <a:ext cx="2267712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5840" y="518464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</a:t>
            </a:r>
            <a:endParaRPr lang="en-US" sz="840" dirty="0"/>
          </a:p>
        </p:txBody>
      </p:sp>
      <p:sp>
        <p:nvSpPr>
          <p:cNvPr id="71" name="Shape 69"/>
          <p:cNvSpPr/>
          <p:nvPr/>
        </p:nvSpPr>
        <p:spPr>
          <a:xfrm>
            <a:off x="3218688" y="5120640"/>
            <a:ext cx="19659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73552" y="518464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code 命中率</a:t>
            </a:r>
            <a:endParaRPr lang="en-US" sz="840" dirty="0"/>
          </a:p>
        </p:txBody>
      </p:sp>
      <p:sp>
        <p:nvSpPr>
          <p:cNvPr id="73" name="Shape 71"/>
          <p:cNvSpPr/>
          <p:nvPr/>
        </p:nvSpPr>
        <p:spPr>
          <a:xfrm>
            <a:off x="5184648" y="5120640"/>
            <a:ext cx="24231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39512" y="5184648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人工最終定版與 Agent 候選是否一致</a:t>
            </a:r>
            <a:endParaRPr lang="en-US" sz="840" dirty="0"/>
          </a:p>
        </p:txBody>
      </p:sp>
      <p:sp>
        <p:nvSpPr>
          <p:cNvPr id="75" name="Shape 73"/>
          <p:cNvSpPr/>
          <p:nvPr/>
        </p:nvSpPr>
        <p:spPr>
          <a:xfrm>
            <a:off x="7607808" y="5120640"/>
            <a:ext cx="19659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62672" y="518464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持續提升</a:t>
            </a:r>
            <a:endParaRPr lang="en-US" sz="840" dirty="0"/>
          </a:p>
        </p:txBody>
      </p:sp>
      <p:sp>
        <p:nvSpPr>
          <p:cNvPr id="77" name="Shape 75"/>
          <p:cNvSpPr/>
          <p:nvPr/>
        </p:nvSpPr>
        <p:spPr>
          <a:xfrm>
            <a:off x="9573768" y="5120640"/>
            <a:ext cx="192024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28632" y="51846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做版本比較與誤判分析</a:t>
            </a:r>
            <a:endParaRPr lang="en-US" sz="840" dirty="0"/>
          </a:p>
        </p:txBody>
      </p:sp>
      <p:sp>
        <p:nvSpPr>
          <p:cNvPr id="79" name="Shape 77"/>
          <p:cNvSpPr/>
          <p:nvPr/>
        </p:nvSpPr>
        <p:spPr>
          <a:xfrm>
            <a:off x="950976" y="5468112"/>
            <a:ext cx="2267712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05840" y="55321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RCA</a:t>
            </a:r>
            <a:endParaRPr lang="en-US" sz="840" dirty="0"/>
          </a:p>
        </p:txBody>
      </p:sp>
      <p:sp>
        <p:nvSpPr>
          <p:cNvPr id="81" name="Shape 79"/>
          <p:cNvSpPr/>
          <p:nvPr/>
        </p:nvSpPr>
        <p:spPr>
          <a:xfrm>
            <a:off x="3218688" y="5468112"/>
            <a:ext cx="19659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73552" y="553212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Top-3 stage 命中率</a:t>
            </a:r>
            <a:endParaRPr lang="en-US" sz="840" dirty="0"/>
          </a:p>
        </p:txBody>
      </p:sp>
      <p:sp>
        <p:nvSpPr>
          <p:cNvPr id="83" name="Shape 81"/>
          <p:cNvSpPr/>
          <p:nvPr/>
        </p:nvSpPr>
        <p:spPr>
          <a:xfrm>
            <a:off x="5184648" y="5468112"/>
            <a:ext cx="24231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39512" y="553212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最終確認 stage 是否落在模型前 3 名內</a:t>
            </a:r>
            <a:endParaRPr lang="en-US" sz="840" dirty="0"/>
          </a:p>
        </p:txBody>
      </p:sp>
      <p:sp>
        <p:nvSpPr>
          <p:cNvPr id="85" name="Shape 83"/>
          <p:cNvSpPr/>
          <p:nvPr/>
        </p:nvSpPr>
        <p:spPr>
          <a:xfrm>
            <a:off x="7607808" y="5468112"/>
            <a:ext cx="19659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62672" y="553212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可驗證提升</a:t>
            </a:r>
            <a:endParaRPr lang="en-US" sz="840" dirty="0"/>
          </a:p>
        </p:txBody>
      </p:sp>
      <p:sp>
        <p:nvSpPr>
          <p:cNvPr id="87" name="Shape 85"/>
          <p:cNvSpPr/>
          <p:nvPr/>
        </p:nvSpPr>
        <p:spPr>
          <a:xfrm>
            <a:off x="9573768" y="5468112"/>
            <a:ext cx="192024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628632" y="55321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供 stage heatmap 與 case 聚類</a:t>
            </a:r>
            <a:endParaRPr lang="en-US" sz="840" dirty="0"/>
          </a:p>
        </p:txBody>
      </p:sp>
      <p:sp>
        <p:nvSpPr>
          <p:cNvPr id="89" name="Shape 87"/>
          <p:cNvSpPr/>
          <p:nvPr/>
        </p:nvSpPr>
        <p:spPr>
          <a:xfrm>
            <a:off x="950976" y="5815584"/>
            <a:ext cx="2267712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05840" y="587959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採納</a:t>
            </a:r>
            <a:endParaRPr lang="en-US" sz="840" dirty="0"/>
          </a:p>
        </p:txBody>
      </p:sp>
      <p:sp>
        <p:nvSpPr>
          <p:cNvPr id="91" name="Shape 89"/>
          <p:cNvSpPr/>
          <p:nvPr/>
        </p:nvSpPr>
        <p:spPr>
          <a:xfrm>
            <a:off x="3218688" y="5815584"/>
            <a:ext cx="19659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73552" y="5879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工程師 / 單位採納率</a:t>
            </a:r>
            <a:endParaRPr lang="en-US" sz="840" dirty="0"/>
          </a:p>
        </p:txBody>
      </p:sp>
      <p:sp>
        <p:nvSpPr>
          <p:cNvPr id="93" name="Shape 91"/>
          <p:cNvSpPr/>
          <p:nvPr/>
        </p:nvSpPr>
        <p:spPr>
          <a:xfrm>
            <a:off x="5184648" y="5815584"/>
            <a:ext cx="24231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239512" y="58795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工程師是否採用摘要與建議方向；單位是否直接查 Databricks</a:t>
            </a:r>
            <a:endParaRPr lang="en-US" sz="840" dirty="0"/>
          </a:p>
        </p:txBody>
      </p:sp>
      <p:sp>
        <p:nvSpPr>
          <p:cNvPr id="95" name="Shape 93"/>
          <p:cNvSpPr/>
          <p:nvPr/>
        </p:nvSpPr>
        <p:spPr>
          <a:xfrm>
            <a:off x="7607808" y="5815584"/>
            <a:ext cx="196596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62672" y="5879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穩定增加</a:t>
            </a:r>
            <a:endParaRPr lang="en-US" sz="840" dirty="0"/>
          </a:p>
        </p:txBody>
      </p:sp>
      <p:sp>
        <p:nvSpPr>
          <p:cNvPr id="97" name="Shape 95"/>
          <p:cNvSpPr/>
          <p:nvPr/>
        </p:nvSpPr>
        <p:spPr>
          <a:xfrm>
            <a:off x="9573768" y="5815584"/>
            <a:ext cx="1920240" cy="347472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628632" y="58795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追蹤 query 行為與使用覆蓋率</a:t>
            </a:r>
            <a:endParaRPr lang="en-US" sz="840" dirty="0"/>
          </a:p>
        </p:txBody>
      </p:sp>
      <p:sp>
        <p:nvSpPr>
          <p:cNvPr id="99" name="Text 97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//BENEFIT ASSESSMENT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效益評估｜優先場景與導入順序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先做高影響、能快速量測的子任務，再擴充到 RCA 指引與跨單位自助查詢。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1627632"/>
            <a:ext cx="4846320" cy="4160520"/>
          </a:xfrm>
          <a:prstGeom prst="roundRect">
            <a:avLst>
              <a:gd name="adj" fmla="val 1319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1719072"/>
            <a:ext cx="4590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 × Automatable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71600" y="5074920"/>
            <a:ext cx="3657600" cy="0"/>
          </a:xfrm>
          <a:prstGeom prst="line">
            <a:avLst/>
          </a:prstGeom>
          <a:noFill/>
          <a:ln w="15240">
            <a:solidFill>
              <a:srgbClr val="2C5B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148840"/>
            <a:ext cx="0" cy="2834640"/>
          </a:xfrm>
          <a:prstGeom prst="line">
            <a:avLst/>
          </a:prstGeom>
          <a:noFill/>
          <a:ln w="15240">
            <a:solidFill>
              <a:srgbClr val="2C5B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 rot="16200000">
            <a:off x="877824" y="192024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43400" y="523036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Automatable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63040" y="233172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12638"/>
          </a:solidFill>
          <a:ln w="15240">
            <a:solidFill>
              <a:srgbClr val="49D6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591056" y="242316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客訴摘要 +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缺欄提醒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228600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12638"/>
          </a:solidFill>
          <a:ln w="15240">
            <a:solidFill>
              <a:srgbClr val="4CD27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39896" y="237744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D2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CD2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 +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CD2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相似 case 檢索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93008" y="3749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12638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621024" y="384048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上拋 +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query dataset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38528" y="3730752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12638"/>
          </a:solidFill>
          <a:ln w="15240">
            <a:solidFill>
              <a:srgbClr val="FF8B3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66544" y="3822192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 / 客回草稿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70448" y="1627632"/>
            <a:ext cx="5504688" cy="1828800"/>
          </a:xfrm>
          <a:prstGeom prst="roundRect">
            <a:avLst>
              <a:gd name="adj" fmla="val 3000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98464" y="1719072"/>
            <a:ext cx="5248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建議導入路徑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89904" y="2007108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19568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1｜Quick win：客訴摘要 + 缺欄提醒 + genealogy 拉取，先改善 case triage 時效。</a:t>
            </a:r>
            <a:endParaRPr lang="en-US" sz="875" dirty="0"/>
          </a:p>
        </p:txBody>
      </p:sp>
      <p:sp>
        <p:nvSpPr>
          <p:cNvPr id="42" name="Shape 40"/>
          <p:cNvSpPr/>
          <p:nvPr/>
        </p:nvSpPr>
        <p:spPr>
          <a:xfrm>
            <a:off x="6089904" y="231800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226771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2｜解析能力：defect code 分型 + 相似 case 檢索 + stage ranking，建立可驗證命中率。</a:t>
            </a:r>
            <a:endParaRPr lang="en-US" sz="875" dirty="0"/>
          </a:p>
        </p:txBody>
      </p:sp>
      <p:sp>
        <p:nvSpPr>
          <p:cNvPr id="44" name="Shape 42"/>
          <p:cNvSpPr/>
          <p:nvPr/>
        </p:nvSpPr>
        <p:spPr>
          <a:xfrm>
            <a:off x="6089904" y="2628900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27064" y="25786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3｜資料產品化：標準 payload 上拋 Databricks Silver / Gold，讓其他單位能自助查詢。</a:t>
            </a:r>
            <a:endParaRPr lang="en-US" sz="875" dirty="0"/>
          </a:p>
        </p:txBody>
      </p:sp>
      <p:sp>
        <p:nvSpPr>
          <p:cNvPr id="46" name="Shape 44"/>
          <p:cNvSpPr/>
          <p:nvPr/>
        </p:nvSpPr>
        <p:spPr>
          <a:xfrm>
            <a:off x="6089904" y="2939796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7064" y="288950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4｜閉環治理：結案回寫、dashboard、誤判分析與知識 / taxonomy 更新節奏。</a:t>
            </a:r>
            <a:endParaRPr lang="en-US" sz="875" dirty="0"/>
          </a:p>
        </p:txBody>
      </p:sp>
      <p:sp>
        <p:nvSpPr>
          <p:cNvPr id="48" name="Shape 46"/>
          <p:cNvSpPr/>
          <p:nvPr/>
        </p:nvSpPr>
        <p:spPr>
          <a:xfrm>
            <a:off x="5870448" y="3675888"/>
            <a:ext cx="5504688" cy="2103120"/>
          </a:xfrm>
          <a:prstGeom prst="roundRect">
            <a:avLst>
              <a:gd name="adj" fmla="val 2609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998464" y="3767328"/>
            <a:ext cx="5248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的使用者視角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71616" y="4005072"/>
            <a:ext cx="1115568" cy="301752"/>
          </a:xfrm>
          <a:prstGeom prst="roundRect">
            <a:avLst>
              <a:gd name="adj" fmla="val 18182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199632" y="409651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品質工程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7269480" y="4005072"/>
            <a:ext cx="3877056" cy="301752"/>
          </a:xfrm>
          <a:prstGeom prst="roundRect">
            <a:avLst>
              <a:gd name="adj" fmla="val 18182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397496" y="4114800"/>
            <a:ext cx="3621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 defect trend、責任分布、重複 abnormal pattern</a:t>
            </a:r>
            <a:endParaRPr lang="en-US" sz="795" dirty="0"/>
          </a:p>
        </p:txBody>
      </p:sp>
      <p:sp>
        <p:nvSpPr>
          <p:cNvPr id="54" name="Shape 52"/>
          <p:cNvSpPr/>
          <p:nvPr/>
        </p:nvSpPr>
        <p:spPr>
          <a:xfrm>
            <a:off x="6071616" y="4407408"/>
            <a:ext cx="1115568" cy="301752"/>
          </a:xfrm>
          <a:prstGeom prst="roundRect">
            <a:avLst>
              <a:gd name="adj" fmla="val 18182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199632" y="449884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製程工程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7269480" y="4407408"/>
            <a:ext cx="3877056" cy="301752"/>
          </a:xfrm>
          <a:prstGeom prst="roundRect">
            <a:avLst>
              <a:gd name="adj" fmla="val 18182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97496" y="4517136"/>
            <a:ext cx="3621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 stage / tool / material 線索快速鎖定驗證方向</a:t>
            </a:r>
            <a:endParaRPr lang="en-US" sz="795" dirty="0"/>
          </a:p>
        </p:txBody>
      </p:sp>
      <p:sp>
        <p:nvSpPr>
          <p:cNvPr id="58" name="Shape 56"/>
          <p:cNvSpPr/>
          <p:nvPr/>
        </p:nvSpPr>
        <p:spPr>
          <a:xfrm>
            <a:off x="6071616" y="4809744"/>
            <a:ext cx="1115568" cy="301752"/>
          </a:xfrm>
          <a:prstGeom prst="roundRect">
            <a:avLst>
              <a:gd name="adj" fmla="val 18182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199632" y="490118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 / RMA</a:t>
            </a:r>
            <a:endParaRPr lang="en-US" sz="890" dirty="0"/>
          </a:p>
        </p:txBody>
      </p:sp>
      <p:sp>
        <p:nvSpPr>
          <p:cNvPr id="60" name="Shape 58"/>
          <p:cNvSpPr/>
          <p:nvPr/>
        </p:nvSpPr>
        <p:spPr>
          <a:xfrm>
            <a:off x="7269480" y="4809744"/>
            <a:ext cx="3877056" cy="301752"/>
          </a:xfrm>
          <a:prstGeom prst="roundRect">
            <a:avLst>
              <a:gd name="adj" fmla="val 18182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397496" y="4919472"/>
            <a:ext cx="3621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快速取得摘要、目前狀態、下一步與對客回覆依據</a:t>
            </a:r>
            <a:endParaRPr lang="en-US" sz="795" dirty="0"/>
          </a:p>
        </p:txBody>
      </p:sp>
      <p:sp>
        <p:nvSpPr>
          <p:cNvPr id="62" name="Shape 60"/>
          <p:cNvSpPr/>
          <p:nvPr/>
        </p:nvSpPr>
        <p:spPr>
          <a:xfrm>
            <a:off x="6071616" y="5212080"/>
            <a:ext cx="1115568" cy="301752"/>
          </a:xfrm>
          <a:prstGeom prst="roundRect">
            <a:avLst>
              <a:gd name="adj" fmla="val 18182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199632" y="530352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管理 / BI</a:t>
            </a:r>
            <a:endParaRPr lang="en-US" sz="890" dirty="0"/>
          </a:p>
        </p:txBody>
      </p:sp>
      <p:sp>
        <p:nvSpPr>
          <p:cNvPr id="64" name="Shape 62"/>
          <p:cNvSpPr/>
          <p:nvPr/>
        </p:nvSpPr>
        <p:spPr>
          <a:xfrm>
            <a:off x="7269480" y="5212080"/>
            <a:ext cx="3877056" cy="301752"/>
          </a:xfrm>
          <a:prstGeom prst="roundRect">
            <a:avLst>
              <a:gd name="adj" fmla="val 18182"/>
            </a:avLst>
          </a:prstGeom>
          <a:solidFill>
            <a:srgbClr val="1A1D25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397496" y="5321808"/>
            <a:ext cx="3621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查看 case SLA、風險熱區、重點客戶與產品族群趨勢</a:t>
            </a:r>
            <a:endParaRPr lang="en-US" sz="795" dirty="0"/>
          </a:p>
        </p:txBody>
      </p:sp>
      <p:sp>
        <p:nvSpPr>
          <p:cNvPr id="66" name="Text 64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//TO-BE AI+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 AI+ 流程設計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新流程讓 Agent 不只做 panel RCA 助理，也成為結構化資料的生產者；Databricks 則是跨單位共享與查詢中心。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1700784"/>
            <a:ext cx="2103120" cy="4526280"/>
          </a:xfrm>
          <a:prstGeom prst="roundRect">
            <a:avLst>
              <a:gd name="adj" fmla="val 2609"/>
            </a:avLst>
          </a:prstGeom>
          <a:solidFill>
            <a:srgbClr val="0F3351"/>
          </a:solidFill>
          <a:ln w="15240">
            <a:solidFill>
              <a:srgbClr val="96EE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179222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 / 客服 / RMA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3136392" y="1700784"/>
            <a:ext cx="2103120" cy="4526280"/>
          </a:xfrm>
          <a:prstGeom prst="roundRect">
            <a:avLst>
              <a:gd name="adj" fmla="val 2609"/>
            </a:avLst>
          </a:prstGeom>
          <a:solidFill>
            <a:srgbClr val="112638"/>
          </a:solidFill>
          <a:ln w="15240">
            <a:solidFill>
              <a:srgbClr val="FFB36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64408" y="179222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面板故障分析 Agent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596128" y="1700784"/>
            <a:ext cx="2103120" cy="4526280"/>
          </a:xfrm>
          <a:prstGeom prst="roundRect">
            <a:avLst>
              <a:gd name="adj" fmla="val 2609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24144" y="179222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/ Data Product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284464" y="1700784"/>
            <a:ext cx="2103120" cy="4526280"/>
          </a:xfrm>
          <a:prstGeom prst="roundRect">
            <a:avLst>
              <a:gd name="adj" fmla="val 2609"/>
            </a:avLst>
          </a:prstGeom>
          <a:solidFill>
            <a:srgbClr val="0F3351"/>
          </a:solidFill>
          <a:ln w="15240">
            <a:solidFill>
              <a:srgbClr val="96EE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12480" y="179222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 / 製程 / FA / BI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1005840" y="2212848"/>
            <a:ext cx="1627632" cy="493776"/>
          </a:xfrm>
          <a:prstGeom prst="roundRect">
            <a:avLst>
              <a:gd name="adj" fmla="val 1111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133856" y="2304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case / RMA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5840" y="2926080"/>
            <a:ext cx="1627632" cy="493776"/>
          </a:xfrm>
          <a:prstGeom prst="roundRect">
            <a:avLst>
              <a:gd name="adj" fmla="val 1111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33856" y="3017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補上照片 / S/N / lot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5840" y="4608576"/>
            <a:ext cx="1627632" cy="493776"/>
          </a:xfrm>
          <a:prstGeom prst="roundRect">
            <a:avLst>
              <a:gd name="adj" fmla="val 1111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133856" y="4700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接收回覆與追蹤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83280" y="2066544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511296" y="2157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摘要與缺欄檢查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3383280" y="2724912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511296" y="2816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 genealogy / 檢測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3383280" y="338328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511296" y="3474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code 分型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3383280" y="4041648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511296" y="4133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檢索相似 case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3383280" y="4700016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511296" y="4791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Top-N stage ranking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3383280" y="5358384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511296" y="54498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產生標準 payload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5833872" y="2249424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961888" y="23408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Bronze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raw event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5833872" y="3246120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961888" y="33375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Silver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normalized case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5833872" y="4242816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961888" y="43342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Gold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query / KPI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8540496" y="2212848"/>
            <a:ext cx="1609344" cy="493776"/>
          </a:xfrm>
          <a:prstGeom prst="roundRect">
            <a:avLst>
              <a:gd name="adj" fmla="val 1111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668512" y="23042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查詢摘要 / 證據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40496" y="3035808"/>
            <a:ext cx="1609344" cy="493776"/>
          </a:xfrm>
          <a:prstGeom prst="roundRect">
            <a:avLst>
              <a:gd name="adj" fmla="val 1111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668512" y="31272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取得分析方向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540496" y="3858768"/>
            <a:ext cx="1609344" cy="493776"/>
          </a:xfrm>
          <a:prstGeom prst="roundRect">
            <a:avLst>
              <a:gd name="adj" fmla="val 1111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668512" y="395020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追蹤 trend / SLA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540496" y="4681728"/>
            <a:ext cx="1609344" cy="493776"/>
          </a:xfrm>
          <a:prstGeom prst="roundRect">
            <a:avLst>
              <a:gd name="adj" fmla="val 11111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668512" y="47731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輸出報表 / dashboard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651760" y="2404872"/>
            <a:ext cx="530352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2404872"/>
            <a:ext cx="512064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79792" y="2404872"/>
            <a:ext cx="512064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51760" y="3118104"/>
            <a:ext cx="530352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47488" y="3118104"/>
            <a:ext cx="512064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79792" y="3118104"/>
            <a:ext cx="512064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47488" y="4434840"/>
            <a:ext cx="512064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79792" y="4434840"/>
            <a:ext cx="512064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47488" y="5074920"/>
            <a:ext cx="512064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79792" y="5074920"/>
            <a:ext cx="512064" cy="164592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8096" y="6382512"/>
            <a:ext cx="10954512" cy="274320"/>
          </a:xfrm>
          <a:prstGeom prst="roundRect">
            <a:avLst>
              <a:gd name="adj" fmla="val 20000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96112" y="6492240"/>
            <a:ext cx="10698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新流程特徵：先由 Agent 完成客訴整理、TFT-LCD / OLED 製程關聯、症狀解析與 Databricks 上拋，再由各單位依角色查詢資料與取得分析方向。</a:t>
            </a:r>
            <a:endParaRPr lang="en-US" sz="875" dirty="0"/>
          </a:p>
        </p:txBody>
      </p:sp>
      <p:sp>
        <p:nvSpPr>
          <p:cNvPr id="76" name="Text 74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//BEFORE / AFTER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流程再造｜Before / After 比較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AI+ 後的關鍵不是少人力，而是讓異常解析更快、更一致、更容易被其他單位直接查到。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1591056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" y="1682496"/>
            <a:ext cx="5047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As-Is｜人工主導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44768" y="1591056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0C2740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72784" y="1682496"/>
            <a:ext cx="5047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To-Be｜AI+ 協作 + Databricks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" y="1965960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97280" y="205740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案件啟動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12848" y="1965960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340864" y="207568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客服來回補圖 / 補件，格式不一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69264" y="2587752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97280" y="267919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資料取得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12848" y="2587752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340864" y="2697480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 MES / QMS / 報告手動找 genealogy 與檢測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969264" y="3209544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97280" y="3300984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解析方式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12848" y="3209544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340864" y="331927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依資深經驗描述 bright line / Mura / 偏色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969264" y="3831336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97280" y="39227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RCA 判讀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12848" y="3831336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340864" y="394106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靠站點履歷與 8D 手工比對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969264" y="4453128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544568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結果共享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12848" y="4453128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340864" y="4562856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主要透過郵件 / PPT / PDF，難被其他單位直接查詢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969264" y="5074920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097280" y="516636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整體週期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12848" y="5074920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340864" y="518464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長，且品質波動大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364224" y="1965960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92240" y="205740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案件啟動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07808" y="1965960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735824" y="207568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8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自動檢查缺欄並提示補圖 / 顯示條件 / 序號</a:t>
            </a:r>
            <a:endParaRPr lang="en-US" sz="818" dirty="0"/>
          </a:p>
        </p:txBody>
      </p:sp>
      <p:sp>
        <p:nvSpPr>
          <p:cNvPr id="56" name="Shape 54"/>
          <p:cNvSpPr/>
          <p:nvPr/>
        </p:nvSpPr>
        <p:spPr>
          <a:xfrm>
            <a:off x="6364224" y="2587752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492240" y="267919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資料取得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07808" y="2587752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735824" y="2697480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8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透過 connector 拉取 genealogy、AOI / E-test / aging</a:t>
            </a:r>
            <a:endParaRPr lang="en-US" sz="818" dirty="0"/>
          </a:p>
        </p:txBody>
      </p:sp>
      <p:sp>
        <p:nvSpPr>
          <p:cNvPr id="60" name="Shape 58"/>
          <p:cNvSpPr/>
          <p:nvPr/>
        </p:nvSpPr>
        <p:spPr>
          <a:xfrm>
            <a:off x="6364224" y="3209544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492240" y="3300984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解析方式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607808" y="3209544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735824" y="331927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8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以統一 taxonomy 做 defect code 與 panel position 描述</a:t>
            </a:r>
            <a:endParaRPr lang="en-US" sz="818" dirty="0"/>
          </a:p>
        </p:txBody>
      </p:sp>
      <p:sp>
        <p:nvSpPr>
          <p:cNvPr id="64" name="Shape 62"/>
          <p:cNvSpPr/>
          <p:nvPr/>
        </p:nvSpPr>
        <p:spPr>
          <a:xfrm>
            <a:off x="6364224" y="3831336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492240" y="39227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RCA 判讀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607808" y="3831336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735824" y="394106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8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+ rule + stage ranking + 工程師確認</a:t>
            </a:r>
            <a:endParaRPr lang="en-US" sz="818" dirty="0"/>
          </a:p>
        </p:txBody>
      </p:sp>
      <p:sp>
        <p:nvSpPr>
          <p:cNvPr id="68" name="Shape 66"/>
          <p:cNvSpPr/>
          <p:nvPr/>
        </p:nvSpPr>
        <p:spPr>
          <a:xfrm>
            <a:off x="6364224" y="4453128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492240" y="4544568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結果共享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607808" y="4453128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7735824" y="4562856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8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產生標準 payload 上拋 Databricks，其他單位直接 query / 看 dashboard</a:t>
            </a:r>
            <a:endParaRPr lang="en-US" sz="818" dirty="0"/>
          </a:p>
        </p:txBody>
      </p:sp>
      <p:sp>
        <p:nvSpPr>
          <p:cNvPr id="72" name="Shape 70"/>
          <p:cNvSpPr/>
          <p:nvPr/>
        </p:nvSpPr>
        <p:spPr>
          <a:xfrm>
            <a:off x="6364224" y="5074920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492240" y="516636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整體週期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607808" y="5074920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735824" y="518464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8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短，且更可預測、可追溯</a:t>
            </a:r>
            <a:endParaRPr lang="en-US" sz="818" dirty="0"/>
          </a:p>
        </p:txBody>
      </p:sp>
      <p:sp>
        <p:nvSpPr>
          <p:cNvPr id="76" name="Shape 74"/>
          <p:cNvSpPr/>
          <p:nvPr/>
        </p:nvSpPr>
        <p:spPr>
          <a:xfrm>
            <a:off x="749808" y="6272784"/>
            <a:ext cx="10698480" cy="310896"/>
          </a:xfrm>
          <a:prstGeom prst="roundRect">
            <a:avLst>
              <a:gd name="adj" fmla="val 17647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877824" y="6382512"/>
            <a:ext cx="10442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真實收益：同類 abnormal panel 不必每次都從零開始；更重要的是，分析結果可被品質、製程、客服與管理單位直接取用，而不是只停留在單次報告。</a:t>
            </a:r>
            <a:endParaRPr lang="en-US" sz="875" dirty="0"/>
          </a:p>
        </p:txBody>
      </p:sp>
      <p:sp>
        <p:nvSpPr>
          <p:cNvPr id="78" name="Text 76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//OPERATING MODEL &amp; GOVERNANCE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新流程的營運機制與治理閉環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要讓 Agent 長期可用，除了模型，還要設計資料 owner、taxonomy 更新、Databricks schema 管理與例外升級機制。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1737360"/>
            <a:ext cx="1920240" cy="987552"/>
          </a:xfrm>
          <a:prstGeom prst="roundRect">
            <a:avLst>
              <a:gd name="adj" fmla="val 5556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" y="182880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 owner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768096" y="2048256"/>
            <a:ext cx="1664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 KPI、例外流程、對客回覆、stage 判讀規則與單位協作邊界。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2880360" y="1737360"/>
            <a:ext cx="1920240" cy="987552"/>
          </a:xfrm>
          <a:prstGeom prst="roundRect">
            <a:avLst>
              <a:gd name="adj" fmla="val 5556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008376" y="182880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協作層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3008376" y="2048256"/>
            <a:ext cx="1664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摘要、defect code、案例檢索、stage ranking、payload 生成與審計留痕。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5120640" y="1737360"/>
            <a:ext cx="1920240" cy="987552"/>
          </a:xfrm>
          <a:prstGeom prst="roundRect">
            <a:avLst>
              <a:gd name="adj" fmla="val 5556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48656" y="182880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 / 評估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248656" y="2048256"/>
            <a:ext cx="1664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taxonomy、case store、prompt、rule base、評估集與誤判分析。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7360920" y="1737360"/>
            <a:ext cx="1920240" cy="987552"/>
          </a:xfrm>
          <a:prstGeom prst="roundRect">
            <a:avLst>
              <a:gd name="adj" fmla="val 5556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88936" y="182880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治理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7488936" y="2048256"/>
            <a:ext cx="1664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Bronze / Silver / Gold schema、版本控管、資料品質檢查與存取權限。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9601200" y="1737360"/>
            <a:ext cx="1920240" cy="987552"/>
          </a:xfrm>
          <a:prstGeom prst="roundRect">
            <a:avLst>
              <a:gd name="adj" fmla="val 5556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729216" y="182880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風控 / 升級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9729216" y="2048256"/>
            <a:ext cx="1664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低信心升級、責任爭議、敏感客訴與重大品質異常需主管覆核。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713232" y="3127248"/>
            <a:ext cx="5486400" cy="2670048"/>
          </a:xfrm>
          <a:prstGeom prst="roundRect">
            <a:avLst>
              <a:gd name="adj" fmla="val 2055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41248" y="3218688"/>
            <a:ext cx="5230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治理重點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14400" y="350672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3456432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 owner：誰對 KPI、對客承諾、例外處理與模型更新負責。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14400" y="382676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3776472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defect taxonomy 更新節奏：新 defect 類型、stage 準則與 SOP 需定期同步。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914400" y="414680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4096512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定義低信心門檻：證據不足時，Agent 應主動要求補圖、補件或轉人工。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914400" y="446684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4416552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Databricks 追蹤品質漂移：schema 變動、欄位缺漏、版本差異與誤判案例都應可回溯。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914400" y="478688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" y="4736592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closed-loop：結案後的最終 defect / stage / action 要回寫評估集與資料表。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6364224" y="3127248"/>
            <a:ext cx="5248656" cy="2670048"/>
          </a:xfrm>
          <a:prstGeom prst="roundRect">
            <a:avLst>
              <a:gd name="adj" fmla="val 2055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92240" y="3218688"/>
            <a:ext cx="4992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例外處理路徑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565392" y="350672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02552" y="3456432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圖像 / panel map 不足：要求客戶或客服補圖、補 pattern、補序號與發生條件。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565392" y="382676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2552" y="3776472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低信心分型：轉人工模式並標示缺失證據與候選 defect code。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6565392" y="414680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02552" y="4096512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 stage 責任爭議：強制主管覆核，避免直接自動回覆。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6565392" y="446684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02552" y="4416552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 / ETL 失敗：至少輸出結構化摘要並記錄未成功拉取的資料源。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6565392" y="4786884"/>
            <a:ext cx="73152" cy="73152"/>
          </a:xfrm>
          <a:prstGeom prst="ellipse">
            <a:avLst/>
          </a:prstGeom>
          <a:solidFill>
            <a:srgbClr val="FFB36A"/>
          </a:solidFill>
          <a:ln w="12700">
            <a:solidFill>
              <a:srgbClr val="FFB3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2552" y="4736592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發布失敗：保留 retry queue 與 dead-letter 機制，避免 case 分析結果遺失。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SCENARIO HANDOFF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場景說明書｜業務 / 功能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以下內容可直接交給技術端，作為「面板故障分析 Agent：客戶端異常面板解析 + Databricks 上拋」的場景定義。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1572768"/>
            <a:ext cx="11027664" cy="2148840"/>
          </a:xfrm>
          <a:prstGeom prst="roundRect">
            <a:avLst>
              <a:gd name="adj" fmla="val 2553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" y="1664208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場景基本資訊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7824" y="1865376"/>
            <a:ext cx="1280160" cy="38404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9476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2157984" y="1865376"/>
            <a:ext cx="4160520" cy="38404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947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318504" y="1865376"/>
            <a:ext cx="1280160" cy="38404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19476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7598664" y="1865376"/>
            <a:ext cx="4087368" cy="384048"/>
          </a:xfrm>
          <a:prstGeom prst="rect">
            <a:avLst/>
          </a:prstGeom>
          <a:solidFill>
            <a:srgbClr val="0F3351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53528" y="1947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77824" y="2249424"/>
            <a:ext cx="128016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2313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場景名稱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2157984" y="2249424"/>
            <a:ext cx="416052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12848" y="231343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面板故障分析 Agent：收到客戶端異常面板解析，並將分析資料上拋至 Databricks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6318504" y="2249424"/>
            <a:ext cx="128016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2313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7598664" y="2249424"/>
            <a:ext cx="4087368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53528" y="23134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縮短查詢時間、提升 defect 分型一致性，讓各單位更容易取得分析結果與方向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877824" y="2633472"/>
            <a:ext cx="128016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269748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2157984" y="2633472"/>
            <a:ext cx="416052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12848" y="2697480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客戶案件建立、RMA 建案，或工程師輸入 panel / module / case id 查詢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6318504" y="2633472"/>
            <a:ext cx="128016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3368" y="269748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主要使用者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7598664" y="2633472"/>
            <a:ext cx="4087368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53528" y="2697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客服窗口、品質工程、製程工程、FA / RMA 團隊、BI / 管理單位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877824" y="3017520"/>
            <a:ext cx="128016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3081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主要輸入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2157984" y="3017520"/>
            <a:ext cx="416052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12848" y="308152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客訴照片 / 影片、panel / module / lot、AOI / AVI / EL / E-test / aging、履歷、SOP、歷史案例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6318504" y="3017520"/>
            <a:ext cx="128016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73368" y="3081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主要輸出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7598664" y="3017520"/>
            <a:ext cx="4087368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53528" y="30815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事件摘要、候選 defect code、Top-N stage 假設、建議下一步、Databricks payload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877824" y="3401568"/>
            <a:ext cx="128016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" y="3465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決策邊界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2157984" y="3401568"/>
            <a:ext cx="416052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12848" y="346557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不直接決定責任歸屬、賠償、recipe 調整、製程放行或最終對客承諾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6318504" y="3401568"/>
            <a:ext cx="1280160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73368" y="3465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資料邊界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7598664" y="3401568"/>
            <a:ext cx="4087368" cy="384048"/>
          </a:xfrm>
          <a:prstGeom prst="rect">
            <a:avLst/>
          </a:prstGeom>
          <a:solidFill>
            <a:srgbClr val="0C2740"/>
          </a:solidFill>
          <a:ln w="12700">
            <a:solidFill>
              <a:srgbClr val="2C5B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53528" y="34655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只接收經 schema 化與權限控管後的欄位與 URI，不直接暴露敏感原始內容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658368" y="3968496"/>
            <a:ext cx="11027664" cy="2194560"/>
          </a:xfrm>
          <a:prstGeom prst="roundRect">
            <a:avLst>
              <a:gd name="adj" fmla="val 2500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86384" y="4059936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功能模組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96112" y="4315968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024128" y="4407408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1｜案件接收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2523744" y="4315968"/>
            <a:ext cx="8906256" cy="274320"/>
          </a:xfrm>
          <a:prstGeom prst="roundRect">
            <a:avLst>
              <a:gd name="adj" fmla="val 20000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2651760" y="4425696"/>
            <a:ext cx="8650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解析客訴文字、圖像、panel / module id、缺欄與補件提醒</a:t>
            </a:r>
            <a:endParaRPr lang="en-US" sz="795" dirty="0"/>
          </a:p>
        </p:txBody>
      </p:sp>
      <p:sp>
        <p:nvSpPr>
          <p:cNvPr id="72" name="Shape 70"/>
          <p:cNvSpPr/>
          <p:nvPr/>
        </p:nvSpPr>
        <p:spPr>
          <a:xfrm>
            <a:off x="896112" y="4663440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1024128" y="4754880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2｜資料整合</a:t>
            </a:r>
            <a:endParaRPr lang="en-US" sz="870" dirty="0"/>
          </a:p>
        </p:txBody>
      </p:sp>
      <p:sp>
        <p:nvSpPr>
          <p:cNvPr id="74" name="Shape 72"/>
          <p:cNvSpPr/>
          <p:nvPr/>
        </p:nvSpPr>
        <p:spPr>
          <a:xfrm>
            <a:off x="2523744" y="4663440"/>
            <a:ext cx="8906256" cy="274320"/>
          </a:xfrm>
          <a:prstGeom prst="roundRect">
            <a:avLst>
              <a:gd name="adj" fmla="val 20000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2651760" y="4773168"/>
            <a:ext cx="8650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串接 genealogy、檢測、BOM、8D、case store 與 rule base</a:t>
            </a:r>
            <a:endParaRPr lang="en-US" sz="795" dirty="0"/>
          </a:p>
        </p:txBody>
      </p:sp>
      <p:sp>
        <p:nvSpPr>
          <p:cNvPr id="76" name="Shape 74"/>
          <p:cNvSpPr/>
          <p:nvPr/>
        </p:nvSpPr>
        <p:spPr>
          <a:xfrm>
            <a:off x="896112" y="5010912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1024128" y="5102352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3｜AI 判讀</a:t>
            </a:r>
            <a:endParaRPr lang="en-US" sz="870" dirty="0"/>
          </a:p>
        </p:txBody>
      </p:sp>
      <p:sp>
        <p:nvSpPr>
          <p:cNvPr id="78" name="Shape 76"/>
          <p:cNvSpPr/>
          <p:nvPr/>
        </p:nvSpPr>
        <p:spPr>
          <a:xfrm>
            <a:off x="2523744" y="5010912"/>
            <a:ext cx="8906256" cy="274320"/>
          </a:xfrm>
          <a:prstGeom prst="roundRect">
            <a:avLst>
              <a:gd name="adj" fmla="val 20000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2651760" y="5120640"/>
            <a:ext cx="8650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code 分型、案例檢索、stage ranking、confidence 與引用證據</a:t>
            </a:r>
            <a:endParaRPr lang="en-US" sz="795" dirty="0"/>
          </a:p>
        </p:txBody>
      </p:sp>
      <p:sp>
        <p:nvSpPr>
          <p:cNvPr id="80" name="Shape 78"/>
          <p:cNvSpPr/>
          <p:nvPr/>
        </p:nvSpPr>
        <p:spPr>
          <a:xfrm>
            <a:off x="896112" y="5358384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2A1513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1024128" y="5449824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4｜Databricks 發布</a:t>
            </a:r>
            <a:endParaRPr lang="en-US" sz="870" dirty="0"/>
          </a:p>
        </p:txBody>
      </p:sp>
      <p:sp>
        <p:nvSpPr>
          <p:cNvPr id="82" name="Shape 80"/>
          <p:cNvSpPr/>
          <p:nvPr/>
        </p:nvSpPr>
        <p:spPr>
          <a:xfrm>
            <a:off x="2523744" y="5358384"/>
            <a:ext cx="8906256" cy="274320"/>
          </a:xfrm>
          <a:prstGeom prst="roundRect">
            <a:avLst>
              <a:gd name="adj" fmla="val 20000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2651760" y="5468112"/>
            <a:ext cx="8650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 bronze / silver / gold 所需欄位，支援 dashboard / query / API</a:t>
            </a:r>
            <a:endParaRPr lang="en-US" sz="795" dirty="0"/>
          </a:p>
        </p:txBody>
      </p:sp>
      <p:sp>
        <p:nvSpPr>
          <p:cNvPr id="84" name="Shape 82"/>
          <p:cNvSpPr/>
          <p:nvPr/>
        </p:nvSpPr>
        <p:spPr>
          <a:xfrm>
            <a:off x="896112" y="5705856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1024128" y="579729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5｜審計記錄</a:t>
            </a:r>
            <a:endParaRPr lang="en-US" sz="870" dirty="0"/>
          </a:p>
        </p:txBody>
      </p:sp>
      <p:sp>
        <p:nvSpPr>
          <p:cNvPr id="86" name="Shape 84"/>
          <p:cNvSpPr/>
          <p:nvPr/>
        </p:nvSpPr>
        <p:spPr>
          <a:xfrm>
            <a:off x="2523744" y="5705856"/>
            <a:ext cx="8906256" cy="274320"/>
          </a:xfrm>
          <a:prstGeom prst="roundRect">
            <a:avLst>
              <a:gd name="adj" fmla="val 20000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2651760" y="5815584"/>
            <a:ext cx="8650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5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保存 prompt、工具使用、引用證據、人工修正與資料版本</a:t>
            </a:r>
            <a:endParaRPr lang="en-US" sz="795" dirty="0"/>
          </a:p>
        </p:txBody>
      </p:sp>
      <p:sp>
        <p:nvSpPr>
          <p:cNvPr id="88" name="Text 86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D6FF"/>
          </a:solidFill>
          <a:ln w="12700">
            <a:solidFill>
              <a:srgbClr val="49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0016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475488"/>
            <a:ext cx="0" cy="6035040"/>
          </a:xfrm>
          <a:prstGeom prst="line">
            <a:avLst/>
          </a:prstGeom>
          <a:noFill/>
          <a:ln w="12700">
            <a:solidFill>
              <a:srgbClr val="17314A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5720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5486400"/>
            <a:ext cx="11612880" cy="0"/>
          </a:xfrm>
          <a:prstGeom prst="line">
            <a:avLst/>
          </a:prstGeom>
          <a:noFill/>
          <a:ln w="12700">
            <a:solidFill>
              <a:srgbClr val="17314A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D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SCENARIO HANDOFF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場景說明書｜技術 / 架構設計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7200" y="8778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架構重點是可檢索、可追溯、可評估、可治理；Databricks 負責形成跨單位可查詢的資料產品。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1247120" y="3200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0F3351">
              <a:alpha val="95000"/>
            </a:srgbClr>
          </a:solidFill>
          <a:ln w="15240">
            <a:solidFill>
              <a:srgbClr val="2C5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374904"/>
            <a:ext cx="39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B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225296"/>
            <a:ext cx="11292840" cy="0"/>
          </a:xfrm>
          <a:prstGeom prst="line">
            <a:avLst/>
          </a:prstGeom>
          <a:noFill/>
          <a:ln w="13970">
            <a:solidFill>
              <a:srgbClr val="2C5B83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1645920"/>
            <a:ext cx="1965960" cy="4315968"/>
          </a:xfrm>
          <a:prstGeom prst="roundRect">
            <a:avLst>
              <a:gd name="adj" fmla="val 2791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" y="1737360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9536" y="1993392"/>
            <a:ext cx="156362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208483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客訴圖像 / 文字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859536" y="2615184"/>
            <a:ext cx="156362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7552" y="2706624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panel / module S/N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859536" y="3236976"/>
            <a:ext cx="156362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7552" y="3328416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Array / CF / Cell / Module genealogy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859536" y="3858768"/>
            <a:ext cx="156362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7552" y="395020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AOI / AVI / EL / E-test / aging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859536" y="4480560"/>
            <a:ext cx="156362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87552" y="457200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 / 8D / 歷史 case / SOP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2816352" y="1645920"/>
            <a:ext cx="2011680" cy="4315968"/>
          </a:xfrm>
          <a:prstGeom prst="roundRect">
            <a:avLst>
              <a:gd name="adj" fmla="val 2727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944368" y="17373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 / Orchestrator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35808" y="1993392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163824" y="208483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MES / QMS / RMA connector</a:t>
            </a:r>
            <a:endParaRPr lang="en-US" sz="845" dirty="0"/>
          </a:p>
        </p:txBody>
      </p:sp>
      <p:sp>
        <p:nvSpPr>
          <p:cNvPr id="40" name="Shape 38"/>
          <p:cNvSpPr/>
          <p:nvPr/>
        </p:nvSpPr>
        <p:spPr>
          <a:xfrm>
            <a:off x="3035808" y="2615184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163824" y="2706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 schema / 欄位對齊</a:t>
            </a:r>
            <a:endParaRPr lang="en-US" sz="845" dirty="0"/>
          </a:p>
        </p:txBody>
      </p:sp>
      <p:sp>
        <p:nvSpPr>
          <p:cNvPr id="42" name="Shape 40"/>
          <p:cNvSpPr/>
          <p:nvPr/>
        </p:nvSpPr>
        <p:spPr>
          <a:xfrm>
            <a:off x="3035808" y="3236976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163824" y="332841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state / tool calling</a:t>
            </a:r>
            <a:endParaRPr lang="en-US" sz="845" dirty="0"/>
          </a:p>
        </p:txBody>
      </p:sp>
      <p:sp>
        <p:nvSpPr>
          <p:cNvPr id="44" name="Shape 42"/>
          <p:cNvSpPr/>
          <p:nvPr/>
        </p:nvSpPr>
        <p:spPr>
          <a:xfrm>
            <a:off x="3035808" y="3858768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163824" y="395020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policy / RBAC / mask</a:t>
            </a:r>
            <a:endParaRPr lang="en-US" sz="845" dirty="0"/>
          </a:p>
        </p:txBody>
      </p:sp>
      <p:sp>
        <p:nvSpPr>
          <p:cNvPr id="46" name="Shape 44"/>
          <p:cNvSpPr/>
          <p:nvPr/>
        </p:nvSpPr>
        <p:spPr>
          <a:xfrm>
            <a:off x="3035808" y="4480560"/>
            <a:ext cx="1572768" cy="411480"/>
          </a:xfrm>
          <a:prstGeom prst="roundRect">
            <a:avLst>
              <a:gd name="adj" fmla="val 13333"/>
            </a:avLst>
          </a:prstGeom>
          <a:solidFill>
            <a:srgbClr val="112638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163824" y="45720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template / retry queue</a:t>
            </a:r>
            <a:endParaRPr lang="en-US" sz="845" dirty="0"/>
          </a:p>
        </p:txBody>
      </p:sp>
      <p:sp>
        <p:nvSpPr>
          <p:cNvPr id="48" name="Shape 46"/>
          <p:cNvSpPr/>
          <p:nvPr/>
        </p:nvSpPr>
        <p:spPr>
          <a:xfrm>
            <a:off x="5047488" y="1645920"/>
            <a:ext cx="2240280" cy="4315968"/>
          </a:xfrm>
          <a:prstGeom prst="roundRect">
            <a:avLst>
              <a:gd name="adj" fmla="val 2449"/>
            </a:avLst>
          </a:prstGeom>
          <a:solidFill>
            <a:srgbClr val="0F3351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175504" y="173736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EE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核心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85232" y="1993392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13248" y="2084832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Vision defect parsing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5285232" y="2615184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13248" y="270662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reasoning / summarization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5285232" y="3236976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413248" y="3328416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/ similar case retrieval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5285232" y="3858768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413248" y="3950208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Top-N stage ranking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5285232" y="4480560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413248" y="4572000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confidence + evidence packaging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7479792" y="1645920"/>
            <a:ext cx="2240280" cy="4315968"/>
          </a:xfrm>
          <a:prstGeom prst="roundRect">
            <a:avLst>
              <a:gd name="adj" fmla="val 2449"/>
            </a:avLst>
          </a:prstGeom>
          <a:solidFill>
            <a:srgbClr val="151E2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607808" y="173736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62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 Lakehouse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717536" y="1993392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845552" y="2084832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Bronze｜raw case event</a:t>
            </a:r>
            <a:endParaRPr lang="en-US" sz="835" dirty="0"/>
          </a:p>
        </p:txBody>
      </p:sp>
      <p:sp>
        <p:nvSpPr>
          <p:cNvPr id="64" name="Shape 62"/>
          <p:cNvSpPr/>
          <p:nvPr/>
        </p:nvSpPr>
        <p:spPr>
          <a:xfrm>
            <a:off x="7717536" y="2615184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845552" y="270662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Silver｜normalized analysis payload</a:t>
            </a:r>
            <a:endParaRPr lang="en-US" sz="835" dirty="0"/>
          </a:p>
        </p:txBody>
      </p:sp>
      <p:sp>
        <p:nvSpPr>
          <p:cNvPr id="66" name="Shape 64"/>
          <p:cNvSpPr/>
          <p:nvPr/>
        </p:nvSpPr>
        <p:spPr>
          <a:xfrm>
            <a:off x="7717536" y="3236976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845552" y="3328416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Gold｜query / KPI / dashboard</a:t>
            </a:r>
            <a:endParaRPr lang="en-US" sz="835" dirty="0"/>
          </a:p>
        </p:txBody>
      </p:sp>
      <p:sp>
        <p:nvSpPr>
          <p:cNvPr id="68" name="Shape 66"/>
          <p:cNvSpPr/>
          <p:nvPr/>
        </p:nvSpPr>
        <p:spPr>
          <a:xfrm>
            <a:off x="7717536" y="3858768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845552" y="3950208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Unity Catalog / schema version</a:t>
            </a:r>
            <a:endParaRPr lang="en-US" sz="835" dirty="0"/>
          </a:p>
        </p:txBody>
      </p:sp>
      <p:sp>
        <p:nvSpPr>
          <p:cNvPr id="70" name="Shape 68"/>
          <p:cNvSpPr/>
          <p:nvPr/>
        </p:nvSpPr>
        <p:spPr>
          <a:xfrm>
            <a:off x="7717536" y="4480560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221716"/>
          </a:solidFill>
          <a:ln w="15240">
            <a:solidFill>
              <a:srgbClr val="FF362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7845552" y="4572000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b="1" dirty="0">
                <a:solidFill>
                  <a:srgbClr val="FFD7D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serving API / downstream ML</a:t>
            </a:r>
            <a:endParaRPr lang="en-US" sz="835" dirty="0"/>
          </a:p>
        </p:txBody>
      </p:sp>
      <p:sp>
        <p:nvSpPr>
          <p:cNvPr id="72" name="Shape 70"/>
          <p:cNvSpPr/>
          <p:nvPr/>
        </p:nvSpPr>
        <p:spPr>
          <a:xfrm>
            <a:off x="9912096" y="1645920"/>
            <a:ext cx="1828800" cy="4315968"/>
          </a:xfrm>
          <a:prstGeom prst="roundRect">
            <a:avLst>
              <a:gd name="adj" fmla="val 3000"/>
            </a:avLst>
          </a:prstGeom>
          <a:solidFill>
            <a:srgbClr val="0C2740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10040112" y="17373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 / 評估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0113264" y="1993392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0241280" y="208483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portal / engineer copilot</a:t>
            </a:r>
            <a:endParaRPr lang="en-US" sz="825" dirty="0"/>
          </a:p>
        </p:txBody>
      </p:sp>
      <p:sp>
        <p:nvSpPr>
          <p:cNvPr id="76" name="Shape 74"/>
          <p:cNvSpPr/>
          <p:nvPr/>
        </p:nvSpPr>
        <p:spPr>
          <a:xfrm>
            <a:off x="10113264" y="2615184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10241280" y="270662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 / 製程 / 客服 query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10113264" y="3236976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10241280" y="33284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dashboard / trend analysis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10113264" y="3858768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10241280" y="395020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命中率 / 採納率 / 時效</a:t>
            </a:r>
            <a:endParaRPr lang="en-US" sz="825" dirty="0"/>
          </a:p>
        </p:txBody>
      </p:sp>
      <p:sp>
        <p:nvSpPr>
          <p:cNvPr id="82" name="Shape 80"/>
          <p:cNvSpPr/>
          <p:nvPr/>
        </p:nvSpPr>
        <p:spPr>
          <a:xfrm>
            <a:off x="10113264" y="448056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10241280" y="457200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audit log / version trace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2651760" y="3584448"/>
            <a:ext cx="411480" cy="201168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92040" y="3584448"/>
            <a:ext cx="411480" cy="201168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15200" y="3584448"/>
            <a:ext cx="411480" cy="201168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747504" y="3584448"/>
            <a:ext cx="411480" cy="201168"/>
          </a:xfrm>
          <a:prstGeom prst="chevron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58368" y="6199632"/>
            <a:ext cx="11027664" cy="365760"/>
          </a:xfrm>
          <a:prstGeom prst="roundRect">
            <a:avLst>
              <a:gd name="adj" fmla="val 15000"/>
            </a:avLst>
          </a:prstGeom>
          <a:solidFill>
            <a:srgbClr val="0B2133"/>
          </a:solidFill>
          <a:ln w="15240">
            <a:solidFill>
              <a:srgbClr val="2C5B8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86384" y="6309360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AF3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技術端交付物：connector 規格、事件 / payload schema、Databricks table design、tool schema、prompt template、defect taxonomy、評估集、權限與審計要求。</a:t>
            </a:r>
            <a:endParaRPr lang="en-US" sz="870" dirty="0"/>
          </a:p>
        </p:txBody>
      </p:sp>
      <p:sp>
        <p:nvSpPr>
          <p:cNvPr id="90" name="Text 88"/>
          <p:cNvSpPr/>
          <p:nvPr/>
        </p:nvSpPr>
        <p:spPr>
          <a:xfrm>
            <a:off x="11658600" y="6510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B4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面板故障分析Agent：客戶端異常面板解析與Databricks上拋</dc:title>
  <dc:subject>面板故障分析Agent：客戶端異常面板解析與Databricks上拋</dc:subject>
  <dc:creator>OpenAI</dc:creator>
  <cp:lastModifiedBy>OpenAI</cp:lastModifiedBy>
  <cp:revision>1</cp:revision>
  <dcterms:created xsi:type="dcterms:W3CDTF">2026-04-17T14:41:01Z</dcterms:created>
  <dcterms:modified xsi:type="dcterms:W3CDTF">2026-04-17T14:41:01Z</dcterms:modified>
</cp:coreProperties>
</file>