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Ramillas" charset="1" panose="020E0000080000020004"/>
      <p:regular r:id="rId16"/>
    </p:embeddedFont>
    <p:embeddedFont>
      <p:font typeface="TT Interphases" charset="1" panose="02000503020000020004"/>
      <p:regular r:id="rId17"/>
    </p:embeddedFont>
    <p:embeddedFont>
      <p:font typeface="TT Interphases Bold" charset="1" panose="0200080306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429875" y="9620250"/>
            <a:ext cx="7191375" cy="0"/>
          </a:xfrm>
          <a:prstGeom prst="line">
            <a:avLst/>
          </a:prstGeom>
          <a:ln cap="flat" w="19050">
            <a:solidFill>
              <a:srgbClr val="A3B0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9296400" cy="10287000"/>
            <a:chOff x="0" y="0"/>
            <a:chExt cx="1440256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256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40256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4675" y="723900"/>
            <a:ext cx="544830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2799" spc="-55">
                <a:solidFill>
                  <a:srgbClr val="A3B0C3"/>
                </a:solidFill>
                <a:latin typeface="TT Ramillas"/>
                <a:ea typeface="TT Ramillas"/>
                <a:cs typeface="TT Ramillas"/>
                <a:sym typeface="TT Ramillas"/>
              </a:rPr>
              <a:t>[Company Name]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34675" y="6650497"/>
            <a:ext cx="6886575" cy="2074403"/>
            <a:chOff x="0" y="0"/>
            <a:chExt cx="9182100" cy="276587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90500"/>
              <a:ext cx="91821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19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RAG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165584"/>
              <a:ext cx="91821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 u="none">
                  <a:solidFill>
                    <a:srgbClr val="C5D1E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[PRESENTER NAME]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830377"/>
            <a:ext cx="5753100" cy="2789873"/>
            <a:chOff x="0" y="0"/>
            <a:chExt cx="7670800" cy="3719830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limitations of standalone LLMs expose significant </a:t>
              </a:r>
              <a:r>
                <a:rPr lang="en-US" b="true" sz="2100" u="none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trust and accuracy issues</a:t>
              </a:r>
              <a:r>
                <a:rPr lang="en-US" sz="2100" u="none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 Hallucination risks and lack of access to private data compromise their effectiveness. Additionally, static training knowledge leads to outdated responses, highlighting the urgent need for a RAG system to enhance reliability.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Why RAG Matters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RAG System Architecture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User Query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user initiates interaction by submitting a query.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Retrieval Layer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component fetches relevant information from the database.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Knowledge Layer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It processes data to generate context-rich LLM responses.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Data Ingestion Process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Document Types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Ingestion includes PDFs, docs, and web pages.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Parsing &amp; Cleaning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Raw data must be cleaned for accurate analysis.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Metadata Extraction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Essential metadata is extracted to enhance context.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Chunking Strategy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Semantic Chunks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Splitting documents into meaningful segments is crucial.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Context Preservation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Maintaining context ensures coherence in generated responses.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Token Limits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Adhering to token limits optimizes processing efficiency.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386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Embedding &amp; Vector Database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Text Vectors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Transforming text into </a:t>
              </a:r>
              <a:r>
                <a:rPr lang="en-US" b="true" sz="2100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numerical format</a:t>
              </a: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processing.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Similarity Search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Finding relevant information based on </a:t>
              </a:r>
              <a:r>
                <a:rPr lang="en-US" b="true" sz="2100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semantic relationships</a:t>
              </a: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Metadata Filtering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Enhancing search results through </a:t>
              </a:r>
              <a:r>
                <a:rPr lang="en-US" b="true" sz="2100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contextual metadata</a:t>
              </a: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evaluation.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386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Retriever Design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Semantic Search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Enables finding relevant information from large datasets.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Ranking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Prioritizes retrieved results based on relevance and accuracy.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Top-K Results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Selects the best answers for optimal context delivery.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386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Prompt Template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System Instruction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guides the LLM's response behavior effectively.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Retrieved Context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Provides relevant information for accurate answer generation.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223010"/>
            <a:chOff x="0" y="0"/>
            <a:chExt cx="7264400" cy="16306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User Question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main inquiry that drives the LLM's output.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Generation and Evaluation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Grounded Answers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RAG ensures answers are </a:t>
              </a:r>
              <a:r>
                <a:rPr lang="en-US" b="true" sz="2100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fact-based</a:t>
              </a: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reliable.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Accuracy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Continuous metrics drive </a:t>
              </a:r>
              <a:r>
                <a:rPr lang="en-US" b="true" sz="2100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improvement</a:t>
              </a: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user trust.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C5D1E3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Latency &amp; Cost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Efficient processing balances </a:t>
              </a:r>
              <a:r>
                <a:rPr lang="en-US" b="true" sz="2100">
                  <a:solidFill>
                    <a:srgbClr val="A3B0C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performance</a:t>
              </a:r>
              <a:r>
                <a:rPr lang="en-US" sz="2100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expense.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A3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C5D1E3"/>
                </a:solidFill>
                <a:latin typeface="TT Ramillas"/>
                <a:ea typeface="TT Ramillas"/>
                <a:cs typeface="TT Ramillas"/>
                <a:sym typeface="TT Ramillas"/>
              </a:rPr>
              <a:t>Contact Us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5143500"/>
            <a:ext cx="5448300" cy="3581400"/>
            <a:chOff x="0" y="0"/>
            <a:chExt cx="7264400" cy="4775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482552"/>
              <a:ext cx="7264400" cy="1292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 Anywhere St., Any City, ST 12345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61752"/>
              <a:ext cx="726440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123-456-7890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501352"/>
              <a:ext cx="726440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A3B0C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hello@reallygreatsite.com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72644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 strike="noStrike" u="none">
                  <a:solidFill>
                    <a:srgbClr val="C5D1E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GET IN TOUCH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1065107"/>
              <a:ext cx="7246789" cy="0"/>
            </a:xfrm>
            <a:prstGeom prst="line">
              <a:avLst/>
            </a:prstGeom>
            <a:ln cap="flat" w="25400">
              <a:solidFill>
                <a:srgbClr val="A3B0C3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RAG</dc:description>
  <dc:identifier>DAG8f8XDRmo</dc:identifier>
  <dcterms:modified xsi:type="dcterms:W3CDTF">2011-08-01T06:04:30Z</dcterms:modified>
  <cp:revision>1</cp:revision>
  <dc:title>簡報 - RAG</dc:title>
</cp:coreProperties>
</file>