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7" r:id="rId12"/>
    <p:sldId id="258" r:id="rId13"/>
    <p:sldId id="259" r:id="rId14"/>
    <p:sldId id="260" r:id="rId15"/>
    <p:sldId id="261" r:id="rId16"/>
  </p:sldIdLst>
  <p:sldSz cx="9144000" cy="5143500" type="screen16x9"/>
  <p:notesSz cx="6858000" cy="9144000"/>
  <p:embeddedFontLst>
    <p:embeddedFont>
      <p:font typeface="Proxima Nova" panose="02000506030000020004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42" d="100"/>
          <a:sy n="142" d="100"/>
        </p:scale>
        <p:origin x="192" y="3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Langflow is a visual development environment that simplifies how teams design, prototype, and understand LLM-powered applications by making flows explicit and inspectable.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Langflow is not just for demos. It helps bridge experimentation and production by providing a clear, exportable system design.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Langflow represents LLM systems as graphs. Nodes perform work, edges connect them, and variables allow rapid experimentation without changing code.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Langflow reduces iteration time while improving clarity, making it especially useful in early-stage development and cross-functional teams.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Langflow is well-suited for retrieval-augmented generation, agentic systems, and structured prompt experimentation.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4"/>
                </a:solidFill>
              </a:defRPr>
            </a:lvl1pPr>
            <a:lvl2pPr lvl="1">
              <a:buNone/>
              <a:defRPr>
                <a:solidFill>
                  <a:schemeClr val="accent4"/>
                </a:solidFill>
              </a:defRPr>
            </a:lvl2pPr>
            <a:lvl3pPr lvl="2">
              <a:buNone/>
              <a:defRPr>
                <a:solidFill>
                  <a:schemeClr val="accent4"/>
                </a:solidFill>
              </a:defRPr>
            </a:lvl3pPr>
            <a:lvl4pPr lvl="3">
              <a:buNone/>
              <a:defRPr>
                <a:solidFill>
                  <a:schemeClr val="accent4"/>
                </a:solidFill>
              </a:defRPr>
            </a:lvl4pPr>
            <a:lvl5pPr lvl="4">
              <a:buNone/>
              <a:defRPr>
                <a:solidFill>
                  <a:schemeClr val="accent4"/>
                </a:solidFill>
              </a:defRPr>
            </a:lvl5pPr>
            <a:lvl6pPr lvl="5">
              <a:buNone/>
              <a:defRPr>
                <a:solidFill>
                  <a:schemeClr val="accent4"/>
                </a:solidFill>
              </a:defRPr>
            </a:lvl6pPr>
            <a:lvl7pPr lvl="6">
              <a:buNone/>
              <a:defRPr>
                <a:solidFill>
                  <a:schemeClr val="accent4"/>
                </a:solidFill>
              </a:defRPr>
            </a:lvl7pPr>
            <a:lvl8pPr lvl="7">
              <a:buNone/>
              <a:defRPr>
                <a:solidFill>
                  <a:schemeClr val="accent4"/>
                </a:solidFill>
              </a:defRPr>
            </a:lvl8pPr>
            <a:lvl9pPr lvl="8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87975" y="789025"/>
            <a:ext cx="8520600" cy="8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TITLE_AND_BODY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311700" y="0"/>
            <a:ext cx="8520600" cy="7129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94734"/>
            <a:ext cx="8520600" cy="3850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832297" y="4863993"/>
            <a:ext cx="311411" cy="1928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Subtitle 1">
            <a:extLst>
              <a:ext uri="{FF2B5EF4-FFF2-40B4-BE49-F238E27FC236}">
                <a16:creationId xmlns:a16="http://schemas.microsoft.com/office/drawing/2014/main" id="{0D296A4F-FF01-A06E-7AAA-3D203B6399A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11699" y="712926"/>
            <a:ext cx="8520599" cy="481810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4"/>
                </a:solidFill>
              </a:defRPr>
            </a:lvl1pPr>
            <a:lvl2pPr lvl="1">
              <a:buNone/>
              <a:defRPr>
                <a:solidFill>
                  <a:schemeClr val="accent4"/>
                </a:solidFill>
              </a:defRPr>
            </a:lvl2pPr>
            <a:lvl3pPr lvl="2">
              <a:buNone/>
              <a:defRPr>
                <a:solidFill>
                  <a:schemeClr val="accent4"/>
                </a:solidFill>
              </a:defRPr>
            </a:lvl3pPr>
            <a:lvl4pPr lvl="3">
              <a:buNone/>
              <a:defRPr>
                <a:solidFill>
                  <a:schemeClr val="accent4"/>
                </a:solidFill>
              </a:defRPr>
            </a:lvl4pPr>
            <a:lvl5pPr lvl="4">
              <a:buNone/>
              <a:defRPr>
                <a:solidFill>
                  <a:schemeClr val="accent4"/>
                </a:solidFill>
              </a:defRPr>
            </a:lvl5pPr>
            <a:lvl6pPr lvl="5">
              <a:buNone/>
              <a:defRPr>
                <a:solidFill>
                  <a:schemeClr val="accent4"/>
                </a:solidFill>
              </a:defRPr>
            </a:lvl6pPr>
            <a:lvl7pPr lvl="6">
              <a:buNone/>
              <a:defRPr>
                <a:solidFill>
                  <a:schemeClr val="accent4"/>
                </a:solidFill>
              </a:defRPr>
            </a:lvl7pPr>
            <a:lvl8pPr lvl="7">
              <a:buNone/>
              <a:defRPr>
                <a:solidFill>
                  <a:schemeClr val="accent4"/>
                </a:solidFill>
              </a:defRPr>
            </a:lvl8pPr>
            <a:lvl9pPr lvl="8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ubTitle" idx="3"/>
          </p:nvPr>
        </p:nvSpPr>
        <p:spPr>
          <a:xfrm>
            <a:off x="386975" y="864000"/>
            <a:ext cx="83682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4"/>
          </p:nvPr>
        </p:nvSpPr>
        <p:spPr>
          <a:xfrm>
            <a:off x="4813725" y="3822525"/>
            <a:ext cx="3999900" cy="2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3050" algn="r" rtl="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marL="914400" lvl="1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2pPr>
            <a:lvl3pPr marL="1371600" lvl="2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3pPr>
            <a:lvl4pPr marL="1828800" lvl="3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4pPr>
            <a:lvl5pPr marL="2286000" lvl="4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5pPr>
            <a:lvl6pPr marL="2743200" lvl="5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6pPr>
            <a:lvl7pPr marL="3200400" lvl="6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7pPr>
            <a:lvl8pPr marL="3657600" lvl="7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8pPr>
            <a:lvl9pPr marL="4114800" lvl="8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2"/>
          </p:nvPr>
        </p:nvSpPr>
        <p:spPr>
          <a:xfrm>
            <a:off x="4832400" y="13048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ubTitle" idx="3"/>
          </p:nvPr>
        </p:nvSpPr>
        <p:spPr>
          <a:xfrm>
            <a:off x="386975" y="787800"/>
            <a:ext cx="83682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4"/>
          </p:nvPr>
        </p:nvSpPr>
        <p:spPr>
          <a:xfrm>
            <a:off x="4813725" y="3822525"/>
            <a:ext cx="3999900" cy="2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3050" algn="r" rtl="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marL="914400" lvl="1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2pPr>
            <a:lvl3pPr marL="1371600" lvl="2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3pPr>
            <a:lvl4pPr marL="1828800" lvl="3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4pPr>
            <a:lvl5pPr marL="2286000" lvl="4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5pPr>
            <a:lvl6pPr marL="2743200" lvl="5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6pPr>
            <a:lvl7pPr marL="3200400" lvl="6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7pPr>
            <a:lvl8pPr marL="3657600" lvl="7" indent="-260350" algn="r" rtl="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8pPr>
            <a:lvl9pPr marL="4114800" lvl="8" indent="-260350" algn="r" rtl="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5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is Langflow?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t>Visual orchestration for LLM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5344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508670"/>
            <a:ext cx="2717452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Visual Builder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Drag-and-drop interface for composing LLM chains, agents, and tools without heavy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6701" y="1508670"/>
            <a:ext cx="2717452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LangChain-native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Built on top of LangChain primitives, staying close to the underlying abstractions.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44803" y="1508670"/>
            <a:ext cx="2717899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Open Source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Community-driven project designed for rapid experimentation and extensibility.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Core Components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t>Building blocks of a Langflow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5344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508670"/>
            <a:ext cx="2717452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Nodes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Encapsulate prompts, LLMs, tools, retrievers, and custom logic.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6701" y="1508670"/>
            <a:ext cx="2717452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Edges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Define how data and control flow between components.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44803" y="1508670"/>
            <a:ext cx="2717899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Variables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Expose configurable inputs for fast iteration and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Use Langflow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t>Practical advantages for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5344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508670"/>
            <a:ext cx="2717452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Faster Prototyping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Iterate on LLM workflows visually instead of rewriting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6701" y="1508670"/>
            <a:ext cx="2717452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Explainability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Flows make complex agent logic easier to reason about and debug.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44803" y="1508670"/>
            <a:ext cx="2717899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Collaboration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Shared visual artifacts improve communication between engineers and non-engineers.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Common Use Cases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t>Where Langflow shines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5344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508670"/>
            <a:ext cx="2717452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RAG Pipelines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Combine retrievers, embeddings, and LLMs for knowledge-grounded QA.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6701" y="1508670"/>
            <a:ext cx="2717452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Agent Workflows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Design multi-step agent reasoning with tools and memory.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44803" y="1508670"/>
            <a:ext cx="2717899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Prompt Engineering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Test and compare prompt variants in a structured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From Prototype to Production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>
            <a:normAutofit/>
          </a:bodyPr>
          <a:lstStyle/>
          <a:p>
            <a:r>
              <a:t>How Langflow fits in the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i="0" sz="1300">
                <a:solidFill>
                  <a:srgbClr val="616161"/>
                </a:solidFill>
                <a:latin typeface="Proxima Nova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508670"/>
            <a:ext cx="85344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08670"/>
            <a:ext cx="8534400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508670"/>
            <a:ext cx="2717452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Export to Code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Convert visual flows into LangChain-compatible Python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36701" y="1508670"/>
            <a:ext cx="2717452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6701" y="1508670"/>
            <a:ext cx="2717452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Custom Components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Extend Langflow with your own nodes and integrations.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44803" y="1508670"/>
            <a:ext cx="2717899" cy="334461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44803" y="1508670"/>
            <a:ext cx="2717899" cy="228600"/>
          </a:xfrm>
          <a:prstGeom prst="rect">
            <a:avLst/>
          </a:prstGeom>
          <a:noFill/>
          <a:ln>
            <a:noFill/>
          </a:ln>
        </p:spPr>
        <p:txBody>
          <a:bodyPr wrap="square" bIns="0" lIns="0" rIns="0" tIns="0" anchor="t">
            <a:spAutoFit/>
          </a:bodyPr>
          <a:lstStyle/>
          <a:p>
            <a:pPr algn="ctr"/>
            <a:r>
              <a:rPr b="1" i="0" sz="1300">
                <a:solidFill>
                  <a:srgbClr val="1F2728"/>
                </a:solidFill>
                <a:latin typeface="Roboto"/>
              </a:rPr>
              <a:t>Production Handoff</a:t>
            </a:r>
          </a:p>
          <a:p>
            <a:pPr algn="ctr">
              <a:spcAft>
                <a:spcPts val="1200"/>
              </a:spcAft>
            </a:pPr>
            <a:r>
              <a:rPr b="0" i="0" sz="1400">
                <a:solidFill>
                  <a:srgbClr val="1F2728"/>
                </a:solidFill>
                <a:latin typeface="Roboto"/>
              </a:rPr>
              <a:t>Use flows as blueprints for scalable implementations.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63D297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</Words>
  <Application>Microsoft Macintosh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Proxima Nova</vt:lpstr>
      <vt:lpstr>Spearmint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Lightstone GmbH</cp:lastModifiedBy>
  <cp:revision>3</cp:revision>
  <dcterms:modified xsi:type="dcterms:W3CDTF">2024-08-19T12:09:31Z</dcterms:modified>
</cp:coreProperties>
</file>